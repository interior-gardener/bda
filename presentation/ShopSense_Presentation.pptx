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2.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3.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Seconds</c:v>
                </c:pt>
              </c:strCache>
            </c:strRef>
          </c:tx>
          <c:spPr>
            <a:solidFill>
              <a:srgbClr val="6366F1"/>
            </a:solidFill>
            <a:effectLst/>
          </c:spPr>
          <c:invertIfNegative val="0"/>
          <c:dLbls>
            <c:numFmt formatCode="#,##0" sourceLinked="0"/>
            <c:txPr>
              <a:bodyPr/>
              <a:lstStyle/>
              <a:p>
                <a:pPr>
                  <a:defRPr b="0" i="0" strike="noStrike" sz="1000" u="none">
                    <a:solidFill>
                      <a:srgbClr val="FFFFFF"/>
                    </a:solidFill>
                    <a:latin typeface="Arial"/>
                  </a:defRPr>
                </a:pPr>
              </a:p>
            </c:txPr>
            <c:showLegendKey val="0"/>
            <c:showVal val="1"/>
            <c:showCatName val="0"/>
            <c:showSerName val="0"/>
            <c:showPercent val="0"/>
            <c:showBubbleSize val="0"/>
            <c:showLeaderLines val="0"/>
          </c:dLbls>
          <c:cat>
            <c:multiLvlStrRef>
              <c:f>Sheet1!$A$2:$A$8</c:f>
              <c:multiLvlStrCache>
                <c:ptCount val="7"/>
                <c:lvl>
                  <c:pt idx="0">
                    <c:v>Ingest + clean</c:v>
                  </c:pt>
                  <c:pt idx="1">
                    <c:v>Analytics</c:v>
                  </c:pt>
                  <c:pt idx="2">
                    <c:v>Segmentation</c:v>
                  </c:pt>
                  <c:pt idx="3">
                    <c:v>Churn</c:v>
                  </c:pt>
                  <c:pt idx="4">
                    <c:v>ALS</c:v>
                  </c:pt>
                  <c:pt idx="5">
                    <c:v>FP-Growth</c:v>
                  </c:pt>
                  <c:pt idx="6">
                    <c:v>Forecast</c:v>
                  </c:pt>
                </c:lvl>
              </c:multiLvlStrCache>
            </c:multiLvlStrRef>
          </c:cat>
          <c:val>
            <c:numRef>
              <c:f>Sheet1!$B$2:$B$8</c:f>
              <c:numCache>
                <c:formatCode>General</c:formatCode>
                <c:ptCount val="7"/>
                <c:pt idx="0">
                  <c:v>33.7</c:v>
                </c:pt>
                <c:pt idx="1">
                  <c:v>24.3</c:v>
                </c:pt>
                <c:pt idx="2">
                  <c:v>33.3</c:v>
                </c:pt>
                <c:pt idx="3">
                  <c:v>152.7</c:v>
                </c:pt>
                <c:pt idx="4">
                  <c:v>96.9</c:v>
                </c:pt>
                <c:pt idx="5">
                  <c:v>3.5</c:v>
                </c:pt>
                <c:pt idx="6">
                  <c:v>51.6</c:v>
                </c:pt>
              </c:numCache>
            </c:numRef>
          </c:val>
        </c:ser>
        <c:dLbls>
          <c:numFmt formatCode="#,##0" sourceLinked="0"/>
          <c:txPr>
            <a:bodyPr/>
            <a:lstStyle/>
            <a:p>
              <a:pPr>
                <a:defRPr b="0" i="0" strike="noStrike" sz="1000" u="none">
                  <a:solidFill>
                    <a:srgbClr val="FFFFF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A9B3CC"/>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FFFFFF"/>
                </a:solidFill>
                <a:latin typeface="Arial"/>
              </a:defRPr>
            </a:pPr>
            <a:r>
              <a:rPr sz="1300" b="0" i="0" u="none" strike="noStrike">
                <a:solidFill>
                  <a:srgbClr val="FFFFFF"/>
                </a:solidFill>
                <a:latin typeface="Arial"/>
              </a:rPr>
              <a:t>Model comparison (test set)</a:t>
            </a:r>
          </a:p>
        </c:rich>
      </c:tx>
      <c:layout/>
      <c:overlay val="0"/>
    </c:title>
    <c:autoTitleDeleted val="0"/>
    <c:plotArea>
      <c:layout/>
      <c:barChart>
        <c:barDir val="col"/>
        <c:grouping val="clustered"/>
        <c:varyColors val="0"/>
        <c:ser>
          <c:idx val="0"/>
          <c:order val="0"/>
          <c:tx>
            <c:strRef>
              <c:f>Sheet1!$B$1</c:f>
              <c:strCache>
                <c:ptCount val="1"/>
                <c:pt idx="0">
                  <c:v>ROC-AUC</c:v>
                </c:pt>
              </c:strCache>
            </c:strRef>
          </c:tx>
          <c:spPr>
            <a:solidFill>
              <a:srgbClr val="6366F1"/>
            </a:solidFill>
            <a:effectLst/>
          </c:spPr>
          <c:invertIfNegative val="0"/>
          <c:dLbls>
            <c:numFmt formatCode="0.000" sourceLinked="0"/>
            <c:txPr>
              <a:bodyPr/>
              <a:lstStyle/>
              <a:p>
                <a:pPr>
                  <a:defRPr b="0" i="0" strike="noStrike" sz="900" u="none">
                    <a:solidFill>
                      <a:srgbClr val="FFFFFF"/>
                    </a:solidFill>
                    <a:latin typeface="Arial"/>
                  </a:defRPr>
                </a:pPr>
              </a:p>
            </c:txPr>
            <c:showLegendKey val="0"/>
            <c:showVal val="1"/>
            <c:showCatName val="0"/>
            <c:showSerName val="0"/>
            <c:showPercent val="0"/>
            <c:showBubbleSize val="0"/>
            <c:showLeaderLines val="0"/>
          </c:dLbls>
          <c:cat>
            <c:multiLvlStrRef>
              <c:f>Sheet1!$A$2:$A$4</c:f>
              <c:multiLvlStrCache>
                <c:ptCount val="3"/>
                <c:lvl>
                  <c:pt idx="0">
                    <c:v>Log. Regression</c:v>
                  </c:pt>
                  <c:pt idx="1">
                    <c:v>Random Forest</c:v>
                  </c:pt>
                  <c:pt idx="2">
                    <c:v>GBT</c:v>
                  </c:pt>
                </c:lvl>
              </c:multiLvlStrCache>
            </c:multiLvlStrRef>
          </c:cat>
          <c:val>
            <c:numRef>
              <c:f>Sheet1!$B$2:$B$4</c:f>
              <c:numCache>
                <c:formatCode>General</c:formatCode>
                <c:ptCount val="3"/>
                <c:pt idx="0">
                  <c:v>0.9531</c:v>
                </c:pt>
                <c:pt idx="1">
                  <c:v>0.9554</c:v>
                </c:pt>
                <c:pt idx="2">
                  <c:v>0.9508</c:v>
                </c:pt>
              </c:numCache>
            </c:numRef>
          </c:val>
        </c:ser>
        <c:ser>
          <c:idx val="1"/>
          <c:order val="1"/>
          <c:tx>
            <c:strRef>
              <c:f>Sheet1!$C$1</c:f>
              <c:strCache>
                <c:ptCount val="1"/>
                <c:pt idx="0">
                  <c:v>F1</c:v>
                </c:pt>
              </c:strCache>
            </c:strRef>
          </c:tx>
          <c:spPr>
            <a:solidFill>
              <a:srgbClr val="06B6D4"/>
            </a:solidFill>
            <a:effectLst/>
          </c:spPr>
          <c:invertIfNegative val="0"/>
          <c:dLbls>
            <c:numFmt formatCode="0.000" sourceLinked="0"/>
            <c:txPr>
              <a:bodyPr/>
              <a:lstStyle/>
              <a:p>
                <a:pPr>
                  <a:defRPr b="0" i="0" strike="noStrike" sz="900" u="none">
                    <a:solidFill>
                      <a:srgbClr val="FFFFFF"/>
                    </a:solidFill>
                    <a:latin typeface="Arial"/>
                  </a:defRPr>
                </a:pPr>
              </a:p>
            </c:txPr>
            <c:showLegendKey val="0"/>
            <c:showVal val="1"/>
            <c:showCatName val="0"/>
            <c:showSerName val="0"/>
            <c:showPercent val="0"/>
            <c:showBubbleSize val="0"/>
            <c:showLeaderLines val="0"/>
          </c:dLbls>
          <c:cat>
            <c:multiLvlStrRef>
              <c:f>Sheet1!$A$2:$A$4</c:f>
              <c:multiLvlStrCache>
                <c:ptCount val="3"/>
                <c:lvl>
                  <c:pt idx="0">
                    <c:v>Log. Regression</c:v>
                  </c:pt>
                  <c:pt idx="1">
                    <c:v>Random Forest</c:v>
                  </c:pt>
                  <c:pt idx="2">
                    <c:v>GBT</c:v>
                  </c:pt>
                </c:lvl>
              </c:multiLvlStrCache>
            </c:multiLvlStrRef>
          </c:cat>
          <c:val>
            <c:numRef>
              <c:f>Sheet1!$C$2:$C$4</c:f>
              <c:numCache>
                <c:formatCode>General</c:formatCode>
                <c:ptCount val="3"/>
                <c:pt idx="0">
                  <c:v>0.8931</c:v>
                </c:pt>
                <c:pt idx="1">
                  <c:v>0.8956</c:v>
                </c:pt>
                <c:pt idx="2">
                  <c:v>0.8883</c:v>
                </c:pt>
              </c:numCache>
            </c:numRef>
          </c:val>
        </c:ser>
        <c:ser>
          <c:idx val="2"/>
          <c:order val="2"/>
          <c:tx>
            <c:strRef>
              <c:f>Sheet1!$D$1</c:f>
              <c:strCache>
                <c:ptCount val="1"/>
                <c:pt idx="0">
                  <c:v>Precision</c:v>
                </c:pt>
              </c:strCache>
            </c:strRef>
          </c:tx>
          <c:spPr>
            <a:solidFill>
              <a:srgbClr val="8B5CF6"/>
            </a:solidFill>
            <a:effectLst/>
          </c:spPr>
          <c:invertIfNegative val="0"/>
          <c:dLbls>
            <c:numFmt formatCode="0.000" sourceLinked="0"/>
            <c:txPr>
              <a:bodyPr/>
              <a:lstStyle/>
              <a:p>
                <a:pPr>
                  <a:defRPr b="0" i="0" strike="noStrike" sz="900" u="none">
                    <a:solidFill>
                      <a:srgbClr val="FFFFFF"/>
                    </a:solidFill>
                    <a:latin typeface="Arial"/>
                  </a:defRPr>
                </a:pPr>
              </a:p>
            </c:txPr>
            <c:showLegendKey val="0"/>
            <c:showVal val="1"/>
            <c:showCatName val="0"/>
            <c:showSerName val="0"/>
            <c:showPercent val="0"/>
            <c:showBubbleSize val="0"/>
            <c:showLeaderLines val="0"/>
          </c:dLbls>
          <c:cat>
            <c:multiLvlStrRef>
              <c:f>Sheet1!$A$2:$A$4</c:f>
              <c:multiLvlStrCache>
                <c:ptCount val="3"/>
                <c:lvl>
                  <c:pt idx="0">
                    <c:v>Log. Regression</c:v>
                  </c:pt>
                  <c:pt idx="1">
                    <c:v>Random Forest</c:v>
                  </c:pt>
                  <c:pt idx="2">
                    <c:v>GBT</c:v>
                  </c:pt>
                </c:lvl>
              </c:multiLvlStrCache>
            </c:multiLvlStrRef>
          </c:cat>
          <c:val>
            <c:numRef>
              <c:f>Sheet1!$D$2:$D$4</c:f>
              <c:numCache>
                <c:formatCode>General</c:formatCode>
                <c:ptCount val="3"/>
                <c:pt idx="0">
                  <c:v>0.9101</c:v>
                </c:pt>
                <c:pt idx="1">
                  <c:v>0.9354</c:v>
                </c:pt>
                <c:pt idx="2">
                  <c:v>0.933</c:v>
                </c:pt>
              </c:numCache>
            </c:numRef>
          </c:val>
        </c:ser>
        <c:dLbls>
          <c:numFmt formatCode="0.000" sourceLinked="0"/>
          <c:txPr>
            <a:bodyPr/>
            <a:lstStyle/>
            <a:p>
              <a:pPr>
                <a:defRPr b="0" i="0" strike="noStrike" sz="900" u="none">
                  <a:solidFill>
                    <a:srgbClr val="FFFFF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FFFFFF"/>
                </a:solidFill>
                <a:latin typeface="Arial"/>
              </a:defRPr>
            </a:pPr>
            <a:endParaRPr lang="en-US"/>
          </a:p>
        </c:txPr>
        <c:crossAx val="2094734552"/>
        <c:crosses val="autoZero"/>
        <c:auto val="1"/>
        <c:lblAlgn val="ctr"/>
        <c:noMultiLvlLbl val="1"/>
      </c:catAx>
      <c:valAx>
        <c:axId val="2094734552"/>
        <c:scaling>
          <c:orientation val="minMax"/>
          <c:max val="1"/>
          <c:min val="0.8"/>
        </c:scaling>
        <c:delete val="0"/>
        <c:axPos val="l"/>
        <c:majorGridlines>
          <c:spPr>
            <a:ln w="6350" cap="flat">
              <a:solidFill>
                <a:srgbClr val="2A355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A9B3CC"/>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a:solidFill>
                <a:srgbClr val="A9B3CC"/>
              </a:solidFil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FFFFFF"/>
                </a:solidFill>
                <a:latin typeface="Arial"/>
              </a:defRPr>
            </a:pPr>
            <a:r>
              <a:rPr sz="1300" b="0" i="0" u="none" strike="noStrike">
                <a:solidFill>
                  <a:srgbClr val="FFFFFF"/>
                </a:solidFill>
                <a:latin typeface="Arial"/>
              </a:rPr>
              <a:t>Leave-last-purchase-out evaluation</a:t>
            </a:r>
          </a:p>
        </c:rich>
      </c:tx>
      <c:layout/>
      <c:overlay val="0"/>
    </c:title>
    <c:autoTitleDeleted val="0"/>
    <c:plotArea>
      <c:layout/>
      <c:barChart>
        <c:barDir val="col"/>
        <c:grouping val="clustered"/>
        <c:varyColors val="0"/>
        <c:ser>
          <c:idx val="0"/>
          <c:order val="0"/>
          <c:tx>
            <c:strRef>
              <c:f>Sheet1!$B$1</c:f>
              <c:strCache>
                <c:ptCount val="1"/>
                <c:pt idx="0">
                  <c:v>ALS (tuned)</c:v>
                </c:pt>
              </c:strCache>
            </c:strRef>
          </c:tx>
          <c:spPr>
            <a:solidFill>
              <a:srgbClr val="6366F1"/>
            </a:solidFill>
            <a:effectLst/>
          </c:spPr>
          <c:invertIfNegative val="0"/>
          <c:dLbls>
            <c:numFmt formatCode="0.0&quot;%&quot;" sourceLinked="0"/>
            <c:txPr>
              <a:bodyPr/>
              <a:lstStyle/>
              <a:p>
                <a:pPr>
                  <a:defRPr b="0" i="0" strike="noStrike" sz="1100" u="none">
                    <a:solidFill>
                      <a:srgbClr val="FFFFFF"/>
                    </a:solidFill>
                    <a:latin typeface="Arial"/>
                  </a:defRPr>
                </a:pPr>
              </a:p>
            </c:txPr>
            <c:showLegendKey val="0"/>
            <c:showVal val="1"/>
            <c:showCatName val="0"/>
            <c:showSerName val="0"/>
            <c:showPercent val="0"/>
            <c:showBubbleSize val="0"/>
            <c:showLeaderLines val="0"/>
          </c:dLbls>
          <c:cat>
            <c:multiLvlStrRef>
              <c:f>Sheet1!$A$2:$A$3</c:f>
              <c:multiLvlStrCache>
                <c:ptCount val="2"/>
                <c:lvl>
                  <c:pt idx="0">
                    <c:v>HitRate@10</c:v>
                  </c:pt>
                  <c:pt idx="1">
                    <c:v>NDCG@10</c:v>
                  </c:pt>
                </c:lvl>
              </c:multiLvlStrCache>
            </c:multiLvlStrRef>
          </c:cat>
          <c:val>
            <c:numRef>
              <c:f>Sheet1!$B$2:$B$3</c:f>
              <c:numCache>
                <c:formatCode>General</c:formatCode>
                <c:ptCount val="2"/>
                <c:pt idx="0">
                  <c:v>18</c:v>
                </c:pt>
                <c:pt idx="1">
                  <c:v>9.33</c:v>
                </c:pt>
              </c:numCache>
            </c:numRef>
          </c:val>
        </c:ser>
        <c:ser>
          <c:idx val="1"/>
          <c:order val="1"/>
          <c:tx>
            <c:strRef>
              <c:f>Sheet1!$C$1</c:f>
              <c:strCache>
                <c:ptCount val="1"/>
                <c:pt idx="0">
                  <c:v>Popularity baseline</c:v>
                </c:pt>
              </c:strCache>
            </c:strRef>
          </c:tx>
          <c:spPr>
            <a:solidFill>
              <a:srgbClr val="64748B"/>
            </a:solidFill>
            <a:effectLst/>
          </c:spPr>
          <c:invertIfNegative val="0"/>
          <c:dLbls>
            <c:numFmt formatCode="0.0&quot;%&quot;" sourceLinked="0"/>
            <c:txPr>
              <a:bodyPr/>
              <a:lstStyle/>
              <a:p>
                <a:pPr>
                  <a:defRPr b="0" i="0" strike="noStrike" sz="1100" u="none">
                    <a:solidFill>
                      <a:srgbClr val="FFFFFF"/>
                    </a:solidFill>
                    <a:latin typeface="Arial"/>
                  </a:defRPr>
                </a:pPr>
              </a:p>
            </c:txPr>
            <c:showLegendKey val="0"/>
            <c:showVal val="1"/>
            <c:showCatName val="0"/>
            <c:showSerName val="0"/>
            <c:showPercent val="0"/>
            <c:showBubbleSize val="0"/>
            <c:showLeaderLines val="0"/>
          </c:dLbls>
          <c:cat>
            <c:multiLvlStrRef>
              <c:f>Sheet1!$A$2:$A$3</c:f>
              <c:multiLvlStrCache>
                <c:ptCount val="2"/>
                <c:lvl>
                  <c:pt idx="0">
                    <c:v>HitRate@10</c:v>
                  </c:pt>
                  <c:pt idx="1">
                    <c:v>NDCG@10</c:v>
                  </c:pt>
                </c:lvl>
              </c:multiLvlStrCache>
            </c:multiLvlStrRef>
          </c:cat>
          <c:val>
            <c:numRef>
              <c:f>Sheet1!$C$2:$C$3</c:f>
              <c:numCache>
                <c:formatCode>General</c:formatCode>
                <c:ptCount val="2"/>
                <c:pt idx="0">
                  <c:v>9.99</c:v>
                </c:pt>
                <c:pt idx="1">
                  <c:v>5.11</c:v>
                </c:pt>
              </c:numCache>
            </c:numRef>
          </c:val>
        </c:ser>
        <c:dLbls>
          <c:numFmt formatCode="0.0&quot;%&quot;" sourceLinked="0"/>
          <c:txPr>
            <a:bodyPr/>
            <a:lstStyle/>
            <a:p>
              <a:pPr>
                <a:defRPr b="0" i="0" strike="noStrike" sz="1100" u="none">
                  <a:solidFill>
                    <a:srgbClr val="FFFFF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FFFFFF"/>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2A3556"/>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A9B3CC"/>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a:solidFill>
                <a:srgbClr val="A9B3CC"/>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the project title. ShopSense is an end-to-end Big Data platform: Apache Spark processes about 1.4 million e-commerce records, MongoDB stores the results, and six machine-learning models turn them into decisions shown on an interactive dashboard (screenshot on the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structure of the talk: we start with the problem, then the design and the Big Data pipeline, then the six models with their results, a live demo of the dashboard, the business insights, and finally conclusions and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Online retailers collect huge amounts of data but struggle to use it. Explain each of the six pain points. Our goal: one scalable Big Data system that ingests heterogeneous data, cleans it, derives analytics and ML insights with Spark, stores them in MongoDB and presents them in a decision-oriented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aim, then the six objectives as verbs: generate, engineer, analyse, store, predict and deliver. Each maps to a module of the code and a chapter of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Justify the Big Data tools with the 3 Vs. The dataset is generated by our own behaviour-driven simulator: realistic personas, Indian sale festivals, churn and deliberately dirty records. The same code scales from small to large data sizes.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the literature: Spark and MLlib for distributed processing and ML, RFM segmentation, churn benchmarking, implicit ALS, FP-Growth, Prophet and robust outlier detection. Then explain the six research gaps and how our system addresses each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is open source. Spark does distributed ETL and machine learning, MongoDB is the serving database, FastAPI exposes a REST API and the dashboard is plain JavaScript with Apache ECharts. It runs on a normal laptop with Java 17 and Python 3.11.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layers. Raw files land on disk. Spark does all heavy work: ingestion, cleaning, aggregation and model training. Results are written in parallel into MongoDB as small query-shaped documents, so the API and dashboard never touch raw data and answer in milliseconds. This batch/serving split is how large e-commerce analytics platforms are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Bronze reads raw files with explicit schemas; silver standardises values, removes duplicates and invalid rows, joins products and customers, computes revenue and profit and sessionises the click-stream; gold computes analytics. The table shows the data-quality report: every injected problem is caught and counted. On the right: stage timings. The whole run takes under 7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Overview of the six models and their headline results; the next slides go into each. All models are trained inside the Spark pipeline and their metrics are stored in a model_registry collection in MongoDB.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RFM-style features (log-transformed and standardised) are clustered with K-Means for k from 3 to 8; k = 5 has the best silhouette. Clusters are named automatically from their centroids. The PCA map shows clear separation. Key insight: Champions are about a quarter of buyers but 72% of revenue.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Churn = no successful order in the next 90 days. Features come only from data before the cutoff date, so there is no leakage. Three models were trained on 80% of customers and tested on 20%; Random Forest wins with AUC 0.955 and 93.5% precision. The strongest predictors are click-stream engagement features, which shows the value of processing log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Predictions must be actionable. The what-if simulator lets a marketer move sliders, for example days since last visit, and see the churn probability and its drivers change instantly. Customer 360 combines profile, RFM score, churn gauge with explanation, orders and recommendations for one customer.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ALS learns latent factors from implicit signals (views, carts, wishlists, purchases). Evaluation hides each customer’s last purchase: ALS finds it in the Top-10 1.8 times more often than a popularity recommender. FP-Growth mines association rules; the network shows categories bought together, for example cookware with kitchen appliances, which drives bundle offers.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forecaster combines a linear trend with a random-forest seasonality model that knows weekdays, salary days and the planned sale calendar, with smearing bias correction and 80/95% intervals. It beats three baselines on daily error. Daily revenue is noisy because a few laptop orders dominate some days; on weekly totals the error is about 7%. Anomaly detection uses the same model: all four planted events were found with no false alarms.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live demo here. Suggested flow: Overview KPIs, then Sales with a 90-day filter on Fashion, then the Behaviour funnel by device, Segmentation cards, Churn simulator (move the "days since last visit" slider), Recommendations for a customer, the Market basket network, the Forecast page and finally the Pipeline page showing the data-quality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insights come straight from the dashboard. Emphasise that each insight leads to a concrete action: rethink discount depth, reduce COD, cross-sell high-margin categories, improve product pages, monitor engagement for churn, and run a targeted win-back campaign.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report contains the full set: use-case, two sequence diagrams, two state diagrams, activity, class, DFD levels 0 and 1, ER model of MongoDB collections and the deployment diagram. All are generated from text (Mermaid) stored in the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the achievements and the value: affordable, explainable analytics for online retailers. Then the future scope: real-time streaming, cluster deployment, advanced models, sentiment analysis, MLOps and a conversational analytics assistant.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guide and the examiners, and invite questions. Likely questions: why MongoDB rather than MySQL (flexible nested documents, embedding, fast single-document reads); why synthetic data (privacy, reproducibility, known ground truth for validation); how it scales (change SPARK_MASTER to a cluster); why Random Forest won (non-linear interactions between engagement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9-1.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image" Target="../media/image-14-1.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1.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020"/>
        </a:solidFill>
      </p:bgPr>
    </p:bg>
    <p:spTree>
      <p:nvGrpSpPr>
        <p:cNvPr id="1" name=""/>
        <p:cNvGrpSpPr/>
        <p:nvPr/>
      </p:nvGrpSpPr>
      <p:grpSpPr>
        <a:xfrm>
          <a:off x="0" y="0"/>
          <a:ext cx="0" cy="0"/>
          <a:chOff x="0" y="0"/>
          <a:chExt cx="0" cy="0"/>
        </a:xfrm>
      </p:grpSpPr>
      <p:pic>
        <p:nvPicPr>
          <p:cNvPr id="2" name="Image 0" descr="/tmp/claude-0/-home-user-BDA/48a080a6-c4a7-5521-8912-9b4289475339/scratchpad/logo.png">    </p:cNvPr>
          <p:cNvPicPr>
            <a:picLocks noChangeAspect="1"/>
          </p:cNvPicPr>
          <p:nvPr/>
        </p:nvPicPr>
        <p:blipFill>
          <a:blip r:embed="rId1"/>
          <a:stretch>
            <a:fillRect/>
          </a:stretch>
        </p:blipFill>
        <p:spPr>
          <a:xfrm>
            <a:off x="548640" y="548640"/>
            <a:ext cx="685800" cy="685800"/>
          </a:xfrm>
          <a:prstGeom prst="rect">
            <a:avLst/>
          </a:prstGeom>
        </p:spPr>
      </p:pic>
      <p:sp>
        <p:nvSpPr>
          <p:cNvPr id="3" name="Text 0"/>
          <p:cNvSpPr txBox="1"/>
          <p:nvPr/>
        </p:nvSpPr>
        <p:spPr>
          <a:xfrm>
            <a:off x="1371600" y="566928"/>
            <a:ext cx="4572000" cy="658368"/>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ShopSense</a:t>
            </a:r>
            <a:endParaRPr lang="en-US" sz="3000" dirty="0"/>
          </a:p>
        </p:txBody>
      </p:sp>
      <p:sp>
        <p:nvSpPr>
          <p:cNvPr id="4" name="Text 1"/>
          <p:cNvSpPr txBox="1"/>
          <p:nvPr/>
        </p:nvSpPr>
        <p:spPr>
          <a:xfrm>
            <a:off x="548640" y="1508760"/>
            <a:ext cx="6217920" cy="1508760"/>
          </a:xfrm>
          <a:prstGeom prst="rect">
            <a:avLst/>
          </a:prstGeom>
          <a:noFill/>
          <a:ln/>
        </p:spPr>
        <p:txBody>
          <a:bodyPr wrap="square" lIns="0" tIns="0" rIns="0" bIns="0" rtlCol="0" anchor="t"/>
          <a:lstStyle/>
          <a:p>
            <a:pPr indent="0" marL="0">
              <a:buNone/>
            </a:pPr>
            <a:r>
              <a:rPr lang="en-US" sz="3200" b="1" dirty="0">
                <a:solidFill>
                  <a:srgbClr val="FFFFFF"/>
                </a:solidFill>
                <a:latin typeface="Arial" pitchFamily="34" charset="0"/>
                <a:ea typeface="Arial" pitchFamily="34" charset="-122"/>
                <a:cs typeface="Arial" pitchFamily="34" charset="-120"/>
              </a:rPr>
              <a:t>E-Commerce Sales &amp; Customer Behaviour Analytics</a:t>
            </a:r>
            <a:endParaRPr lang="en-US" sz="3200" dirty="0"/>
          </a:p>
        </p:txBody>
      </p:sp>
      <p:sp>
        <p:nvSpPr>
          <p:cNvPr id="5" name="Text 2"/>
          <p:cNvSpPr txBox="1"/>
          <p:nvPr/>
        </p:nvSpPr>
        <p:spPr>
          <a:xfrm>
            <a:off x="548640" y="3154680"/>
            <a:ext cx="6217920" cy="457200"/>
          </a:xfrm>
          <a:prstGeom prst="rect">
            <a:avLst/>
          </a:prstGeom>
          <a:noFill/>
          <a:ln/>
        </p:spPr>
        <p:txBody>
          <a:bodyPr wrap="square" lIns="0" tIns="0" rIns="0" bIns="0" rtlCol="0" anchor="ctr"/>
          <a:lstStyle/>
          <a:p>
            <a:pPr indent="0" marL="0">
              <a:buNone/>
            </a:pPr>
            <a:r>
              <a:rPr lang="en-US" sz="1800" dirty="0">
                <a:solidFill>
                  <a:srgbClr val="06B6D4"/>
                </a:solidFill>
                <a:latin typeface="Calibri" pitchFamily="34" charset="0"/>
                <a:ea typeface="Calibri" pitchFamily="34" charset="-122"/>
                <a:cs typeface="Calibri" pitchFamily="34" charset="-120"/>
              </a:rPr>
              <a:t>using Big Data — Apache Spark · MongoDB · Machine Learning</a:t>
            </a:r>
            <a:endParaRPr lang="en-US" sz="1800" dirty="0"/>
          </a:p>
        </p:txBody>
      </p:sp>
      <p:sp>
        <p:nvSpPr>
          <p:cNvPr id="6" name="Text 3"/>
          <p:cNvSpPr txBox="1"/>
          <p:nvPr/>
        </p:nvSpPr>
        <p:spPr>
          <a:xfrm>
            <a:off x="548640" y="3840480"/>
            <a:ext cx="6217920" cy="2103120"/>
          </a:xfrm>
          <a:prstGeom prst="rect">
            <a:avLst/>
          </a:prstGeom>
          <a:noFill/>
          <a:ln/>
        </p:spPr>
        <p:txBody>
          <a:bodyPr wrap="square" lIns="0" tIns="0" rIns="0" bIns="0" rtlCol="0" anchor="t"/>
          <a:lstStyle/>
          <a:p>
            <a:pPr indent="0" marL="0">
              <a:buNone/>
            </a:pPr>
            <a:r>
              <a:rPr lang="en-US" sz="1200" dirty="0">
                <a:solidFill>
                  <a:srgbClr val="7D88A6"/>
                </a:solidFill>
                <a:latin typeface="Calibri" pitchFamily="34" charset="0"/>
                <a:ea typeface="Calibri" pitchFamily="34" charset="-122"/>
                <a:cs typeface="Calibri" pitchFamily="34" charset="-120"/>
              </a:rPr>
              <a:t>Presented by</a:t>
            </a:r>
            <a:endParaRPr lang="en-US" sz="1200" dirty="0"/>
          </a:p>
          <a:p>
            <a:pPr indent="0" marL="0">
              <a:buNone/>
            </a:pPr>
            <a:r>
              <a:rPr lang="en-US" sz="1800" b="1" dirty="0">
                <a:solidFill>
                  <a:srgbClr val="FFFFFF"/>
                </a:solidFill>
                <a:latin typeface="Calibri" pitchFamily="34" charset="0"/>
                <a:ea typeface="Calibri" pitchFamily="34" charset="-122"/>
                <a:cs typeface="Calibri" pitchFamily="34" charset="-120"/>
              </a:rPr>
              <a:t>Kartik Verma  ·  Kushal Soni  ·  Dhir Thakar</a:t>
            </a:r>
            <a:endParaRPr lang="en-US" sz="1200" dirty="0"/>
          </a:p>
          <a:p>
            <a:pPr indent="0" marL="0">
              <a:buNone/>
            </a:pPr>
            <a:r>
              <a:rPr lang="en-US" sz="800" dirty="0">
                <a:solidFill>
                  <a:srgbClr val="000000"/>
                </a:solidFill>
                <a:latin typeface="Calibri" pitchFamily="34" charset="0"/>
                <a:ea typeface="Calibri" pitchFamily="34" charset="-122"/>
                <a:cs typeface="Calibri" pitchFamily="34" charset="-120"/>
              </a:rPr>
              <a:t> </a:t>
            </a:r>
            <a:endParaRPr lang="en-US" sz="1200" dirty="0"/>
          </a:p>
          <a:p>
            <a:pPr indent="0" marL="0">
              <a:buNone/>
            </a:pPr>
            <a:r>
              <a:rPr lang="en-US" sz="1400" dirty="0">
                <a:solidFill>
                  <a:srgbClr val="A9B3CC"/>
                </a:solidFill>
                <a:latin typeface="Calibri" pitchFamily="34" charset="0"/>
                <a:ea typeface="Calibri" pitchFamily="34" charset="-122"/>
                <a:cs typeface="Calibri" pitchFamily="34" charset="-120"/>
              </a:rPr>
              <a:t>Guide: &lt;Guide Name&gt;</a:t>
            </a:r>
            <a:endParaRPr lang="en-US" sz="1200" dirty="0"/>
          </a:p>
          <a:p>
            <a:pPr indent="0" marL="0">
              <a:buNone/>
            </a:pPr>
            <a:r>
              <a:rPr lang="en-US" sz="1300" dirty="0">
                <a:solidFill>
                  <a:srgbClr val="A9B3CC"/>
                </a:solidFill>
                <a:latin typeface="Calibri" pitchFamily="34" charset="0"/>
                <a:ea typeface="Calibri" pitchFamily="34" charset="-122"/>
                <a:cs typeface="Calibri" pitchFamily="34" charset="-120"/>
              </a:rPr>
              <a:t>LY Innovation-Based Major Project-B · Dept. of Computer Engineering</a:t>
            </a:r>
            <a:endParaRPr lang="en-US" sz="1200" dirty="0"/>
          </a:p>
          <a:p>
            <a:pPr indent="0" marL="0">
              <a:buNone/>
            </a:pPr>
            <a:r>
              <a:rPr lang="en-US" sz="1300" dirty="0">
                <a:solidFill>
                  <a:srgbClr val="A9B3CC"/>
                </a:solidFill>
                <a:latin typeface="Calibri" pitchFamily="34" charset="0"/>
                <a:ea typeface="Calibri" pitchFamily="34" charset="-122"/>
                <a:cs typeface="Calibri" pitchFamily="34" charset="-120"/>
              </a:rPr>
              <a:t>K. J. Somaiya Institute of Technology, Sion, Mumbai · 2026-27</a:t>
            </a:r>
            <a:endParaRPr lang="en-US" sz="1200" dirty="0"/>
          </a:p>
        </p:txBody>
      </p:sp>
      <p:pic>
        <p:nvPicPr>
          <p:cNvPr id="7" name="Image 1" descr="/home/user/BDA/docs/screenshots/01_overview.png">    </p:cNvPr>
          <p:cNvPicPr>
            <a:picLocks noChangeAspect="1"/>
          </p:cNvPicPr>
          <p:nvPr/>
        </p:nvPicPr>
        <p:blipFill>
          <a:blip r:embed="rId2"/>
          <a:stretch>
            <a:fillRect/>
          </a:stretch>
        </p:blipFill>
        <p:spPr>
          <a:xfrm>
            <a:off x="6903720" y="1685925"/>
            <a:ext cx="4846320" cy="3028950"/>
          </a:xfrm>
          <a:prstGeom prst="rect">
            <a:avLst/>
          </a:prstGeom>
          <a:effectLst>
            <a:outerShdw sx="100000" sy="100000" kx="0" ky="0" algn="bl" rotWithShape="0" blurRad="152400" dist="50800" dir="5400000">
              <a:srgbClr val="000000">
                <a:alpha val="45000"/>
              </a:srgbClr>
            </a:outerShdw>
          </a:effectLst>
        </p:spPr>
      </p:pic>
      <p:pic>
        <p:nvPicPr>
          <p:cNvPr id="8" name="Image 2" descr="/home/user/BDA/report/assets/somaiya_logo.png">    </p:cNvPr>
          <p:cNvPicPr>
            <a:picLocks noChangeAspect="1"/>
          </p:cNvPicPr>
          <p:nvPr/>
        </p:nvPicPr>
        <p:blipFill>
          <a:blip r:embed="rId3"/>
          <a:stretch>
            <a:fillRect/>
          </a:stretch>
        </p:blipFill>
        <p:spPr>
          <a:xfrm>
            <a:off x="10881360" y="5669280"/>
            <a:ext cx="777240" cy="81381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020"/>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200" b="1" spc="300" kern="0" dirty="0">
                <a:solidFill>
                  <a:srgbClr val="06B6D4"/>
                </a:solidFill>
                <a:latin typeface="Calibri" pitchFamily="34" charset="0"/>
                <a:ea typeface="Calibri" pitchFamily="34" charset="-122"/>
                <a:cs typeface="Calibri" pitchFamily="34" charset="-120"/>
              </a:rPr>
              <a:t>ROADMAP</a:t>
            </a:r>
            <a:endParaRPr lang="en-US" sz="1200" dirty="0"/>
          </a:p>
        </p:txBody>
      </p:sp>
      <p:sp>
        <p:nvSpPr>
          <p:cNvPr id="3" name="Text 1"/>
          <p:cNvSpPr txBox="1"/>
          <p:nvPr/>
        </p:nvSpPr>
        <p:spPr>
          <a:xfrm>
            <a:off x="548640" y="603504"/>
            <a:ext cx="11064240" cy="685800"/>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Agenda</a:t>
            </a:r>
            <a:endParaRPr lang="en-US" sz="3200" dirty="0"/>
          </a:p>
        </p:txBody>
      </p:sp>
      <p:sp>
        <p:nvSpPr>
          <p:cNvPr id="4" name="Text 2"/>
          <p:cNvSpPr txBox="1"/>
          <p:nvPr/>
        </p:nvSpPr>
        <p:spPr>
          <a:xfrm>
            <a:off x="8412480" y="6446520"/>
            <a:ext cx="3246120" cy="274320"/>
          </a:xfrm>
          <a:prstGeom prst="rect">
            <a:avLst/>
          </a:prstGeom>
          <a:noFill/>
          <a:ln/>
        </p:spPr>
        <p:txBody>
          <a:bodyPr wrap="square" lIns="0" tIns="0" rIns="0" bIns="0" rtlCol="0" anchor="ctr"/>
          <a:lstStyle/>
          <a:p>
            <a:pPr algn="r" indent="0" marL="0">
              <a:buNone/>
            </a:pPr>
            <a:r>
              <a:rPr lang="en-US" sz="1000" dirty="0">
                <a:solidFill>
                  <a:srgbClr val="7D88A6"/>
                </a:solidFill>
                <a:latin typeface="Calibri" pitchFamily="34" charset="0"/>
                <a:ea typeface="Calibri" pitchFamily="34" charset="-122"/>
                <a:cs typeface="Calibri" pitchFamily="34" charset="-120"/>
              </a:rPr>
              <a:t>ShopSense · Big Data Analytics  |  2</a:t>
            </a:r>
            <a:endParaRPr lang="en-US" sz="1000" dirty="0"/>
          </a:p>
        </p:txBody>
      </p:sp>
      <p:sp>
        <p:nvSpPr>
          <p:cNvPr id="5" name="Shape 3"/>
          <p:cNvSpPr/>
          <p:nvPr/>
        </p:nvSpPr>
        <p:spPr>
          <a:xfrm>
            <a:off x="548640" y="1600200"/>
            <a:ext cx="5394960" cy="868680"/>
          </a:xfrm>
          <a:prstGeom prst="roundRect">
            <a:avLst>
              <a:gd name="adj" fmla="val 12632"/>
            </a:avLst>
          </a:prstGeom>
          <a:solidFill>
            <a:srgbClr val="151C30"/>
          </a:solidFill>
          <a:ln w="9525">
            <a:solidFill>
              <a:srgbClr val="2A3556"/>
            </a:solidFill>
            <a:prstDash val="solid"/>
          </a:ln>
        </p:spPr>
      </p:sp>
      <p:sp>
        <p:nvSpPr>
          <p:cNvPr id="6" name="Text 4"/>
          <p:cNvSpPr txBox="1"/>
          <p:nvPr/>
        </p:nvSpPr>
        <p:spPr>
          <a:xfrm>
            <a:off x="777240" y="1600200"/>
            <a:ext cx="822960" cy="868680"/>
          </a:xfrm>
          <a:prstGeom prst="rect">
            <a:avLst/>
          </a:prstGeom>
          <a:noFill/>
          <a:ln/>
        </p:spPr>
        <p:txBody>
          <a:bodyPr wrap="square" lIns="0" tIns="0" rIns="0" bIns="0" rtlCol="0" anchor="ctr"/>
          <a:lstStyle/>
          <a:p>
            <a:pPr indent="0" marL="0">
              <a:buNone/>
            </a:pPr>
            <a:r>
              <a:rPr lang="en-US" sz="2600" b="1" dirty="0">
                <a:solidFill>
                  <a:srgbClr val="6366F1"/>
                </a:solidFill>
                <a:latin typeface="Arial" pitchFamily="34" charset="0"/>
                <a:ea typeface="Arial" pitchFamily="34" charset="-122"/>
                <a:cs typeface="Arial" pitchFamily="34" charset="-120"/>
              </a:rPr>
              <a:t>01</a:t>
            </a:r>
            <a:endParaRPr lang="en-US" sz="2600" dirty="0"/>
          </a:p>
        </p:txBody>
      </p:sp>
      <p:sp>
        <p:nvSpPr>
          <p:cNvPr id="7" name="Text 5"/>
          <p:cNvSpPr txBox="1"/>
          <p:nvPr/>
        </p:nvSpPr>
        <p:spPr>
          <a:xfrm>
            <a:off x="1600200" y="1600200"/>
            <a:ext cx="4206240" cy="868680"/>
          </a:xfrm>
          <a:prstGeom prst="rect">
            <a:avLst/>
          </a:prstGeom>
          <a:noFill/>
          <a:ln/>
        </p:spPr>
        <p:txBody>
          <a:bodyPr wrap="square" lIns="0" tIns="0" rIns="0" bIns="0" rtlCol="0" anchor="ctr"/>
          <a:lstStyle/>
          <a:p>
            <a:pPr indent="0" marL="0">
              <a:buNone/>
            </a:pPr>
            <a:r>
              <a:rPr lang="en-US" sz="1900" dirty="0">
                <a:solidFill>
                  <a:srgbClr val="FFFFFF"/>
                </a:solidFill>
                <a:latin typeface="Calibri" pitchFamily="34" charset="0"/>
                <a:ea typeface="Calibri" pitchFamily="34" charset="-122"/>
                <a:cs typeface="Calibri" pitchFamily="34" charset="-120"/>
              </a:rPr>
              <a:t>Problem &amp; objectives</a:t>
            </a:r>
            <a:endParaRPr lang="en-US" sz="1900" dirty="0"/>
          </a:p>
        </p:txBody>
      </p:sp>
      <p:sp>
        <p:nvSpPr>
          <p:cNvPr id="8" name="Shape 6"/>
          <p:cNvSpPr/>
          <p:nvPr/>
        </p:nvSpPr>
        <p:spPr>
          <a:xfrm>
            <a:off x="6217920" y="1600200"/>
            <a:ext cx="5394960" cy="868680"/>
          </a:xfrm>
          <a:prstGeom prst="roundRect">
            <a:avLst>
              <a:gd name="adj" fmla="val 12632"/>
            </a:avLst>
          </a:prstGeom>
          <a:solidFill>
            <a:srgbClr val="151C30"/>
          </a:solidFill>
          <a:ln w="9525">
            <a:solidFill>
              <a:srgbClr val="2A3556"/>
            </a:solidFill>
            <a:prstDash val="solid"/>
          </a:ln>
        </p:spPr>
      </p:sp>
      <p:sp>
        <p:nvSpPr>
          <p:cNvPr id="9" name="Text 7"/>
          <p:cNvSpPr txBox="1"/>
          <p:nvPr/>
        </p:nvSpPr>
        <p:spPr>
          <a:xfrm>
            <a:off x="6446520" y="1600200"/>
            <a:ext cx="822960" cy="868680"/>
          </a:xfrm>
          <a:prstGeom prst="rect">
            <a:avLst/>
          </a:prstGeom>
          <a:noFill/>
          <a:ln/>
        </p:spPr>
        <p:txBody>
          <a:bodyPr wrap="square" lIns="0" tIns="0" rIns="0" bIns="0" rtlCol="0" anchor="ctr"/>
          <a:lstStyle/>
          <a:p>
            <a:pPr indent="0" marL="0">
              <a:buNone/>
            </a:pPr>
            <a:r>
              <a:rPr lang="en-US" sz="2600" b="1" dirty="0">
                <a:solidFill>
                  <a:srgbClr val="6366F1"/>
                </a:solidFill>
                <a:latin typeface="Arial" pitchFamily="34" charset="0"/>
                <a:ea typeface="Arial" pitchFamily="34" charset="-122"/>
                <a:cs typeface="Arial" pitchFamily="34" charset="-120"/>
              </a:rPr>
              <a:t>02</a:t>
            </a:r>
            <a:endParaRPr lang="en-US" sz="2600" dirty="0"/>
          </a:p>
        </p:txBody>
      </p:sp>
      <p:sp>
        <p:nvSpPr>
          <p:cNvPr id="10" name="Text 8"/>
          <p:cNvSpPr txBox="1"/>
          <p:nvPr/>
        </p:nvSpPr>
        <p:spPr>
          <a:xfrm>
            <a:off x="7269480" y="1600200"/>
            <a:ext cx="4206240" cy="868680"/>
          </a:xfrm>
          <a:prstGeom prst="rect">
            <a:avLst/>
          </a:prstGeom>
          <a:noFill/>
          <a:ln/>
        </p:spPr>
        <p:txBody>
          <a:bodyPr wrap="square" lIns="0" tIns="0" rIns="0" bIns="0" rtlCol="0" anchor="ctr"/>
          <a:lstStyle/>
          <a:p>
            <a:pPr indent="0" marL="0">
              <a:buNone/>
            </a:pPr>
            <a:r>
              <a:rPr lang="en-US" sz="1900" dirty="0">
                <a:solidFill>
                  <a:srgbClr val="FFFFFF"/>
                </a:solidFill>
                <a:latin typeface="Calibri" pitchFamily="34" charset="0"/>
                <a:ea typeface="Calibri" pitchFamily="34" charset="-122"/>
                <a:cs typeface="Calibri" pitchFamily="34" charset="-120"/>
              </a:rPr>
              <a:t>Literature &amp; research gaps</a:t>
            </a:r>
            <a:endParaRPr lang="en-US" sz="1900" dirty="0"/>
          </a:p>
        </p:txBody>
      </p:sp>
      <p:sp>
        <p:nvSpPr>
          <p:cNvPr id="11" name="Shape 9"/>
          <p:cNvSpPr/>
          <p:nvPr/>
        </p:nvSpPr>
        <p:spPr>
          <a:xfrm>
            <a:off x="548640" y="2697480"/>
            <a:ext cx="5394960" cy="868680"/>
          </a:xfrm>
          <a:prstGeom prst="roundRect">
            <a:avLst>
              <a:gd name="adj" fmla="val 12632"/>
            </a:avLst>
          </a:prstGeom>
          <a:solidFill>
            <a:srgbClr val="151C30"/>
          </a:solidFill>
          <a:ln w="9525">
            <a:solidFill>
              <a:srgbClr val="2A3556"/>
            </a:solidFill>
            <a:prstDash val="solid"/>
          </a:ln>
        </p:spPr>
      </p:sp>
      <p:sp>
        <p:nvSpPr>
          <p:cNvPr id="12" name="Text 10"/>
          <p:cNvSpPr txBox="1"/>
          <p:nvPr/>
        </p:nvSpPr>
        <p:spPr>
          <a:xfrm>
            <a:off x="777240" y="2697480"/>
            <a:ext cx="822960" cy="868680"/>
          </a:xfrm>
          <a:prstGeom prst="rect">
            <a:avLst/>
          </a:prstGeom>
          <a:noFill/>
          <a:ln/>
        </p:spPr>
        <p:txBody>
          <a:bodyPr wrap="square" lIns="0" tIns="0" rIns="0" bIns="0" rtlCol="0" anchor="ctr"/>
          <a:lstStyle/>
          <a:p>
            <a:pPr indent="0" marL="0">
              <a:buNone/>
            </a:pPr>
            <a:r>
              <a:rPr lang="en-US" sz="2600" b="1" dirty="0">
                <a:solidFill>
                  <a:srgbClr val="6366F1"/>
                </a:solidFill>
                <a:latin typeface="Arial" pitchFamily="34" charset="0"/>
                <a:ea typeface="Arial" pitchFamily="34" charset="-122"/>
                <a:cs typeface="Arial" pitchFamily="34" charset="-120"/>
              </a:rPr>
              <a:t>03</a:t>
            </a:r>
            <a:endParaRPr lang="en-US" sz="2600" dirty="0"/>
          </a:p>
        </p:txBody>
      </p:sp>
      <p:sp>
        <p:nvSpPr>
          <p:cNvPr id="13" name="Text 11"/>
          <p:cNvSpPr txBox="1"/>
          <p:nvPr/>
        </p:nvSpPr>
        <p:spPr>
          <a:xfrm>
            <a:off x="1600200" y="2697480"/>
            <a:ext cx="4206240" cy="868680"/>
          </a:xfrm>
          <a:prstGeom prst="rect">
            <a:avLst/>
          </a:prstGeom>
          <a:noFill/>
          <a:ln/>
        </p:spPr>
        <p:txBody>
          <a:bodyPr wrap="square" lIns="0" tIns="0" rIns="0" bIns="0" rtlCol="0" anchor="ctr"/>
          <a:lstStyle/>
          <a:p>
            <a:pPr indent="0" marL="0">
              <a:buNone/>
            </a:pPr>
            <a:r>
              <a:rPr lang="en-US" sz="1900" dirty="0">
                <a:solidFill>
                  <a:srgbClr val="FFFFFF"/>
                </a:solidFill>
                <a:latin typeface="Calibri" pitchFamily="34" charset="0"/>
                <a:ea typeface="Calibri" pitchFamily="34" charset="-122"/>
                <a:cs typeface="Calibri" pitchFamily="34" charset="-120"/>
              </a:rPr>
              <a:t>Technology stack &amp; architecture</a:t>
            </a:r>
            <a:endParaRPr lang="en-US" sz="1900" dirty="0"/>
          </a:p>
        </p:txBody>
      </p:sp>
      <p:sp>
        <p:nvSpPr>
          <p:cNvPr id="14" name="Shape 12"/>
          <p:cNvSpPr/>
          <p:nvPr/>
        </p:nvSpPr>
        <p:spPr>
          <a:xfrm>
            <a:off x="6217920" y="2697480"/>
            <a:ext cx="5394960" cy="868680"/>
          </a:xfrm>
          <a:prstGeom prst="roundRect">
            <a:avLst>
              <a:gd name="adj" fmla="val 12632"/>
            </a:avLst>
          </a:prstGeom>
          <a:solidFill>
            <a:srgbClr val="151C30"/>
          </a:solidFill>
          <a:ln w="9525">
            <a:solidFill>
              <a:srgbClr val="2A3556"/>
            </a:solidFill>
            <a:prstDash val="solid"/>
          </a:ln>
        </p:spPr>
      </p:sp>
      <p:sp>
        <p:nvSpPr>
          <p:cNvPr id="15" name="Text 13"/>
          <p:cNvSpPr txBox="1"/>
          <p:nvPr/>
        </p:nvSpPr>
        <p:spPr>
          <a:xfrm>
            <a:off x="6446520" y="2697480"/>
            <a:ext cx="822960" cy="868680"/>
          </a:xfrm>
          <a:prstGeom prst="rect">
            <a:avLst/>
          </a:prstGeom>
          <a:noFill/>
          <a:ln/>
        </p:spPr>
        <p:txBody>
          <a:bodyPr wrap="square" lIns="0" tIns="0" rIns="0" bIns="0" rtlCol="0" anchor="ctr"/>
          <a:lstStyle/>
          <a:p>
            <a:pPr indent="0" marL="0">
              <a:buNone/>
            </a:pPr>
            <a:r>
              <a:rPr lang="en-US" sz="2600" b="1" dirty="0">
                <a:solidFill>
                  <a:srgbClr val="6366F1"/>
                </a:solidFill>
                <a:latin typeface="Arial" pitchFamily="34" charset="0"/>
                <a:ea typeface="Arial" pitchFamily="34" charset="-122"/>
                <a:cs typeface="Arial" pitchFamily="34" charset="-120"/>
              </a:rPr>
              <a:t>04</a:t>
            </a:r>
            <a:endParaRPr lang="en-US" sz="2600" dirty="0"/>
          </a:p>
        </p:txBody>
      </p:sp>
      <p:sp>
        <p:nvSpPr>
          <p:cNvPr id="16" name="Text 14"/>
          <p:cNvSpPr txBox="1"/>
          <p:nvPr/>
        </p:nvSpPr>
        <p:spPr>
          <a:xfrm>
            <a:off x="7269480" y="2697480"/>
            <a:ext cx="4206240" cy="868680"/>
          </a:xfrm>
          <a:prstGeom prst="rect">
            <a:avLst/>
          </a:prstGeom>
          <a:noFill/>
          <a:ln/>
        </p:spPr>
        <p:txBody>
          <a:bodyPr wrap="square" lIns="0" tIns="0" rIns="0" bIns="0" rtlCol="0" anchor="ctr"/>
          <a:lstStyle/>
          <a:p>
            <a:pPr indent="0" marL="0">
              <a:buNone/>
            </a:pPr>
            <a:r>
              <a:rPr lang="en-US" sz="1900" dirty="0">
                <a:solidFill>
                  <a:srgbClr val="FFFFFF"/>
                </a:solidFill>
                <a:latin typeface="Calibri" pitchFamily="34" charset="0"/>
                <a:ea typeface="Calibri" pitchFamily="34" charset="-122"/>
                <a:cs typeface="Calibri" pitchFamily="34" charset="-120"/>
              </a:rPr>
              <a:t>Data pipeline &amp; data quality</a:t>
            </a:r>
            <a:endParaRPr lang="en-US" sz="1900" dirty="0"/>
          </a:p>
        </p:txBody>
      </p:sp>
      <p:sp>
        <p:nvSpPr>
          <p:cNvPr id="17" name="Shape 15"/>
          <p:cNvSpPr/>
          <p:nvPr/>
        </p:nvSpPr>
        <p:spPr>
          <a:xfrm>
            <a:off x="548640" y="3794760"/>
            <a:ext cx="5394960" cy="868680"/>
          </a:xfrm>
          <a:prstGeom prst="roundRect">
            <a:avLst>
              <a:gd name="adj" fmla="val 12632"/>
            </a:avLst>
          </a:prstGeom>
          <a:solidFill>
            <a:srgbClr val="151C30"/>
          </a:solidFill>
          <a:ln w="9525">
            <a:solidFill>
              <a:srgbClr val="2A3556"/>
            </a:solidFill>
            <a:prstDash val="solid"/>
          </a:ln>
        </p:spPr>
      </p:sp>
      <p:sp>
        <p:nvSpPr>
          <p:cNvPr id="18" name="Text 16"/>
          <p:cNvSpPr txBox="1"/>
          <p:nvPr/>
        </p:nvSpPr>
        <p:spPr>
          <a:xfrm>
            <a:off x="777240" y="3794760"/>
            <a:ext cx="822960" cy="868680"/>
          </a:xfrm>
          <a:prstGeom prst="rect">
            <a:avLst/>
          </a:prstGeom>
          <a:noFill/>
          <a:ln/>
        </p:spPr>
        <p:txBody>
          <a:bodyPr wrap="square" lIns="0" tIns="0" rIns="0" bIns="0" rtlCol="0" anchor="ctr"/>
          <a:lstStyle/>
          <a:p>
            <a:pPr indent="0" marL="0">
              <a:buNone/>
            </a:pPr>
            <a:r>
              <a:rPr lang="en-US" sz="2600" b="1" dirty="0">
                <a:solidFill>
                  <a:srgbClr val="6366F1"/>
                </a:solidFill>
                <a:latin typeface="Arial" pitchFamily="34" charset="0"/>
                <a:ea typeface="Arial" pitchFamily="34" charset="-122"/>
                <a:cs typeface="Arial" pitchFamily="34" charset="-120"/>
              </a:rPr>
              <a:t>05</a:t>
            </a:r>
            <a:endParaRPr lang="en-US" sz="2600" dirty="0"/>
          </a:p>
        </p:txBody>
      </p:sp>
      <p:sp>
        <p:nvSpPr>
          <p:cNvPr id="19" name="Text 17"/>
          <p:cNvSpPr txBox="1"/>
          <p:nvPr/>
        </p:nvSpPr>
        <p:spPr>
          <a:xfrm>
            <a:off x="1600200" y="3794760"/>
            <a:ext cx="4206240" cy="868680"/>
          </a:xfrm>
          <a:prstGeom prst="rect">
            <a:avLst/>
          </a:prstGeom>
          <a:noFill/>
          <a:ln/>
        </p:spPr>
        <p:txBody>
          <a:bodyPr wrap="square" lIns="0" tIns="0" rIns="0" bIns="0" rtlCol="0" anchor="ctr"/>
          <a:lstStyle/>
          <a:p>
            <a:pPr indent="0" marL="0">
              <a:buNone/>
            </a:pPr>
            <a:r>
              <a:rPr lang="en-US" sz="1900" dirty="0">
                <a:solidFill>
                  <a:srgbClr val="FFFFFF"/>
                </a:solidFill>
                <a:latin typeface="Calibri" pitchFamily="34" charset="0"/>
                <a:ea typeface="Calibri" pitchFamily="34" charset="-122"/>
                <a:cs typeface="Calibri" pitchFamily="34" charset="-120"/>
              </a:rPr>
              <a:t>Machine-learning models &amp; results</a:t>
            </a:r>
            <a:endParaRPr lang="en-US" sz="1900" dirty="0"/>
          </a:p>
        </p:txBody>
      </p:sp>
      <p:sp>
        <p:nvSpPr>
          <p:cNvPr id="20" name="Shape 18"/>
          <p:cNvSpPr/>
          <p:nvPr/>
        </p:nvSpPr>
        <p:spPr>
          <a:xfrm>
            <a:off x="6217920" y="3794760"/>
            <a:ext cx="5394960" cy="868680"/>
          </a:xfrm>
          <a:prstGeom prst="roundRect">
            <a:avLst>
              <a:gd name="adj" fmla="val 12632"/>
            </a:avLst>
          </a:prstGeom>
          <a:solidFill>
            <a:srgbClr val="151C30"/>
          </a:solidFill>
          <a:ln w="9525">
            <a:solidFill>
              <a:srgbClr val="2A3556"/>
            </a:solidFill>
            <a:prstDash val="solid"/>
          </a:ln>
        </p:spPr>
      </p:sp>
      <p:sp>
        <p:nvSpPr>
          <p:cNvPr id="21" name="Text 19"/>
          <p:cNvSpPr txBox="1"/>
          <p:nvPr/>
        </p:nvSpPr>
        <p:spPr>
          <a:xfrm>
            <a:off x="6446520" y="3794760"/>
            <a:ext cx="822960" cy="868680"/>
          </a:xfrm>
          <a:prstGeom prst="rect">
            <a:avLst/>
          </a:prstGeom>
          <a:noFill/>
          <a:ln/>
        </p:spPr>
        <p:txBody>
          <a:bodyPr wrap="square" lIns="0" tIns="0" rIns="0" bIns="0" rtlCol="0" anchor="ctr"/>
          <a:lstStyle/>
          <a:p>
            <a:pPr indent="0" marL="0">
              <a:buNone/>
            </a:pPr>
            <a:r>
              <a:rPr lang="en-US" sz="2600" b="1" dirty="0">
                <a:solidFill>
                  <a:srgbClr val="6366F1"/>
                </a:solidFill>
                <a:latin typeface="Arial" pitchFamily="34" charset="0"/>
                <a:ea typeface="Arial" pitchFamily="34" charset="-122"/>
                <a:cs typeface="Arial" pitchFamily="34" charset="-120"/>
              </a:rPr>
              <a:t>06</a:t>
            </a:r>
            <a:endParaRPr lang="en-US" sz="2600" dirty="0"/>
          </a:p>
        </p:txBody>
      </p:sp>
      <p:sp>
        <p:nvSpPr>
          <p:cNvPr id="22" name="Text 20"/>
          <p:cNvSpPr txBox="1"/>
          <p:nvPr/>
        </p:nvSpPr>
        <p:spPr>
          <a:xfrm>
            <a:off x="7269480" y="3794760"/>
            <a:ext cx="4206240" cy="868680"/>
          </a:xfrm>
          <a:prstGeom prst="rect">
            <a:avLst/>
          </a:prstGeom>
          <a:noFill/>
          <a:ln/>
        </p:spPr>
        <p:txBody>
          <a:bodyPr wrap="square" lIns="0" tIns="0" rIns="0" bIns="0" rtlCol="0" anchor="ctr"/>
          <a:lstStyle/>
          <a:p>
            <a:pPr indent="0" marL="0">
              <a:buNone/>
            </a:pPr>
            <a:r>
              <a:rPr lang="en-US" sz="1900" dirty="0">
                <a:solidFill>
                  <a:srgbClr val="FFFFFF"/>
                </a:solidFill>
                <a:latin typeface="Calibri" pitchFamily="34" charset="0"/>
                <a:ea typeface="Calibri" pitchFamily="34" charset="-122"/>
                <a:cs typeface="Calibri" pitchFamily="34" charset="-120"/>
              </a:rPr>
              <a:t>Live dashboard walkthrough</a:t>
            </a:r>
            <a:endParaRPr lang="en-US" sz="1900" dirty="0"/>
          </a:p>
        </p:txBody>
      </p:sp>
      <p:sp>
        <p:nvSpPr>
          <p:cNvPr id="23" name="Shape 21"/>
          <p:cNvSpPr/>
          <p:nvPr/>
        </p:nvSpPr>
        <p:spPr>
          <a:xfrm>
            <a:off x="548640" y="4892040"/>
            <a:ext cx="5394960" cy="868680"/>
          </a:xfrm>
          <a:prstGeom prst="roundRect">
            <a:avLst>
              <a:gd name="adj" fmla="val 12632"/>
            </a:avLst>
          </a:prstGeom>
          <a:solidFill>
            <a:srgbClr val="151C30"/>
          </a:solidFill>
          <a:ln w="9525">
            <a:solidFill>
              <a:srgbClr val="2A3556"/>
            </a:solidFill>
            <a:prstDash val="solid"/>
          </a:ln>
        </p:spPr>
      </p:sp>
      <p:sp>
        <p:nvSpPr>
          <p:cNvPr id="24" name="Text 22"/>
          <p:cNvSpPr txBox="1"/>
          <p:nvPr/>
        </p:nvSpPr>
        <p:spPr>
          <a:xfrm>
            <a:off x="777240" y="4892040"/>
            <a:ext cx="822960" cy="868680"/>
          </a:xfrm>
          <a:prstGeom prst="rect">
            <a:avLst/>
          </a:prstGeom>
          <a:noFill/>
          <a:ln/>
        </p:spPr>
        <p:txBody>
          <a:bodyPr wrap="square" lIns="0" tIns="0" rIns="0" bIns="0" rtlCol="0" anchor="ctr"/>
          <a:lstStyle/>
          <a:p>
            <a:pPr indent="0" marL="0">
              <a:buNone/>
            </a:pPr>
            <a:r>
              <a:rPr lang="en-US" sz="2600" b="1" dirty="0">
                <a:solidFill>
                  <a:srgbClr val="6366F1"/>
                </a:solidFill>
                <a:latin typeface="Arial" pitchFamily="34" charset="0"/>
                <a:ea typeface="Arial" pitchFamily="34" charset="-122"/>
                <a:cs typeface="Arial" pitchFamily="34" charset="-120"/>
              </a:rPr>
              <a:t>07</a:t>
            </a:r>
            <a:endParaRPr lang="en-US" sz="2600" dirty="0"/>
          </a:p>
        </p:txBody>
      </p:sp>
      <p:sp>
        <p:nvSpPr>
          <p:cNvPr id="25" name="Text 23"/>
          <p:cNvSpPr txBox="1"/>
          <p:nvPr/>
        </p:nvSpPr>
        <p:spPr>
          <a:xfrm>
            <a:off x="1600200" y="4892040"/>
            <a:ext cx="4206240" cy="868680"/>
          </a:xfrm>
          <a:prstGeom prst="rect">
            <a:avLst/>
          </a:prstGeom>
          <a:noFill/>
          <a:ln/>
        </p:spPr>
        <p:txBody>
          <a:bodyPr wrap="square" lIns="0" tIns="0" rIns="0" bIns="0" rtlCol="0" anchor="ctr"/>
          <a:lstStyle/>
          <a:p>
            <a:pPr indent="0" marL="0">
              <a:buNone/>
            </a:pPr>
            <a:r>
              <a:rPr lang="en-US" sz="1900" dirty="0">
                <a:solidFill>
                  <a:srgbClr val="FFFFFF"/>
                </a:solidFill>
                <a:latin typeface="Calibri" pitchFamily="34" charset="0"/>
                <a:ea typeface="Calibri" pitchFamily="34" charset="-122"/>
                <a:cs typeface="Calibri" pitchFamily="34" charset="-120"/>
              </a:rPr>
              <a:t>Business insights</a:t>
            </a:r>
            <a:endParaRPr lang="en-US" sz="1900" dirty="0"/>
          </a:p>
        </p:txBody>
      </p:sp>
      <p:sp>
        <p:nvSpPr>
          <p:cNvPr id="26" name="Shape 24"/>
          <p:cNvSpPr/>
          <p:nvPr/>
        </p:nvSpPr>
        <p:spPr>
          <a:xfrm>
            <a:off x="6217920" y="4892040"/>
            <a:ext cx="5394960" cy="868680"/>
          </a:xfrm>
          <a:prstGeom prst="roundRect">
            <a:avLst>
              <a:gd name="adj" fmla="val 12632"/>
            </a:avLst>
          </a:prstGeom>
          <a:solidFill>
            <a:srgbClr val="151C30"/>
          </a:solidFill>
          <a:ln w="9525">
            <a:solidFill>
              <a:srgbClr val="2A3556"/>
            </a:solidFill>
            <a:prstDash val="solid"/>
          </a:ln>
        </p:spPr>
      </p:sp>
      <p:sp>
        <p:nvSpPr>
          <p:cNvPr id="27" name="Text 25"/>
          <p:cNvSpPr txBox="1"/>
          <p:nvPr/>
        </p:nvSpPr>
        <p:spPr>
          <a:xfrm>
            <a:off x="6446520" y="4892040"/>
            <a:ext cx="822960" cy="868680"/>
          </a:xfrm>
          <a:prstGeom prst="rect">
            <a:avLst/>
          </a:prstGeom>
          <a:noFill/>
          <a:ln/>
        </p:spPr>
        <p:txBody>
          <a:bodyPr wrap="square" lIns="0" tIns="0" rIns="0" bIns="0" rtlCol="0" anchor="ctr"/>
          <a:lstStyle/>
          <a:p>
            <a:pPr indent="0" marL="0">
              <a:buNone/>
            </a:pPr>
            <a:r>
              <a:rPr lang="en-US" sz="2600" b="1" dirty="0">
                <a:solidFill>
                  <a:srgbClr val="6366F1"/>
                </a:solidFill>
                <a:latin typeface="Arial" pitchFamily="34" charset="0"/>
                <a:ea typeface="Arial" pitchFamily="34" charset="-122"/>
                <a:cs typeface="Arial" pitchFamily="34" charset="-120"/>
              </a:rPr>
              <a:t>08</a:t>
            </a:r>
            <a:endParaRPr lang="en-US" sz="2600" dirty="0"/>
          </a:p>
        </p:txBody>
      </p:sp>
      <p:sp>
        <p:nvSpPr>
          <p:cNvPr id="28" name="Text 26"/>
          <p:cNvSpPr txBox="1"/>
          <p:nvPr/>
        </p:nvSpPr>
        <p:spPr>
          <a:xfrm>
            <a:off x="7269480" y="4892040"/>
            <a:ext cx="4206240" cy="868680"/>
          </a:xfrm>
          <a:prstGeom prst="rect">
            <a:avLst/>
          </a:prstGeom>
          <a:noFill/>
          <a:ln/>
        </p:spPr>
        <p:txBody>
          <a:bodyPr wrap="square" lIns="0" tIns="0" rIns="0" bIns="0" rtlCol="0" anchor="ctr"/>
          <a:lstStyle/>
          <a:p>
            <a:pPr indent="0" marL="0">
              <a:buNone/>
            </a:pPr>
            <a:r>
              <a:rPr lang="en-US" sz="1900" dirty="0">
                <a:solidFill>
                  <a:srgbClr val="FFFFFF"/>
                </a:solidFill>
                <a:latin typeface="Calibri" pitchFamily="34" charset="0"/>
                <a:ea typeface="Calibri" pitchFamily="34" charset="-122"/>
                <a:cs typeface="Calibri" pitchFamily="34" charset="-120"/>
              </a:rPr>
              <a:t>Conclusion &amp; future scope</a:t>
            </a:r>
            <a:endParaRPr lang="en-US" sz="1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020"/>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200" b="1" spc="300" kern="0" dirty="0">
                <a:solidFill>
                  <a:srgbClr val="06B6D4"/>
                </a:solidFill>
                <a:latin typeface="Calibri" pitchFamily="34" charset="0"/>
                <a:ea typeface="Calibri" pitchFamily="34" charset="-122"/>
                <a:cs typeface="Calibri" pitchFamily="34" charset="-120"/>
              </a:rPr>
              <a:t>PROBLEM STATEMENT</a:t>
            </a:r>
            <a:endParaRPr lang="en-US" sz="1200" dirty="0"/>
          </a:p>
        </p:txBody>
      </p:sp>
      <p:sp>
        <p:nvSpPr>
          <p:cNvPr id="3" name="Text 1"/>
          <p:cNvSpPr txBox="1"/>
          <p:nvPr/>
        </p:nvSpPr>
        <p:spPr>
          <a:xfrm>
            <a:off x="548640" y="603504"/>
            <a:ext cx="11064240" cy="685800"/>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The problem: data-rich, insight-poor online retailers</a:t>
            </a:r>
            <a:endParaRPr lang="en-US" sz="3200" dirty="0"/>
          </a:p>
        </p:txBody>
      </p:sp>
      <p:sp>
        <p:nvSpPr>
          <p:cNvPr id="4" name="Text 2"/>
          <p:cNvSpPr txBox="1"/>
          <p:nvPr/>
        </p:nvSpPr>
        <p:spPr>
          <a:xfrm>
            <a:off x="8412480" y="6446520"/>
            <a:ext cx="3246120" cy="274320"/>
          </a:xfrm>
          <a:prstGeom prst="rect">
            <a:avLst/>
          </a:prstGeom>
          <a:noFill/>
          <a:ln/>
        </p:spPr>
        <p:txBody>
          <a:bodyPr wrap="square" lIns="0" tIns="0" rIns="0" bIns="0" rtlCol="0" anchor="ctr"/>
          <a:lstStyle/>
          <a:p>
            <a:pPr algn="r" indent="0" marL="0">
              <a:buNone/>
            </a:pPr>
            <a:r>
              <a:rPr lang="en-US" sz="1000" dirty="0">
                <a:solidFill>
                  <a:srgbClr val="7D88A6"/>
                </a:solidFill>
                <a:latin typeface="Calibri" pitchFamily="34" charset="0"/>
                <a:ea typeface="Calibri" pitchFamily="34" charset="-122"/>
                <a:cs typeface="Calibri" pitchFamily="34" charset="-120"/>
              </a:rPr>
              <a:t>ShopSense · Big Data Analytics  |  3</a:t>
            </a:r>
            <a:endParaRPr lang="en-US" sz="1000" dirty="0"/>
          </a:p>
        </p:txBody>
      </p:sp>
      <p:sp>
        <p:nvSpPr>
          <p:cNvPr id="5" name="Shape 3"/>
          <p:cNvSpPr/>
          <p:nvPr/>
        </p:nvSpPr>
        <p:spPr>
          <a:xfrm>
            <a:off x="548640" y="1600200"/>
            <a:ext cx="5394960" cy="1325880"/>
          </a:xfrm>
          <a:prstGeom prst="roundRect">
            <a:avLst>
              <a:gd name="adj" fmla="val 8276"/>
            </a:avLst>
          </a:prstGeom>
          <a:solidFill>
            <a:srgbClr val="151C30"/>
          </a:solidFill>
          <a:ln w="9525">
            <a:solidFill>
              <a:srgbClr val="2A3556"/>
            </a:solidFill>
            <a:prstDash val="solid"/>
          </a:ln>
        </p:spPr>
      </p:sp>
      <p:sp>
        <p:nvSpPr>
          <p:cNvPr id="6" name="Shape 4"/>
          <p:cNvSpPr/>
          <p:nvPr/>
        </p:nvSpPr>
        <p:spPr>
          <a:xfrm>
            <a:off x="822960" y="1965960"/>
            <a:ext cx="603504" cy="603504"/>
          </a:xfrm>
          <a:prstGeom prst="ellipse">
            <a:avLst/>
          </a:prstGeom>
          <a:solidFill>
            <a:srgbClr val="6366F1"/>
          </a:solidFill>
          <a:ln w="12700">
            <a:solidFill>
              <a:srgbClr val="6366F1"/>
            </a:solidFill>
            <a:prstDash val="solid"/>
          </a:ln>
        </p:spPr>
      </p:sp>
      <p:pic>
        <p:nvPicPr>
          <p:cNvPr id="7" name="Image 0" descr="preencoded.png">    </p:cNvPr>
          <p:cNvPicPr>
            <a:picLocks noChangeAspect="1"/>
          </p:cNvPicPr>
          <p:nvPr/>
        </p:nvPicPr>
        <p:blipFill>
          <a:blip r:embed="rId1"/>
          <a:stretch>
            <a:fillRect/>
          </a:stretch>
        </p:blipFill>
        <p:spPr>
          <a:xfrm>
            <a:off x="967801" y="2110801"/>
            <a:ext cx="313822" cy="313822"/>
          </a:xfrm>
          <a:prstGeom prst="rect">
            <a:avLst/>
          </a:prstGeom>
        </p:spPr>
      </p:pic>
      <p:sp>
        <p:nvSpPr>
          <p:cNvPr id="8" name="Text 5"/>
          <p:cNvSpPr txBox="1"/>
          <p:nvPr/>
        </p:nvSpPr>
        <p:spPr>
          <a:xfrm>
            <a:off x="1645920" y="1764792"/>
            <a:ext cx="4114800" cy="41148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Too big &amp; too varied</a:t>
            </a:r>
            <a:endParaRPr lang="en-US" sz="1700" dirty="0"/>
          </a:p>
        </p:txBody>
      </p:sp>
      <p:sp>
        <p:nvSpPr>
          <p:cNvPr id="9" name="Text 6"/>
          <p:cNvSpPr txBox="1"/>
          <p:nvPr/>
        </p:nvSpPr>
        <p:spPr>
          <a:xfrm>
            <a:off x="1645920" y="2176272"/>
            <a:ext cx="4114800" cy="658368"/>
          </a:xfrm>
          <a:prstGeom prst="rect">
            <a:avLst/>
          </a:prstGeom>
          <a:noFill/>
          <a:ln/>
        </p:spPr>
        <p:txBody>
          <a:bodyPr wrap="square" lIns="0" tIns="0" rIns="0" bIns="0" rtlCol="0" anchor="t"/>
          <a:lstStyle/>
          <a:p>
            <a:pPr indent="0" marL="0">
              <a:buNone/>
            </a:pPr>
            <a:r>
              <a:rPr lang="en-US" sz="1350" dirty="0">
                <a:solidFill>
                  <a:srgbClr val="A9B3CC"/>
                </a:solidFill>
                <a:latin typeface="Calibri" pitchFamily="34" charset="0"/>
                <a:ea typeface="Calibri" pitchFamily="34" charset="-122"/>
                <a:cs typeface="Calibri" pitchFamily="34" charset="-120"/>
              </a:rPr>
              <a:t>Orders, catalogues, profiles and 1 M+ click-stream events overwhelm spreadsheets and single servers.</a:t>
            </a:r>
            <a:endParaRPr lang="en-US" sz="1350" dirty="0"/>
          </a:p>
        </p:txBody>
      </p:sp>
      <p:sp>
        <p:nvSpPr>
          <p:cNvPr id="10" name="Shape 7"/>
          <p:cNvSpPr/>
          <p:nvPr/>
        </p:nvSpPr>
        <p:spPr>
          <a:xfrm>
            <a:off x="6217920" y="1600200"/>
            <a:ext cx="5394960" cy="1325880"/>
          </a:xfrm>
          <a:prstGeom prst="roundRect">
            <a:avLst>
              <a:gd name="adj" fmla="val 8276"/>
            </a:avLst>
          </a:prstGeom>
          <a:solidFill>
            <a:srgbClr val="151C30"/>
          </a:solidFill>
          <a:ln w="9525">
            <a:solidFill>
              <a:srgbClr val="2A3556"/>
            </a:solidFill>
            <a:prstDash val="solid"/>
          </a:ln>
        </p:spPr>
      </p:sp>
      <p:sp>
        <p:nvSpPr>
          <p:cNvPr id="11" name="Shape 8"/>
          <p:cNvSpPr/>
          <p:nvPr/>
        </p:nvSpPr>
        <p:spPr>
          <a:xfrm>
            <a:off x="6492240" y="1965960"/>
            <a:ext cx="603504" cy="603504"/>
          </a:xfrm>
          <a:prstGeom prst="ellipse">
            <a:avLst/>
          </a:prstGeom>
          <a:solidFill>
            <a:srgbClr val="8B5CF6"/>
          </a:solidFill>
          <a:ln w="12700">
            <a:solidFill>
              <a:srgbClr val="8B5CF6"/>
            </a:solidFill>
            <a:prstDash val="solid"/>
          </a:ln>
        </p:spPr>
      </p:sp>
      <p:pic>
        <p:nvPicPr>
          <p:cNvPr id="12" name="Image 1" descr="preencoded.png">    </p:cNvPr>
          <p:cNvPicPr>
            <a:picLocks noChangeAspect="1"/>
          </p:cNvPicPr>
          <p:nvPr/>
        </p:nvPicPr>
        <p:blipFill>
          <a:blip r:embed="rId2"/>
          <a:stretch>
            <a:fillRect/>
          </a:stretch>
        </p:blipFill>
        <p:spPr>
          <a:xfrm>
            <a:off x="6637081" y="2110801"/>
            <a:ext cx="313822" cy="313822"/>
          </a:xfrm>
          <a:prstGeom prst="rect">
            <a:avLst/>
          </a:prstGeom>
        </p:spPr>
      </p:pic>
      <p:sp>
        <p:nvSpPr>
          <p:cNvPr id="13" name="Text 9"/>
          <p:cNvSpPr txBox="1"/>
          <p:nvPr/>
        </p:nvSpPr>
        <p:spPr>
          <a:xfrm>
            <a:off x="7315200" y="1764792"/>
            <a:ext cx="4114800" cy="41148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Messy data</a:t>
            </a:r>
            <a:endParaRPr lang="en-US" sz="1700" dirty="0"/>
          </a:p>
        </p:txBody>
      </p:sp>
      <p:sp>
        <p:nvSpPr>
          <p:cNvPr id="14" name="Text 10"/>
          <p:cNvSpPr txBox="1"/>
          <p:nvPr/>
        </p:nvSpPr>
        <p:spPr>
          <a:xfrm>
            <a:off x="7315200" y="2176272"/>
            <a:ext cx="4114800" cy="658368"/>
          </a:xfrm>
          <a:prstGeom prst="rect">
            <a:avLst/>
          </a:prstGeom>
          <a:noFill/>
          <a:ln/>
        </p:spPr>
        <p:txBody>
          <a:bodyPr wrap="square" lIns="0" tIns="0" rIns="0" bIns="0" rtlCol="0" anchor="t"/>
          <a:lstStyle/>
          <a:p>
            <a:pPr indent="0" marL="0">
              <a:buNone/>
            </a:pPr>
            <a:r>
              <a:rPr lang="en-US" sz="1350" dirty="0">
                <a:solidFill>
                  <a:srgbClr val="A9B3CC"/>
                </a:solidFill>
                <a:latin typeface="Calibri" pitchFamily="34" charset="0"/>
                <a:ea typeface="Calibri" pitchFamily="34" charset="-122"/>
                <a:cs typeface="Calibri" pitchFamily="34" charset="-120"/>
              </a:rPr>
              <a:t>Duplicates, "upi" vs " UPI ", missing cities and invalid quantities silently corrupt reports.</a:t>
            </a:r>
            <a:endParaRPr lang="en-US" sz="1350" dirty="0"/>
          </a:p>
        </p:txBody>
      </p:sp>
      <p:sp>
        <p:nvSpPr>
          <p:cNvPr id="15" name="Shape 11"/>
          <p:cNvSpPr/>
          <p:nvPr/>
        </p:nvSpPr>
        <p:spPr>
          <a:xfrm>
            <a:off x="548640" y="3154680"/>
            <a:ext cx="5394960" cy="1325880"/>
          </a:xfrm>
          <a:prstGeom prst="roundRect">
            <a:avLst>
              <a:gd name="adj" fmla="val 8276"/>
            </a:avLst>
          </a:prstGeom>
          <a:solidFill>
            <a:srgbClr val="151C30"/>
          </a:solidFill>
          <a:ln w="9525">
            <a:solidFill>
              <a:srgbClr val="2A3556"/>
            </a:solidFill>
            <a:prstDash val="solid"/>
          </a:ln>
        </p:spPr>
      </p:sp>
      <p:sp>
        <p:nvSpPr>
          <p:cNvPr id="16" name="Shape 12"/>
          <p:cNvSpPr/>
          <p:nvPr/>
        </p:nvSpPr>
        <p:spPr>
          <a:xfrm>
            <a:off x="822960" y="3520440"/>
            <a:ext cx="603504" cy="603504"/>
          </a:xfrm>
          <a:prstGeom prst="ellipse">
            <a:avLst/>
          </a:prstGeom>
          <a:solidFill>
            <a:srgbClr val="06B6D4"/>
          </a:solidFill>
          <a:ln w="12700">
            <a:solidFill>
              <a:srgbClr val="06B6D4"/>
            </a:solidFill>
            <a:prstDash val="solid"/>
          </a:ln>
        </p:spPr>
      </p:sp>
      <p:pic>
        <p:nvPicPr>
          <p:cNvPr id="17" name="Image 2" descr="preencoded.png">    </p:cNvPr>
          <p:cNvPicPr>
            <a:picLocks noChangeAspect="1"/>
          </p:cNvPicPr>
          <p:nvPr/>
        </p:nvPicPr>
        <p:blipFill>
          <a:blip r:embed="rId3"/>
          <a:stretch>
            <a:fillRect/>
          </a:stretch>
        </p:blipFill>
        <p:spPr>
          <a:xfrm>
            <a:off x="967801" y="3665281"/>
            <a:ext cx="313822" cy="313822"/>
          </a:xfrm>
          <a:prstGeom prst="rect">
            <a:avLst/>
          </a:prstGeom>
        </p:spPr>
      </p:pic>
      <p:sp>
        <p:nvSpPr>
          <p:cNvPr id="18" name="Text 13"/>
          <p:cNvSpPr txBox="1"/>
          <p:nvPr/>
        </p:nvSpPr>
        <p:spPr>
          <a:xfrm>
            <a:off x="1645920" y="3319272"/>
            <a:ext cx="4114800" cy="41148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Fragmented tools</a:t>
            </a:r>
            <a:endParaRPr lang="en-US" sz="1700" dirty="0"/>
          </a:p>
        </p:txBody>
      </p:sp>
      <p:sp>
        <p:nvSpPr>
          <p:cNvPr id="19" name="Text 14"/>
          <p:cNvSpPr txBox="1"/>
          <p:nvPr/>
        </p:nvSpPr>
        <p:spPr>
          <a:xfrm>
            <a:off x="1645920" y="3730752"/>
            <a:ext cx="4114800" cy="658368"/>
          </a:xfrm>
          <a:prstGeom prst="rect">
            <a:avLst/>
          </a:prstGeom>
          <a:noFill/>
          <a:ln/>
        </p:spPr>
        <p:txBody>
          <a:bodyPr wrap="square" lIns="0" tIns="0" rIns="0" bIns="0" rtlCol="0" anchor="t"/>
          <a:lstStyle/>
          <a:p>
            <a:pPr indent="0" marL="0">
              <a:buNone/>
            </a:pPr>
            <a:r>
              <a:rPr lang="en-US" sz="1350" dirty="0">
                <a:solidFill>
                  <a:srgbClr val="A9B3CC"/>
                </a:solidFill>
                <a:latin typeface="Calibri" pitchFamily="34" charset="0"/>
                <a:ea typeface="Calibri" pitchFamily="34" charset="-122"/>
                <a:cs typeface="Calibri" pitchFamily="34" charset="-120"/>
              </a:rPr>
              <a:t>Sales, funnel, segmentation and forecasts live in separate tools with no single customer view.</a:t>
            </a:r>
            <a:endParaRPr lang="en-US" sz="1350" dirty="0"/>
          </a:p>
        </p:txBody>
      </p:sp>
      <p:sp>
        <p:nvSpPr>
          <p:cNvPr id="20" name="Shape 15"/>
          <p:cNvSpPr/>
          <p:nvPr/>
        </p:nvSpPr>
        <p:spPr>
          <a:xfrm>
            <a:off x="6217920" y="3154680"/>
            <a:ext cx="5394960" cy="1325880"/>
          </a:xfrm>
          <a:prstGeom prst="roundRect">
            <a:avLst>
              <a:gd name="adj" fmla="val 8276"/>
            </a:avLst>
          </a:prstGeom>
          <a:solidFill>
            <a:srgbClr val="151C30"/>
          </a:solidFill>
          <a:ln w="9525">
            <a:solidFill>
              <a:srgbClr val="2A3556"/>
            </a:solidFill>
            <a:prstDash val="solid"/>
          </a:ln>
        </p:spPr>
      </p:sp>
      <p:sp>
        <p:nvSpPr>
          <p:cNvPr id="21" name="Shape 16"/>
          <p:cNvSpPr/>
          <p:nvPr/>
        </p:nvSpPr>
        <p:spPr>
          <a:xfrm>
            <a:off x="6492240" y="3520440"/>
            <a:ext cx="603504" cy="603504"/>
          </a:xfrm>
          <a:prstGeom prst="ellipse">
            <a:avLst/>
          </a:prstGeom>
          <a:solidFill>
            <a:srgbClr val="EF4444"/>
          </a:solidFill>
          <a:ln w="12700">
            <a:solidFill>
              <a:srgbClr val="EF4444"/>
            </a:solidFill>
            <a:prstDash val="solid"/>
          </a:ln>
        </p:spPr>
      </p:sp>
      <p:pic>
        <p:nvPicPr>
          <p:cNvPr id="22" name="Image 3" descr="preencoded.png">    </p:cNvPr>
          <p:cNvPicPr>
            <a:picLocks noChangeAspect="1"/>
          </p:cNvPicPr>
          <p:nvPr/>
        </p:nvPicPr>
        <p:blipFill>
          <a:blip r:embed="rId4"/>
          <a:stretch>
            <a:fillRect/>
          </a:stretch>
        </p:blipFill>
        <p:spPr>
          <a:xfrm>
            <a:off x="6637081" y="3665281"/>
            <a:ext cx="313822" cy="313822"/>
          </a:xfrm>
          <a:prstGeom prst="rect">
            <a:avLst/>
          </a:prstGeom>
        </p:spPr>
      </p:pic>
      <p:sp>
        <p:nvSpPr>
          <p:cNvPr id="23" name="Text 17"/>
          <p:cNvSpPr txBox="1"/>
          <p:nvPr/>
        </p:nvSpPr>
        <p:spPr>
          <a:xfrm>
            <a:off x="7315200" y="3319272"/>
            <a:ext cx="4114800" cy="41148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Reactive retention</a:t>
            </a:r>
            <a:endParaRPr lang="en-US" sz="1700" dirty="0"/>
          </a:p>
        </p:txBody>
      </p:sp>
      <p:sp>
        <p:nvSpPr>
          <p:cNvPr id="24" name="Text 18"/>
          <p:cNvSpPr txBox="1"/>
          <p:nvPr/>
        </p:nvSpPr>
        <p:spPr>
          <a:xfrm>
            <a:off x="7315200" y="3730752"/>
            <a:ext cx="4114800" cy="658368"/>
          </a:xfrm>
          <a:prstGeom prst="rect">
            <a:avLst/>
          </a:prstGeom>
          <a:noFill/>
          <a:ln/>
        </p:spPr>
        <p:txBody>
          <a:bodyPr wrap="square" lIns="0" tIns="0" rIns="0" bIns="0" rtlCol="0" anchor="t"/>
          <a:lstStyle/>
          <a:p>
            <a:pPr indent="0" marL="0">
              <a:buNone/>
            </a:pPr>
            <a:r>
              <a:rPr lang="en-US" sz="1350" dirty="0">
                <a:solidFill>
                  <a:srgbClr val="A9B3CC"/>
                </a:solidFill>
                <a:latin typeface="Calibri" pitchFamily="34" charset="0"/>
                <a:ea typeface="Calibri" pitchFamily="34" charset="-122"/>
                <a:cs typeface="Calibri" pitchFamily="34" charset="-120"/>
              </a:rPr>
              <a:t>Valuable customers are noticed only after they have left, with no warning and no explanation.</a:t>
            </a:r>
            <a:endParaRPr lang="en-US" sz="1350" dirty="0"/>
          </a:p>
        </p:txBody>
      </p:sp>
      <p:sp>
        <p:nvSpPr>
          <p:cNvPr id="25" name="Shape 19"/>
          <p:cNvSpPr/>
          <p:nvPr/>
        </p:nvSpPr>
        <p:spPr>
          <a:xfrm>
            <a:off x="548640" y="4709160"/>
            <a:ext cx="5394960" cy="1325880"/>
          </a:xfrm>
          <a:prstGeom prst="roundRect">
            <a:avLst>
              <a:gd name="adj" fmla="val 8276"/>
            </a:avLst>
          </a:prstGeom>
          <a:solidFill>
            <a:srgbClr val="151C30"/>
          </a:solidFill>
          <a:ln w="9525">
            <a:solidFill>
              <a:srgbClr val="2A3556"/>
            </a:solidFill>
            <a:prstDash val="solid"/>
          </a:ln>
        </p:spPr>
      </p:sp>
      <p:sp>
        <p:nvSpPr>
          <p:cNvPr id="26" name="Shape 20"/>
          <p:cNvSpPr/>
          <p:nvPr/>
        </p:nvSpPr>
        <p:spPr>
          <a:xfrm>
            <a:off x="822960" y="5074920"/>
            <a:ext cx="603504" cy="603504"/>
          </a:xfrm>
          <a:prstGeom prst="ellipse">
            <a:avLst/>
          </a:prstGeom>
          <a:solidFill>
            <a:srgbClr val="F59E0B"/>
          </a:solidFill>
          <a:ln w="12700">
            <a:solidFill>
              <a:srgbClr val="F59E0B"/>
            </a:solidFill>
            <a:prstDash val="solid"/>
          </a:ln>
        </p:spPr>
      </p:sp>
      <p:pic>
        <p:nvPicPr>
          <p:cNvPr id="27" name="Image 4" descr="preencoded.png">    </p:cNvPr>
          <p:cNvPicPr>
            <a:picLocks noChangeAspect="1"/>
          </p:cNvPicPr>
          <p:nvPr/>
        </p:nvPicPr>
        <p:blipFill>
          <a:blip r:embed="rId5"/>
          <a:stretch>
            <a:fillRect/>
          </a:stretch>
        </p:blipFill>
        <p:spPr>
          <a:xfrm>
            <a:off x="967801" y="5219761"/>
            <a:ext cx="313822" cy="313822"/>
          </a:xfrm>
          <a:prstGeom prst="rect">
            <a:avLst/>
          </a:prstGeom>
        </p:spPr>
      </p:pic>
      <p:sp>
        <p:nvSpPr>
          <p:cNvPr id="28" name="Text 21"/>
          <p:cNvSpPr txBox="1"/>
          <p:nvPr/>
        </p:nvSpPr>
        <p:spPr>
          <a:xfrm>
            <a:off x="1645920" y="4873752"/>
            <a:ext cx="4114800" cy="41148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Generic merchandising</a:t>
            </a:r>
            <a:endParaRPr lang="en-US" sz="1700" dirty="0"/>
          </a:p>
        </p:txBody>
      </p:sp>
      <p:sp>
        <p:nvSpPr>
          <p:cNvPr id="29" name="Text 22"/>
          <p:cNvSpPr txBox="1"/>
          <p:nvPr/>
        </p:nvSpPr>
        <p:spPr>
          <a:xfrm>
            <a:off x="1645920" y="5285232"/>
            <a:ext cx="4114800" cy="658368"/>
          </a:xfrm>
          <a:prstGeom prst="rect">
            <a:avLst/>
          </a:prstGeom>
          <a:noFill/>
          <a:ln/>
        </p:spPr>
        <p:txBody>
          <a:bodyPr wrap="square" lIns="0" tIns="0" rIns="0" bIns="0" rtlCol="0" anchor="t"/>
          <a:lstStyle/>
          <a:p>
            <a:pPr indent="0" marL="0">
              <a:buNone/>
            </a:pPr>
            <a:r>
              <a:rPr lang="en-US" sz="1350" dirty="0">
                <a:solidFill>
                  <a:srgbClr val="A9B3CC"/>
                </a:solidFill>
                <a:latin typeface="Calibri" pitchFamily="34" charset="0"/>
                <a:ea typeface="Calibri" pitchFamily="34" charset="-122"/>
                <a:cs typeface="Calibri" pitchFamily="34" charset="-120"/>
              </a:rPr>
              <a:t>Everyone sees the same best-sellers; bundles are designed by intuition.</a:t>
            </a:r>
            <a:endParaRPr lang="en-US" sz="1350" dirty="0"/>
          </a:p>
        </p:txBody>
      </p:sp>
      <p:sp>
        <p:nvSpPr>
          <p:cNvPr id="30" name="Shape 23"/>
          <p:cNvSpPr/>
          <p:nvPr/>
        </p:nvSpPr>
        <p:spPr>
          <a:xfrm>
            <a:off x="6217920" y="4709160"/>
            <a:ext cx="5394960" cy="1325880"/>
          </a:xfrm>
          <a:prstGeom prst="roundRect">
            <a:avLst>
              <a:gd name="adj" fmla="val 8276"/>
            </a:avLst>
          </a:prstGeom>
          <a:solidFill>
            <a:srgbClr val="151C30"/>
          </a:solidFill>
          <a:ln w="9525">
            <a:solidFill>
              <a:srgbClr val="2A3556"/>
            </a:solidFill>
            <a:prstDash val="solid"/>
          </a:ln>
        </p:spPr>
      </p:sp>
      <p:sp>
        <p:nvSpPr>
          <p:cNvPr id="31" name="Shape 24"/>
          <p:cNvSpPr/>
          <p:nvPr/>
        </p:nvSpPr>
        <p:spPr>
          <a:xfrm>
            <a:off x="6492240" y="5074920"/>
            <a:ext cx="603504" cy="603504"/>
          </a:xfrm>
          <a:prstGeom prst="ellipse">
            <a:avLst/>
          </a:prstGeom>
          <a:solidFill>
            <a:srgbClr val="22C55E"/>
          </a:solidFill>
          <a:ln w="12700">
            <a:solidFill>
              <a:srgbClr val="22C55E"/>
            </a:solidFill>
            <a:prstDash val="solid"/>
          </a:ln>
        </p:spPr>
      </p:sp>
      <p:pic>
        <p:nvPicPr>
          <p:cNvPr id="32" name="Image 5" descr="preencoded.png">    </p:cNvPr>
          <p:cNvPicPr>
            <a:picLocks noChangeAspect="1"/>
          </p:cNvPicPr>
          <p:nvPr/>
        </p:nvPicPr>
        <p:blipFill>
          <a:blip r:embed="rId6"/>
          <a:stretch>
            <a:fillRect/>
          </a:stretch>
        </p:blipFill>
        <p:spPr>
          <a:xfrm>
            <a:off x="6637081" y="5219761"/>
            <a:ext cx="313822" cy="313822"/>
          </a:xfrm>
          <a:prstGeom prst="rect">
            <a:avLst/>
          </a:prstGeom>
        </p:spPr>
      </p:pic>
      <p:sp>
        <p:nvSpPr>
          <p:cNvPr id="33" name="Text 25"/>
          <p:cNvSpPr txBox="1"/>
          <p:nvPr/>
        </p:nvSpPr>
        <p:spPr>
          <a:xfrm>
            <a:off x="7315200" y="4873752"/>
            <a:ext cx="4114800" cy="41148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No foresight</a:t>
            </a:r>
            <a:endParaRPr lang="en-US" sz="1700" dirty="0"/>
          </a:p>
        </p:txBody>
      </p:sp>
      <p:sp>
        <p:nvSpPr>
          <p:cNvPr id="34" name="Text 26"/>
          <p:cNvSpPr txBox="1"/>
          <p:nvPr/>
        </p:nvSpPr>
        <p:spPr>
          <a:xfrm>
            <a:off x="7315200" y="5285232"/>
            <a:ext cx="4114800" cy="658368"/>
          </a:xfrm>
          <a:prstGeom prst="rect">
            <a:avLst/>
          </a:prstGeom>
          <a:noFill/>
          <a:ln/>
        </p:spPr>
        <p:txBody>
          <a:bodyPr wrap="square" lIns="0" tIns="0" rIns="0" bIns="0" rtlCol="0" anchor="t"/>
          <a:lstStyle/>
          <a:p>
            <a:pPr indent="0" marL="0">
              <a:buNone/>
            </a:pPr>
            <a:r>
              <a:rPr lang="en-US" sz="1350" dirty="0">
                <a:solidFill>
                  <a:srgbClr val="A9B3CC"/>
                </a:solidFill>
                <a:latin typeface="Calibri" pitchFamily="34" charset="0"/>
                <a:ea typeface="Calibri" pitchFamily="34" charset="-122"/>
                <a:cs typeface="Calibri" pitchFamily="34" charset="-120"/>
              </a:rPr>
              <a:t>Plans ignore festive-sale effects; outages and bulk orders go unnoticed.</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020"/>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200" b="1" spc="300" kern="0" dirty="0">
                <a:solidFill>
                  <a:srgbClr val="06B6D4"/>
                </a:solidFill>
                <a:latin typeface="Calibri" pitchFamily="34" charset="0"/>
                <a:ea typeface="Calibri" pitchFamily="34" charset="-122"/>
                <a:cs typeface="Calibri" pitchFamily="34" charset="-120"/>
              </a:rPr>
              <a:t>WHAT WE SET OUT TO BUILD</a:t>
            </a:r>
            <a:endParaRPr lang="en-US" sz="1200" dirty="0"/>
          </a:p>
        </p:txBody>
      </p:sp>
      <p:sp>
        <p:nvSpPr>
          <p:cNvPr id="3" name="Text 1"/>
          <p:cNvSpPr txBox="1"/>
          <p:nvPr/>
        </p:nvSpPr>
        <p:spPr>
          <a:xfrm>
            <a:off x="548640" y="603504"/>
            <a:ext cx="11064240" cy="685800"/>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Aim &amp; objectives</a:t>
            </a:r>
            <a:endParaRPr lang="en-US" sz="3200" dirty="0"/>
          </a:p>
        </p:txBody>
      </p:sp>
      <p:sp>
        <p:nvSpPr>
          <p:cNvPr id="4" name="Text 2"/>
          <p:cNvSpPr txBox="1"/>
          <p:nvPr/>
        </p:nvSpPr>
        <p:spPr>
          <a:xfrm>
            <a:off x="8412480" y="6446520"/>
            <a:ext cx="3246120" cy="274320"/>
          </a:xfrm>
          <a:prstGeom prst="rect">
            <a:avLst/>
          </a:prstGeom>
          <a:noFill/>
          <a:ln/>
        </p:spPr>
        <p:txBody>
          <a:bodyPr wrap="square" lIns="0" tIns="0" rIns="0" bIns="0" rtlCol="0" anchor="ctr"/>
          <a:lstStyle/>
          <a:p>
            <a:pPr algn="r" indent="0" marL="0">
              <a:buNone/>
            </a:pPr>
            <a:r>
              <a:rPr lang="en-US" sz="1000" dirty="0">
                <a:solidFill>
                  <a:srgbClr val="7D88A6"/>
                </a:solidFill>
                <a:latin typeface="Calibri" pitchFamily="34" charset="0"/>
                <a:ea typeface="Calibri" pitchFamily="34" charset="-122"/>
                <a:cs typeface="Calibri" pitchFamily="34" charset="-120"/>
              </a:rPr>
              <a:t>ShopSense · Big Data Analytics  |  4</a:t>
            </a:r>
            <a:endParaRPr lang="en-US" sz="1000" dirty="0"/>
          </a:p>
        </p:txBody>
      </p:sp>
      <p:sp>
        <p:nvSpPr>
          <p:cNvPr id="5" name="Text 3"/>
          <p:cNvSpPr txBox="1"/>
          <p:nvPr/>
        </p:nvSpPr>
        <p:spPr>
          <a:xfrm>
            <a:off x="548640" y="1417320"/>
            <a:ext cx="11064240" cy="731520"/>
          </a:xfrm>
          <a:prstGeom prst="rect">
            <a:avLst/>
          </a:prstGeom>
          <a:noFill/>
          <a:ln/>
        </p:spPr>
        <p:txBody>
          <a:bodyPr wrap="square" lIns="0" tIns="0" rIns="0" bIns="0" rtlCol="0" anchor="ctr"/>
          <a:lstStyle/>
          <a:p>
            <a:pPr indent="0" marL="0">
              <a:buNone/>
            </a:pPr>
            <a:r>
              <a:rPr lang="en-US" sz="1700" i="1" dirty="0">
                <a:solidFill>
                  <a:srgbClr val="A9B3CC"/>
                </a:solidFill>
                <a:latin typeface="Calibri" pitchFamily="34" charset="0"/>
                <a:ea typeface="Calibri" pitchFamily="34" charset="-122"/>
                <a:cs typeface="Calibri" pitchFamily="34" charset="-120"/>
              </a:rPr>
              <a:t>Build an end-to-end platform that uses Apache Spark, MongoDB and machine learning to analyse e-commerce sales and customer behaviour and deliver predictive, explainable insights through an interactive dashboard.</a:t>
            </a:r>
            <a:endParaRPr lang="en-US" sz="1700" dirty="0"/>
          </a:p>
        </p:txBody>
      </p:sp>
      <p:sp>
        <p:nvSpPr>
          <p:cNvPr id="6" name="Shape 4"/>
          <p:cNvSpPr/>
          <p:nvPr/>
        </p:nvSpPr>
        <p:spPr>
          <a:xfrm>
            <a:off x="548640" y="2377440"/>
            <a:ext cx="3474720" cy="1645920"/>
          </a:xfrm>
          <a:prstGeom prst="roundRect">
            <a:avLst>
              <a:gd name="adj" fmla="val 6667"/>
            </a:avLst>
          </a:prstGeom>
          <a:solidFill>
            <a:srgbClr val="151C30"/>
          </a:solidFill>
          <a:ln w="9525">
            <a:solidFill>
              <a:srgbClr val="2A3556"/>
            </a:solidFill>
            <a:prstDash val="solid"/>
          </a:ln>
        </p:spPr>
      </p:sp>
      <p:sp>
        <p:nvSpPr>
          <p:cNvPr id="7" name="Text 5"/>
          <p:cNvSpPr txBox="1"/>
          <p:nvPr/>
        </p:nvSpPr>
        <p:spPr>
          <a:xfrm>
            <a:off x="822960" y="2606040"/>
            <a:ext cx="2926080" cy="457200"/>
          </a:xfrm>
          <a:prstGeom prst="rect">
            <a:avLst/>
          </a:prstGeom>
          <a:noFill/>
          <a:ln/>
        </p:spPr>
        <p:txBody>
          <a:bodyPr wrap="square" lIns="0" tIns="0" rIns="0" bIns="0" rtlCol="0" anchor="ctr"/>
          <a:lstStyle/>
          <a:p>
            <a:pPr indent="0" marL="0">
              <a:buNone/>
            </a:pPr>
            <a:r>
              <a:rPr lang="en-US" sz="2100" b="1" dirty="0">
                <a:solidFill>
                  <a:srgbClr val="6366F1"/>
                </a:solidFill>
                <a:latin typeface="Arial" pitchFamily="34" charset="0"/>
                <a:ea typeface="Arial" pitchFamily="34" charset="-122"/>
                <a:cs typeface="Arial" pitchFamily="34" charset="-120"/>
              </a:rPr>
              <a:t>Generate</a:t>
            </a:r>
            <a:endParaRPr lang="en-US" sz="2100" dirty="0"/>
          </a:p>
        </p:txBody>
      </p:sp>
      <p:sp>
        <p:nvSpPr>
          <p:cNvPr id="8" name="Text 6"/>
          <p:cNvSpPr txBox="1"/>
          <p:nvPr/>
        </p:nvSpPr>
        <p:spPr>
          <a:xfrm>
            <a:off x="822960" y="3108960"/>
            <a:ext cx="2971800" cy="77724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Realistic 2-year dataset with seasonality, churn &amp; dirty data</a:t>
            </a:r>
            <a:endParaRPr lang="en-US" sz="1500" dirty="0"/>
          </a:p>
        </p:txBody>
      </p:sp>
      <p:sp>
        <p:nvSpPr>
          <p:cNvPr id="9" name="Shape 7"/>
          <p:cNvSpPr/>
          <p:nvPr/>
        </p:nvSpPr>
        <p:spPr>
          <a:xfrm>
            <a:off x="4297680" y="2377440"/>
            <a:ext cx="3474720" cy="1645920"/>
          </a:xfrm>
          <a:prstGeom prst="roundRect">
            <a:avLst>
              <a:gd name="adj" fmla="val 6667"/>
            </a:avLst>
          </a:prstGeom>
          <a:solidFill>
            <a:srgbClr val="151C30"/>
          </a:solidFill>
          <a:ln w="9525">
            <a:solidFill>
              <a:srgbClr val="2A3556"/>
            </a:solidFill>
            <a:prstDash val="solid"/>
          </a:ln>
        </p:spPr>
      </p:sp>
      <p:sp>
        <p:nvSpPr>
          <p:cNvPr id="10" name="Text 8"/>
          <p:cNvSpPr txBox="1"/>
          <p:nvPr/>
        </p:nvSpPr>
        <p:spPr>
          <a:xfrm>
            <a:off x="4572000" y="2606040"/>
            <a:ext cx="2926080" cy="457200"/>
          </a:xfrm>
          <a:prstGeom prst="rect">
            <a:avLst/>
          </a:prstGeom>
          <a:noFill/>
          <a:ln/>
        </p:spPr>
        <p:txBody>
          <a:bodyPr wrap="square" lIns="0" tIns="0" rIns="0" bIns="0" rtlCol="0" anchor="ctr"/>
          <a:lstStyle/>
          <a:p>
            <a:pPr indent="0" marL="0">
              <a:buNone/>
            </a:pPr>
            <a:r>
              <a:rPr lang="en-US" sz="2100" b="1" dirty="0">
                <a:solidFill>
                  <a:srgbClr val="8B5CF6"/>
                </a:solidFill>
                <a:latin typeface="Arial" pitchFamily="34" charset="0"/>
                <a:ea typeface="Arial" pitchFamily="34" charset="-122"/>
                <a:cs typeface="Arial" pitchFamily="34" charset="-120"/>
              </a:rPr>
              <a:t>Engineer</a:t>
            </a:r>
            <a:endParaRPr lang="en-US" sz="2100" dirty="0"/>
          </a:p>
        </p:txBody>
      </p:sp>
      <p:sp>
        <p:nvSpPr>
          <p:cNvPr id="11" name="Text 9"/>
          <p:cNvSpPr txBox="1"/>
          <p:nvPr/>
        </p:nvSpPr>
        <p:spPr>
          <a:xfrm>
            <a:off x="4572000" y="3108960"/>
            <a:ext cx="2971800" cy="77724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Bronze → silver → gold Spark pipeline with a data-quality report</a:t>
            </a:r>
            <a:endParaRPr lang="en-US" sz="1500" dirty="0"/>
          </a:p>
        </p:txBody>
      </p:sp>
      <p:sp>
        <p:nvSpPr>
          <p:cNvPr id="12" name="Shape 10"/>
          <p:cNvSpPr/>
          <p:nvPr/>
        </p:nvSpPr>
        <p:spPr>
          <a:xfrm>
            <a:off x="8046720" y="2377440"/>
            <a:ext cx="3474720" cy="1645920"/>
          </a:xfrm>
          <a:prstGeom prst="roundRect">
            <a:avLst>
              <a:gd name="adj" fmla="val 6667"/>
            </a:avLst>
          </a:prstGeom>
          <a:solidFill>
            <a:srgbClr val="151C30"/>
          </a:solidFill>
          <a:ln w="9525">
            <a:solidFill>
              <a:srgbClr val="2A3556"/>
            </a:solidFill>
            <a:prstDash val="solid"/>
          </a:ln>
        </p:spPr>
      </p:sp>
      <p:sp>
        <p:nvSpPr>
          <p:cNvPr id="13" name="Text 11"/>
          <p:cNvSpPr txBox="1"/>
          <p:nvPr/>
        </p:nvSpPr>
        <p:spPr>
          <a:xfrm>
            <a:off x="8321040" y="2606040"/>
            <a:ext cx="2926080" cy="457200"/>
          </a:xfrm>
          <a:prstGeom prst="rect">
            <a:avLst/>
          </a:prstGeom>
          <a:noFill/>
          <a:ln/>
        </p:spPr>
        <p:txBody>
          <a:bodyPr wrap="square" lIns="0" tIns="0" rIns="0" bIns="0" rtlCol="0" anchor="ctr"/>
          <a:lstStyle/>
          <a:p>
            <a:pPr indent="0" marL="0">
              <a:buNone/>
            </a:pPr>
            <a:r>
              <a:rPr lang="en-US" sz="2100" b="1" dirty="0">
                <a:solidFill>
                  <a:srgbClr val="06B6D4"/>
                </a:solidFill>
                <a:latin typeface="Arial" pitchFamily="34" charset="0"/>
                <a:ea typeface="Arial" pitchFamily="34" charset="-122"/>
                <a:cs typeface="Arial" pitchFamily="34" charset="-120"/>
              </a:rPr>
              <a:t>Analyse</a:t>
            </a:r>
            <a:endParaRPr lang="en-US" sz="2100" dirty="0"/>
          </a:p>
        </p:txBody>
      </p:sp>
      <p:sp>
        <p:nvSpPr>
          <p:cNvPr id="14" name="Text 12"/>
          <p:cNvSpPr txBox="1"/>
          <p:nvPr/>
        </p:nvSpPr>
        <p:spPr>
          <a:xfrm>
            <a:off x="8321040" y="3108960"/>
            <a:ext cx="2971800" cy="77724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KPIs, geo, funnels, sessions &amp; cohort retention (Spark SQL)</a:t>
            </a:r>
            <a:endParaRPr lang="en-US" sz="1500" dirty="0"/>
          </a:p>
        </p:txBody>
      </p:sp>
      <p:sp>
        <p:nvSpPr>
          <p:cNvPr id="15" name="Shape 13"/>
          <p:cNvSpPr/>
          <p:nvPr/>
        </p:nvSpPr>
        <p:spPr>
          <a:xfrm>
            <a:off x="548640" y="4297680"/>
            <a:ext cx="3474720" cy="1645920"/>
          </a:xfrm>
          <a:prstGeom prst="roundRect">
            <a:avLst>
              <a:gd name="adj" fmla="val 6667"/>
            </a:avLst>
          </a:prstGeom>
          <a:solidFill>
            <a:srgbClr val="151C30"/>
          </a:solidFill>
          <a:ln w="9525">
            <a:solidFill>
              <a:srgbClr val="2A3556"/>
            </a:solidFill>
            <a:prstDash val="solid"/>
          </a:ln>
        </p:spPr>
      </p:sp>
      <p:sp>
        <p:nvSpPr>
          <p:cNvPr id="16" name="Text 14"/>
          <p:cNvSpPr txBox="1"/>
          <p:nvPr/>
        </p:nvSpPr>
        <p:spPr>
          <a:xfrm>
            <a:off x="822960" y="4526280"/>
            <a:ext cx="2926080" cy="457200"/>
          </a:xfrm>
          <a:prstGeom prst="rect">
            <a:avLst/>
          </a:prstGeom>
          <a:noFill/>
          <a:ln/>
        </p:spPr>
        <p:txBody>
          <a:bodyPr wrap="square" lIns="0" tIns="0" rIns="0" bIns="0" rtlCol="0" anchor="ctr"/>
          <a:lstStyle/>
          <a:p>
            <a:pPr indent="0" marL="0">
              <a:buNone/>
            </a:pPr>
            <a:r>
              <a:rPr lang="en-US" sz="2100" b="1" dirty="0">
                <a:solidFill>
                  <a:srgbClr val="6366F1"/>
                </a:solidFill>
                <a:latin typeface="Arial" pitchFamily="34" charset="0"/>
                <a:ea typeface="Arial" pitchFamily="34" charset="-122"/>
                <a:cs typeface="Arial" pitchFamily="34" charset="-120"/>
              </a:rPr>
              <a:t>Store</a:t>
            </a:r>
            <a:endParaRPr lang="en-US" sz="2100" dirty="0"/>
          </a:p>
        </p:txBody>
      </p:sp>
      <p:sp>
        <p:nvSpPr>
          <p:cNvPr id="17" name="Text 15"/>
          <p:cNvSpPr txBox="1"/>
          <p:nvPr/>
        </p:nvSpPr>
        <p:spPr>
          <a:xfrm>
            <a:off x="822960" y="5029200"/>
            <a:ext cx="2971800" cy="77724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Query-shaped MongoDB documents written in parallel</a:t>
            </a:r>
            <a:endParaRPr lang="en-US" sz="1500" dirty="0"/>
          </a:p>
        </p:txBody>
      </p:sp>
      <p:sp>
        <p:nvSpPr>
          <p:cNvPr id="18" name="Shape 16"/>
          <p:cNvSpPr/>
          <p:nvPr/>
        </p:nvSpPr>
        <p:spPr>
          <a:xfrm>
            <a:off x="4297680" y="4297680"/>
            <a:ext cx="3474720" cy="1645920"/>
          </a:xfrm>
          <a:prstGeom prst="roundRect">
            <a:avLst>
              <a:gd name="adj" fmla="val 6667"/>
            </a:avLst>
          </a:prstGeom>
          <a:solidFill>
            <a:srgbClr val="151C30"/>
          </a:solidFill>
          <a:ln w="9525">
            <a:solidFill>
              <a:srgbClr val="2A3556"/>
            </a:solidFill>
            <a:prstDash val="solid"/>
          </a:ln>
        </p:spPr>
      </p:sp>
      <p:sp>
        <p:nvSpPr>
          <p:cNvPr id="19" name="Text 17"/>
          <p:cNvSpPr txBox="1"/>
          <p:nvPr/>
        </p:nvSpPr>
        <p:spPr>
          <a:xfrm>
            <a:off x="4572000" y="4526280"/>
            <a:ext cx="2926080" cy="457200"/>
          </a:xfrm>
          <a:prstGeom prst="rect">
            <a:avLst/>
          </a:prstGeom>
          <a:noFill/>
          <a:ln/>
        </p:spPr>
        <p:txBody>
          <a:bodyPr wrap="square" lIns="0" tIns="0" rIns="0" bIns="0" rtlCol="0" anchor="ctr"/>
          <a:lstStyle/>
          <a:p>
            <a:pPr indent="0" marL="0">
              <a:buNone/>
            </a:pPr>
            <a:r>
              <a:rPr lang="en-US" sz="2100" b="1" dirty="0">
                <a:solidFill>
                  <a:srgbClr val="8B5CF6"/>
                </a:solidFill>
                <a:latin typeface="Arial" pitchFamily="34" charset="0"/>
                <a:ea typeface="Arial" pitchFamily="34" charset="-122"/>
                <a:cs typeface="Arial" pitchFamily="34" charset="-120"/>
              </a:rPr>
              <a:t>Predict</a:t>
            </a:r>
            <a:endParaRPr lang="en-US" sz="2100" dirty="0"/>
          </a:p>
        </p:txBody>
      </p:sp>
      <p:sp>
        <p:nvSpPr>
          <p:cNvPr id="20" name="Text 18"/>
          <p:cNvSpPr txBox="1"/>
          <p:nvPr/>
        </p:nvSpPr>
        <p:spPr>
          <a:xfrm>
            <a:off x="4572000" y="5029200"/>
            <a:ext cx="2971800" cy="77724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Segments, churn, recommendations, bundles, forecast, anomalies</a:t>
            </a:r>
            <a:endParaRPr lang="en-US" sz="1500" dirty="0"/>
          </a:p>
        </p:txBody>
      </p:sp>
      <p:sp>
        <p:nvSpPr>
          <p:cNvPr id="21" name="Shape 19"/>
          <p:cNvSpPr/>
          <p:nvPr/>
        </p:nvSpPr>
        <p:spPr>
          <a:xfrm>
            <a:off x="8046720" y="4297680"/>
            <a:ext cx="3474720" cy="1645920"/>
          </a:xfrm>
          <a:prstGeom prst="roundRect">
            <a:avLst>
              <a:gd name="adj" fmla="val 6667"/>
            </a:avLst>
          </a:prstGeom>
          <a:solidFill>
            <a:srgbClr val="151C30"/>
          </a:solidFill>
          <a:ln w="9525">
            <a:solidFill>
              <a:srgbClr val="2A3556"/>
            </a:solidFill>
            <a:prstDash val="solid"/>
          </a:ln>
        </p:spPr>
      </p:sp>
      <p:sp>
        <p:nvSpPr>
          <p:cNvPr id="22" name="Text 20"/>
          <p:cNvSpPr txBox="1"/>
          <p:nvPr/>
        </p:nvSpPr>
        <p:spPr>
          <a:xfrm>
            <a:off x="8321040" y="4526280"/>
            <a:ext cx="2926080" cy="457200"/>
          </a:xfrm>
          <a:prstGeom prst="rect">
            <a:avLst/>
          </a:prstGeom>
          <a:noFill/>
          <a:ln/>
        </p:spPr>
        <p:txBody>
          <a:bodyPr wrap="square" lIns="0" tIns="0" rIns="0" bIns="0" rtlCol="0" anchor="ctr"/>
          <a:lstStyle/>
          <a:p>
            <a:pPr indent="0" marL="0">
              <a:buNone/>
            </a:pPr>
            <a:r>
              <a:rPr lang="en-US" sz="2100" b="1" dirty="0">
                <a:solidFill>
                  <a:srgbClr val="06B6D4"/>
                </a:solidFill>
                <a:latin typeface="Arial" pitchFamily="34" charset="0"/>
                <a:ea typeface="Arial" pitchFamily="34" charset="-122"/>
                <a:cs typeface="Arial" pitchFamily="34" charset="-120"/>
              </a:rPr>
              <a:t>Deliver</a:t>
            </a:r>
            <a:endParaRPr lang="en-US" sz="2100" dirty="0"/>
          </a:p>
        </p:txBody>
      </p:sp>
      <p:sp>
        <p:nvSpPr>
          <p:cNvPr id="23" name="Text 21"/>
          <p:cNvSpPr txBox="1"/>
          <p:nvPr/>
        </p:nvSpPr>
        <p:spPr>
          <a:xfrm>
            <a:off x="8321040" y="5029200"/>
            <a:ext cx="2971800" cy="77724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REST API + 11-page dashboard, simulator &amp; CSV export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020"/>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200" b="1" spc="300" kern="0" dirty="0">
                <a:solidFill>
                  <a:srgbClr val="06B6D4"/>
                </a:solidFill>
                <a:latin typeface="Calibri" pitchFamily="34" charset="0"/>
                <a:ea typeface="Calibri" pitchFamily="34" charset="-122"/>
                <a:cs typeface="Calibri" pitchFamily="34" charset="-120"/>
              </a:rPr>
              <a:t>VOLUME · VARIETY · VELOCITY</a:t>
            </a:r>
            <a:endParaRPr lang="en-US" sz="1200" dirty="0"/>
          </a:p>
        </p:txBody>
      </p:sp>
      <p:sp>
        <p:nvSpPr>
          <p:cNvPr id="3" name="Text 1"/>
          <p:cNvSpPr txBox="1"/>
          <p:nvPr/>
        </p:nvSpPr>
        <p:spPr>
          <a:xfrm>
            <a:off x="548640" y="603504"/>
            <a:ext cx="11064240" cy="685800"/>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Why is this a Big Data problem?</a:t>
            </a:r>
            <a:endParaRPr lang="en-US" sz="3200" dirty="0"/>
          </a:p>
        </p:txBody>
      </p:sp>
      <p:sp>
        <p:nvSpPr>
          <p:cNvPr id="4" name="Text 2"/>
          <p:cNvSpPr txBox="1"/>
          <p:nvPr/>
        </p:nvSpPr>
        <p:spPr>
          <a:xfrm>
            <a:off x="8412480" y="6446520"/>
            <a:ext cx="3246120" cy="274320"/>
          </a:xfrm>
          <a:prstGeom prst="rect">
            <a:avLst/>
          </a:prstGeom>
          <a:noFill/>
          <a:ln/>
        </p:spPr>
        <p:txBody>
          <a:bodyPr wrap="square" lIns="0" tIns="0" rIns="0" bIns="0" rtlCol="0" anchor="ctr"/>
          <a:lstStyle/>
          <a:p>
            <a:pPr algn="r" indent="0" marL="0">
              <a:buNone/>
            </a:pPr>
            <a:r>
              <a:rPr lang="en-US" sz="1000" dirty="0">
                <a:solidFill>
                  <a:srgbClr val="7D88A6"/>
                </a:solidFill>
                <a:latin typeface="Calibri" pitchFamily="34" charset="0"/>
                <a:ea typeface="Calibri" pitchFamily="34" charset="-122"/>
                <a:cs typeface="Calibri" pitchFamily="34" charset="-120"/>
              </a:rPr>
              <a:t>ShopSense · Big Data Analytics  |  5</a:t>
            </a:r>
            <a:endParaRPr lang="en-US" sz="1000" dirty="0"/>
          </a:p>
        </p:txBody>
      </p:sp>
      <p:sp>
        <p:nvSpPr>
          <p:cNvPr id="5" name="Shape 3"/>
          <p:cNvSpPr/>
          <p:nvPr/>
        </p:nvSpPr>
        <p:spPr>
          <a:xfrm>
            <a:off x="548640" y="1645920"/>
            <a:ext cx="2606040" cy="1737360"/>
          </a:xfrm>
          <a:prstGeom prst="roundRect">
            <a:avLst>
              <a:gd name="adj" fmla="val 6316"/>
            </a:avLst>
          </a:prstGeom>
          <a:solidFill>
            <a:srgbClr val="151C30"/>
          </a:solidFill>
          <a:ln w="9525">
            <a:solidFill>
              <a:srgbClr val="2A3556"/>
            </a:solidFill>
            <a:prstDash val="solid"/>
          </a:ln>
        </p:spPr>
      </p:sp>
      <p:sp>
        <p:nvSpPr>
          <p:cNvPr id="6" name="Text 4"/>
          <p:cNvSpPr txBox="1"/>
          <p:nvPr/>
        </p:nvSpPr>
        <p:spPr>
          <a:xfrm>
            <a:off x="822960" y="1874520"/>
            <a:ext cx="2194560" cy="685800"/>
          </a:xfrm>
          <a:prstGeom prst="rect">
            <a:avLst/>
          </a:prstGeom>
          <a:noFill/>
          <a:ln/>
        </p:spPr>
        <p:txBody>
          <a:bodyPr wrap="square" lIns="0" tIns="0" rIns="0" bIns="0" rtlCol="0" anchor="ctr"/>
          <a:lstStyle/>
          <a:p>
            <a:pPr indent="0" marL="0">
              <a:buNone/>
            </a:pPr>
            <a:r>
              <a:rPr lang="en-US" sz="3400" b="1" dirty="0">
                <a:solidFill>
                  <a:srgbClr val="06B6D4"/>
                </a:solidFill>
                <a:latin typeface="Arial" pitchFamily="34" charset="0"/>
                <a:ea typeface="Arial" pitchFamily="34" charset="-122"/>
                <a:cs typeface="Arial" pitchFamily="34" charset="-120"/>
              </a:rPr>
              <a:t>1.35 M</a:t>
            </a:r>
            <a:endParaRPr lang="en-US" sz="3400" dirty="0"/>
          </a:p>
        </p:txBody>
      </p:sp>
      <p:sp>
        <p:nvSpPr>
          <p:cNvPr id="7" name="Text 5"/>
          <p:cNvSpPr txBox="1"/>
          <p:nvPr/>
        </p:nvSpPr>
        <p:spPr>
          <a:xfrm>
            <a:off x="822960" y="2560320"/>
            <a:ext cx="2194560" cy="502920"/>
          </a:xfrm>
          <a:prstGeom prst="rect">
            <a:avLst/>
          </a:prstGeom>
          <a:noFill/>
          <a:ln/>
        </p:spPr>
        <p:txBody>
          <a:bodyPr wrap="square" lIns="0" tIns="0" rIns="0" bIns="0" rtlCol="0" anchor="t"/>
          <a:lstStyle/>
          <a:p>
            <a:pPr indent="0" marL="0">
              <a:buNone/>
            </a:pPr>
            <a:r>
              <a:rPr lang="en-US" sz="1300" dirty="0">
                <a:solidFill>
                  <a:srgbClr val="A9B3CC"/>
                </a:solidFill>
                <a:latin typeface="Calibri" pitchFamily="34" charset="0"/>
                <a:ea typeface="Calibri" pitchFamily="34" charset="-122"/>
                <a:cs typeface="Calibri" pitchFamily="34" charset="-120"/>
              </a:rPr>
              <a:t>click-stream events (JSON-lines, 24 monthly files)</a:t>
            </a:r>
            <a:endParaRPr lang="en-US" sz="1300" dirty="0"/>
          </a:p>
        </p:txBody>
      </p:sp>
      <p:sp>
        <p:nvSpPr>
          <p:cNvPr id="8" name="Shape 6"/>
          <p:cNvSpPr/>
          <p:nvPr/>
        </p:nvSpPr>
        <p:spPr>
          <a:xfrm>
            <a:off x="3383280" y="1645920"/>
            <a:ext cx="2606040" cy="1737360"/>
          </a:xfrm>
          <a:prstGeom prst="roundRect">
            <a:avLst>
              <a:gd name="adj" fmla="val 6316"/>
            </a:avLst>
          </a:prstGeom>
          <a:solidFill>
            <a:srgbClr val="151C30"/>
          </a:solidFill>
          <a:ln w="9525">
            <a:solidFill>
              <a:srgbClr val="2A3556"/>
            </a:solidFill>
            <a:prstDash val="solid"/>
          </a:ln>
        </p:spPr>
      </p:sp>
      <p:sp>
        <p:nvSpPr>
          <p:cNvPr id="9" name="Text 7"/>
          <p:cNvSpPr txBox="1"/>
          <p:nvPr/>
        </p:nvSpPr>
        <p:spPr>
          <a:xfrm>
            <a:off x="3657600" y="1874520"/>
            <a:ext cx="2194560" cy="685800"/>
          </a:xfrm>
          <a:prstGeom prst="rect">
            <a:avLst/>
          </a:prstGeom>
          <a:noFill/>
          <a:ln/>
        </p:spPr>
        <p:txBody>
          <a:bodyPr wrap="square" lIns="0" tIns="0" rIns="0" bIns="0" rtlCol="0" anchor="ctr"/>
          <a:lstStyle/>
          <a:p>
            <a:pPr indent="0" marL="0">
              <a:buNone/>
            </a:pPr>
            <a:r>
              <a:rPr lang="en-US" sz="3400" b="1" dirty="0">
                <a:solidFill>
                  <a:srgbClr val="6366F1"/>
                </a:solidFill>
                <a:latin typeface="Arial" pitchFamily="34" charset="0"/>
                <a:ea typeface="Arial" pitchFamily="34" charset="-122"/>
                <a:cs typeface="Arial" pitchFamily="34" charset="-120"/>
              </a:rPr>
              <a:t>74,348</a:t>
            </a:r>
            <a:endParaRPr lang="en-US" sz="3400" dirty="0"/>
          </a:p>
        </p:txBody>
      </p:sp>
      <p:sp>
        <p:nvSpPr>
          <p:cNvPr id="10" name="Text 8"/>
          <p:cNvSpPr txBox="1"/>
          <p:nvPr/>
        </p:nvSpPr>
        <p:spPr>
          <a:xfrm>
            <a:off x="3657600" y="2560320"/>
            <a:ext cx="2194560" cy="502920"/>
          </a:xfrm>
          <a:prstGeom prst="rect">
            <a:avLst/>
          </a:prstGeom>
          <a:noFill/>
          <a:ln/>
        </p:spPr>
        <p:txBody>
          <a:bodyPr wrap="square" lIns="0" tIns="0" rIns="0" bIns="0" rtlCol="0" anchor="t"/>
          <a:lstStyle/>
          <a:p>
            <a:pPr indent="0" marL="0">
              <a:buNone/>
            </a:pPr>
            <a:r>
              <a:rPr lang="en-US" sz="1300" dirty="0">
                <a:solidFill>
                  <a:srgbClr val="A9B3CC"/>
                </a:solidFill>
                <a:latin typeface="Calibri" pitchFamily="34" charset="0"/>
                <a:ea typeface="Calibri" pitchFamily="34" charset="-122"/>
                <a:cs typeface="Calibri" pitchFamily="34" charset="-120"/>
              </a:rPr>
              <a:t>orders with 1.45 lakh line items</a:t>
            </a:r>
            <a:endParaRPr lang="en-US" sz="1300" dirty="0"/>
          </a:p>
        </p:txBody>
      </p:sp>
      <p:sp>
        <p:nvSpPr>
          <p:cNvPr id="11" name="Shape 9"/>
          <p:cNvSpPr/>
          <p:nvPr/>
        </p:nvSpPr>
        <p:spPr>
          <a:xfrm>
            <a:off x="6217920" y="1645920"/>
            <a:ext cx="2606040" cy="1737360"/>
          </a:xfrm>
          <a:prstGeom prst="roundRect">
            <a:avLst>
              <a:gd name="adj" fmla="val 6316"/>
            </a:avLst>
          </a:prstGeom>
          <a:solidFill>
            <a:srgbClr val="151C30"/>
          </a:solidFill>
          <a:ln w="9525">
            <a:solidFill>
              <a:srgbClr val="2A3556"/>
            </a:solidFill>
            <a:prstDash val="solid"/>
          </a:ln>
        </p:spPr>
      </p:sp>
      <p:sp>
        <p:nvSpPr>
          <p:cNvPr id="12" name="Text 10"/>
          <p:cNvSpPr txBox="1"/>
          <p:nvPr/>
        </p:nvSpPr>
        <p:spPr>
          <a:xfrm>
            <a:off x="6492240" y="1874520"/>
            <a:ext cx="2194560" cy="685800"/>
          </a:xfrm>
          <a:prstGeom prst="rect">
            <a:avLst/>
          </a:prstGeom>
          <a:noFill/>
          <a:ln/>
        </p:spPr>
        <p:txBody>
          <a:bodyPr wrap="square" lIns="0" tIns="0" rIns="0" bIns="0" rtlCol="0" anchor="ctr"/>
          <a:lstStyle/>
          <a:p>
            <a:pPr indent="0" marL="0">
              <a:buNone/>
            </a:pPr>
            <a:r>
              <a:rPr lang="en-US" sz="3400" b="1" dirty="0">
                <a:solidFill>
                  <a:srgbClr val="8B5CF6"/>
                </a:solidFill>
                <a:latin typeface="Arial" pitchFamily="34" charset="0"/>
                <a:ea typeface="Arial" pitchFamily="34" charset="-122"/>
                <a:cs typeface="Arial" pitchFamily="34" charset="-120"/>
              </a:rPr>
              <a:t>10,000</a:t>
            </a:r>
            <a:endParaRPr lang="en-US" sz="3400" dirty="0"/>
          </a:p>
        </p:txBody>
      </p:sp>
      <p:sp>
        <p:nvSpPr>
          <p:cNvPr id="13" name="Text 11"/>
          <p:cNvSpPr txBox="1"/>
          <p:nvPr/>
        </p:nvSpPr>
        <p:spPr>
          <a:xfrm>
            <a:off x="6492240" y="2560320"/>
            <a:ext cx="2194560" cy="502920"/>
          </a:xfrm>
          <a:prstGeom prst="rect">
            <a:avLst/>
          </a:prstGeom>
          <a:noFill/>
          <a:ln/>
        </p:spPr>
        <p:txBody>
          <a:bodyPr wrap="square" lIns="0" tIns="0" rIns="0" bIns="0" rtlCol="0" anchor="t"/>
          <a:lstStyle/>
          <a:p>
            <a:pPr indent="0" marL="0">
              <a:buNone/>
            </a:pPr>
            <a:r>
              <a:rPr lang="en-US" sz="1300" dirty="0">
                <a:solidFill>
                  <a:srgbClr val="A9B3CC"/>
                </a:solidFill>
                <a:latin typeface="Calibri" pitchFamily="34" charset="0"/>
                <a:ea typeface="Calibri" pitchFamily="34" charset="-122"/>
                <a:cs typeface="Calibri" pitchFamily="34" charset="-120"/>
              </a:rPr>
              <a:t>customers across 28 Indian cities</a:t>
            </a:r>
            <a:endParaRPr lang="en-US" sz="1300" dirty="0"/>
          </a:p>
        </p:txBody>
      </p:sp>
      <p:sp>
        <p:nvSpPr>
          <p:cNvPr id="14" name="Shape 12"/>
          <p:cNvSpPr/>
          <p:nvPr/>
        </p:nvSpPr>
        <p:spPr>
          <a:xfrm>
            <a:off x="9052560" y="1645920"/>
            <a:ext cx="2606040" cy="1737360"/>
          </a:xfrm>
          <a:prstGeom prst="roundRect">
            <a:avLst>
              <a:gd name="adj" fmla="val 6316"/>
            </a:avLst>
          </a:prstGeom>
          <a:solidFill>
            <a:srgbClr val="151C30"/>
          </a:solidFill>
          <a:ln w="9525">
            <a:solidFill>
              <a:srgbClr val="2A3556"/>
            </a:solidFill>
            <a:prstDash val="solid"/>
          </a:ln>
        </p:spPr>
      </p:sp>
      <p:sp>
        <p:nvSpPr>
          <p:cNvPr id="15" name="Text 13"/>
          <p:cNvSpPr txBox="1"/>
          <p:nvPr/>
        </p:nvSpPr>
        <p:spPr>
          <a:xfrm>
            <a:off x="9326880" y="1874520"/>
            <a:ext cx="2194560" cy="685800"/>
          </a:xfrm>
          <a:prstGeom prst="rect">
            <a:avLst/>
          </a:prstGeom>
          <a:noFill/>
          <a:ln/>
        </p:spPr>
        <p:txBody>
          <a:bodyPr wrap="square" lIns="0" tIns="0" rIns="0" bIns="0" rtlCol="0" anchor="ctr"/>
          <a:lstStyle/>
          <a:p>
            <a:pPr indent="0" marL="0">
              <a:buNone/>
            </a:pPr>
            <a:r>
              <a:rPr lang="en-US" sz="3400" b="1" dirty="0">
                <a:solidFill>
                  <a:srgbClr val="22C55E"/>
                </a:solidFill>
                <a:latin typeface="Arial" pitchFamily="34" charset="0"/>
                <a:ea typeface="Arial" pitchFamily="34" charset="-122"/>
                <a:cs typeface="Arial" pitchFamily="34" charset="-120"/>
              </a:rPr>
              <a:t>315 MB</a:t>
            </a:r>
            <a:endParaRPr lang="en-US" sz="3400" dirty="0"/>
          </a:p>
        </p:txBody>
      </p:sp>
      <p:sp>
        <p:nvSpPr>
          <p:cNvPr id="16" name="Text 14"/>
          <p:cNvSpPr txBox="1"/>
          <p:nvPr/>
        </p:nvSpPr>
        <p:spPr>
          <a:xfrm>
            <a:off x="9326880" y="2560320"/>
            <a:ext cx="2194560" cy="502920"/>
          </a:xfrm>
          <a:prstGeom prst="rect">
            <a:avLst/>
          </a:prstGeom>
          <a:noFill/>
          <a:ln/>
        </p:spPr>
        <p:txBody>
          <a:bodyPr wrap="square" lIns="0" tIns="0" rIns="0" bIns="0" rtlCol="0" anchor="t"/>
          <a:lstStyle/>
          <a:p>
            <a:pPr indent="0" marL="0">
              <a:buNone/>
            </a:pPr>
            <a:r>
              <a:rPr lang="en-US" sz="1300" dirty="0">
                <a:solidFill>
                  <a:srgbClr val="A9B3CC"/>
                </a:solidFill>
                <a:latin typeface="Calibri" pitchFamily="34" charset="0"/>
                <a:ea typeface="Calibri" pitchFamily="34" charset="-122"/>
                <a:cs typeface="Calibri" pitchFamily="34" charset="-120"/>
              </a:rPr>
              <a:t>raw data per run (medium scale); 790 MB at large scale</a:t>
            </a:r>
            <a:endParaRPr lang="en-US" sz="1300" dirty="0"/>
          </a:p>
        </p:txBody>
      </p:sp>
      <p:sp>
        <p:nvSpPr>
          <p:cNvPr id="17" name="Text 15"/>
          <p:cNvSpPr txBox="1"/>
          <p:nvPr/>
        </p:nvSpPr>
        <p:spPr>
          <a:xfrm>
            <a:off x="548640" y="3749040"/>
            <a:ext cx="2011680" cy="73152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Volume</a:t>
            </a:r>
            <a:endParaRPr lang="en-US" sz="2000" dirty="0"/>
          </a:p>
        </p:txBody>
      </p:sp>
      <p:sp>
        <p:nvSpPr>
          <p:cNvPr id="18" name="Text 16"/>
          <p:cNvSpPr txBox="1"/>
          <p:nvPr/>
        </p:nvSpPr>
        <p:spPr>
          <a:xfrm>
            <a:off x="2651760" y="3749040"/>
            <a:ext cx="8961120" cy="731520"/>
          </a:xfrm>
          <a:prstGeom prst="rect">
            <a:avLst/>
          </a:prstGeom>
          <a:noFill/>
          <a:ln/>
        </p:spPr>
        <p:txBody>
          <a:bodyPr wrap="square" lIns="0" tIns="0" rIns="0" bIns="0" rtlCol="0" anchor="ctr"/>
          <a:lstStyle/>
          <a:p>
            <a:pPr indent="0" marL="0">
              <a:buNone/>
            </a:pPr>
            <a:r>
              <a:rPr lang="en-US" sz="1600" dirty="0">
                <a:solidFill>
                  <a:srgbClr val="A9B3CC"/>
                </a:solidFill>
                <a:latin typeface="Calibri" pitchFamily="34" charset="0"/>
                <a:ea typeface="Calibri" pitchFamily="34" charset="-122"/>
                <a:cs typeface="Calibri" pitchFamily="34" charset="-120"/>
              </a:rPr>
              <a:t>≈1.4 million records per run; scales to 3.4 M+ events without code changes.</a:t>
            </a:r>
            <a:endParaRPr lang="en-US" sz="1600" dirty="0"/>
          </a:p>
        </p:txBody>
      </p:sp>
      <p:sp>
        <p:nvSpPr>
          <p:cNvPr id="19" name="Text 17"/>
          <p:cNvSpPr txBox="1"/>
          <p:nvPr/>
        </p:nvSpPr>
        <p:spPr>
          <a:xfrm>
            <a:off x="548640" y="4617720"/>
            <a:ext cx="2011680" cy="73152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Variety</a:t>
            </a:r>
            <a:endParaRPr lang="en-US" sz="2000" dirty="0"/>
          </a:p>
        </p:txBody>
      </p:sp>
      <p:sp>
        <p:nvSpPr>
          <p:cNvPr id="20" name="Text 18"/>
          <p:cNvSpPr txBox="1"/>
          <p:nvPr/>
        </p:nvSpPr>
        <p:spPr>
          <a:xfrm>
            <a:off x="2651760" y="4617720"/>
            <a:ext cx="8961120" cy="731520"/>
          </a:xfrm>
          <a:prstGeom prst="rect">
            <a:avLst/>
          </a:prstGeom>
          <a:noFill/>
          <a:ln/>
        </p:spPr>
        <p:txBody>
          <a:bodyPr wrap="square" lIns="0" tIns="0" rIns="0" bIns="0" rtlCol="0" anchor="ctr"/>
          <a:lstStyle/>
          <a:p>
            <a:pPr indent="0" marL="0">
              <a:buNone/>
            </a:pPr>
            <a:r>
              <a:rPr lang="en-US" sz="1600" dirty="0">
                <a:solidFill>
                  <a:srgbClr val="A9B3CC"/>
                </a:solidFill>
                <a:latin typeface="Calibri" pitchFamily="34" charset="0"/>
                <a:ea typeface="Calibri" pitchFamily="34" charset="-122"/>
                <a:cs typeface="Calibri" pitchFamily="34" charset="-120"/>
              </a:rPr>
              <a:t>Structured CSV tables + semi-structured JSON logs + product catalogue with nested fields.</a:t>
            </a:r>
            <a:endParaRPr lang="en-US" sz="1600" dirty="0"/>
          </a:p>
        </p:txBody>
      </p:sp>
      <p:sp>
        <p:nvSpPr>
          <p:cNvPr id="21" name="Text 19"/>
          <p:cNvSpPr txBox="1"/>
          <p:nvPr/>
        </p:nvSpPr>
        <p:spPr>
          <a:xfrm>
            <a:off x="548640" y="5486400"/>
            <a:ext cx="2011680" cy="73152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Velocity</a:t>
            </a:r>
            <a:endParaRPr lang="en-US" sz="2000" dirty="0"/>
          </a:p>
        </p:txBody>
      </p:sp>
      <p:sp>
        <p:nvSpPr>
          <p:cNvPr id="22" name="Text 20"/>
          <p:cNvSpPr txBox="1"/>
          <p:nvPr/>
        </p:nvSpPr>
        <p:spPr>
          <a:xfrm>
            <a:off x="2651760" y="5486400"/>
            <a:ext cx="8961120" cy="731520"/>
          </a:xfrm>
          <a:prstGeom prst="rect">
            <a:avLst/>
          </a:prstGeom>
          <a:noFill/>
          <a:ln/>
        </p:spPr>
        <p:txBody>
          <a:bodyPr wrap="square" lIns="0" tIns="0" rIns="0" bIns="0" rtlCol="0" anchor="ctr"/>
          <a:lstStyle/>
          <a:p>
            <a:pPr indent="0" marL="0">
              <a:buNone/>
            </a:pPr>
            <a:r>
              <a:rPr lang="en-US" sz="1600" dirty="0">
                <a:solidFill>
                  <a:srgbClr val="A9B3CC"/>
                </a:solidFill>
                <a:latin typeface="Calibri" pitchFamily="34" charset="0"/>
                <a:ea typeface="Calibri" pitchFamily="34" charset="-122"/>
                <a:cs typeface="Calibri" pitchFamily="34" charset="-120"/>
              </a:rPr>
              <a:t>Every visit produces 4–7 events; daily batch runs, with a streaming path (Kafka) as future work.</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020"/>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200" b="1" spc="300" kern="0" dirty="0">
                <a:solidFill>
                  <a:srgbClr val="06B6D4"/>
                </a:solidFill>
                <a:latin typeface="Calibri" pitchFamily="34" charset="0"/>
                <a:ea typeface="Calibri" pitchFamily="34" charset="-122"/>
                <a:cs typeface="Calibri" pitchFamily="34" charset="-120"/>
              </a:rPr>
              <a:t>WHAT EXISTS · WHAT IS MISSING</a:t>
            </a:r>
            <a:endParaRPr lang="en-US" sz="1200" dirty="0"/>
          </a:p>
        </p:txBody>
      </p:sp>
      <p:sp>
        <p:nvSpPr>
          <p:cNvPr id="3" name="Text 1"/>
          <p:cNvSpPr txBox="1"/>
          <p:nvPr/>
        </p:nvSpPr>
        <p:spPr>
          <a:xfrm>
            <a:off x="548640" y="603504"/>
            <a:ext cx="11064240" cy="685800"/>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Literature review &amp; research gaps</a:t>
            </a:r>
            <a:endParaRPr lang="en-US" sz="3200" dirty="0"/>
          </a:p>
        </p:txBody>
      </p:sp>
      <p:sp>
        <p:nvSpPr>
          <p:cNvPr id="4" name="Text 2"/>
          <p:cNvSpPr txBox="1"/>
          <p:nvPr/>
        </p:nvSpPr>
        <p:spPr>
          <a:xfrm>
            <a:off x="8412480" y="6446520"/>
            <a:ext cx="3246120" cy="274320"/>
          </a:xfrm>
          <a:prstGeom prst="rect">
            <a:avLst/>
          </a:prstGeom>
          <a:noFill/>
          <a:ln/>
        </p:spPr>
        <p:txBody>
          <a:bodyPr wrap="square" lIns="0" tIns="0" rIns="0" bIns="0" rtlCol="0" anchor="ctr"/>
          <a:lstStyle/>
          <a:p>
            <a:pPr algn="r" indent="0" marL="0">
              <a:buNone/>
            </a:pPr>
            <a:r>
              <a:rPr lang="en-US" sz="1000" dirty="0">
                <a:solidFill>
                  <a:srgbClr val="7D88A6"/>
                </a:solidFill>
                <a:latin typeface="Calibri" pitchFamily="34" charset="0"/>
                <a:ea typeface="Calibri" pitchFamily="34" charset="-122"/>
                <a:cs typeface="Calibri" pitchFamily="34" charset="-120"/>
              </a:rPr>
              <a:t>ShopSense · Big Data Analytics  |  6</a:t>
            </a:r>
            <a:endParaRPr lang="en-US" sz="1000" dirty="0"/>
          </a:p>
        </p:txBody>
      </p:sp>
      <p:sp>
        <p:nvSpPr>
          <p:cNvPr id="5" name="Shape 3"/>
          <p:cNvSpPr/>
          <p:nvPr/>
        </p:nvSpPr>
        <p:spPr>
          <a:xfrm>
            <a:off x="548640" y="1554480"/>
            <a:ext cx="5760720" cy="4663440"/>
          </a:xfrm>
          <a:prstGeom prst="roundRect">
            <a:avLst>
              <a:gd name="adj" fmla="val 2353"/>
            </a:avLst>
          </a:prstGeom>
          <a:solidFill>
            <a:srgbClr val="151C30"/>
          </a:solidFill>
          <a:ln w="9525">
            <a:solidFill>
              <a:srgbClr val="2A3556"/>
            </a:solidFill>
            <a:prstDash val="solid"/>
          </a:ln>
        </p:spPr>
      </p:sp>
      <p:sp>
        <p:nvSpPr>
          <p:cNvPr id="6" name="Text 4"/>
          <p:cNvSpPr txBox="1"/>
          <p:nvPr/>
        </p:nvSpPr>
        <p:spPr>
          <a:xfrm>
            <a:off x="822960" y="1691640"/>
            <a:ext cx="5303520" cy="365760"/>
          </a:xfrm>
          <a:prstGeom prst="rect">
            <a:avLst/>
          </a:prstGeom>
          <a:noFill/>
          <a:ln/>
        </p:spPr>
        <p:txBody>
          <a:bodyPr wrap="square" lIns="0" tIns="0" rIns="0" bIns="0" rtlCol="0" anchor="ctr"/>
          <a:lstStyle/>
          <a:p>
            <a:pPr indent="0" marL="0">
              <a:buNone/>
            </a:pPr>
            <a:r>
              <a:rPr lang="en-US" sz="1500" b="1" dirty="0">
                <a:solidFill>
                  <a:srgbClr val="06B6D4"/>
                </a:solidFill>
                <a:latin typeface="Arial" pitchFamily="34" charset="0"/>
                <a:ea typeface="Arial" pitchFamily="34" charset="-122"/>
                <a:cs typeface="Arial" pitchFamily="34" charset="-120"/>
              </a:rPr>
              <a:t>Key references (25 reviewed)</a:t>
            </a:r>
            <a:endParaRPr lang="en-US" sz="1500" dirty="0"/>
          </a:p>
        </p:txBody>
      </p:sp>
      <p:sp>
        <p:nvSpPr>
          <p:cNvPr id="7" name="Text 5"/>
          <p:cNvSpPr txBox="1"/>
          <p:nvPr/>
        </p:nvSpPr>
        <p:spPr>
          <a:xfrm>
            <a:off x="822960" y="2148840"/>
            <a:ext cx="5303520" cy="475488"/>
          </a:xfrm>
          <a:prstGeom prst="rect">
            <a:avLst/>
          </a:prstGeom>
          <a:noFill/>
          <a:ln/>
        </p:spPr>
        <p:txBody>
          <a:bodyPr wrap="square" lIns="0" tIns="0" rIns="0" bIns="0"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Spark / RDD — Zaharia et al. 2012, 2016</a:t>
            </a:r>
            <a:endParaRPr lang="en-US" sz="1250" dirty="0"/>
          </a:p>
          <a:p>
            <a:pPr indent="0" marL="0">
              <a:buNone/>
            </a:pPr>
            <a:r>
              <a:rPr lang="en-US" sz="1250" dirty="0">
                <a:solidFill>
                  <a:srgbClr val="A9B3CC"/>
                </a:solidFill>
                <a:latin typeface="Calibri" pitchFamily="34" charset="0"/>
                <a:ea typeface="Calibri" pitchFamily="34" charset="-122"/>
                <a:cs typeface="Calibri" pitchFamily="34" charset="-120"/>
              </a:rPr>
              <a:t>In-memory distributed processing</a:t>
            </a:r>
            <a:endParaRPr lang="en-US" sz="1250" dirty="0"/>
          </a:p>
        </p:txBody>
      </p:sp>
      <p:sp>
        <p:nvSpPr>
          <p:cNvPr id="8" name="Text 6"/>
          <p:cNvSpPr txBox="1"/>
          <p:nvPr/>
        </p:nvSpPr>
        <p:spPr>
          <a:xfrm>
            <a:off x="822960" y="2651760"/>
            <a:ext cx="5303520" cy="475488"/>
          </a:xfrm>
          <a:prstGeom prst="rect">
            <a:avLst/>
          </a:prstGeom>
          <a:noFill/>
          <a:ln/>
        </p:spPr>
        <p:txBody>
          <a:bodyPr wrap="square" lIns="0" tIns="0" rIns="0" bIns="0"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MLlib — Meng et al. 2016</a:t>
            </a:r>
            <a:endParaRPr lang="en-US" sz="1250" dirty="0"/>
          </a:p>
          <a:p>
            <a:pPr indent="0" marL="0">
              <a:buNone/>
            </a:pPr>
            <a:r>
              <a:rPr lang="en-US" sz="1250" dirty="0">
                <a:solidFill>
                  <a:srgbClr val="A9B3CC"/>
                </a:solidFill>
                <a:latin typeface="Calibri" pitchFamily="34" charset="0"/>
                <a:ea typeface="Calibri" pitchFamily="34" charset="-122"/>
                <a:cs typeface="Calibri" pitchFamily="34" charset="-120"/>
              </a:rPr>
              <a:t>Scalable ML pipelines</a:t>
            </a:r>
            <a:endParaRPr lang="en-US" sz="1250" dirty="0"/>
          </a:p>
        </p:txBody>
      </p:sp>
      <p:sp>
        <p:nvSpPr>
          <p:cNvPr id="9" name="Text 7"/>
          <p:cNvSpPr txBox="1"/>
          <p:nvPr/>
        </p:nvSpPr>
        <p:spPr>
          <a:xfrm>
            <a:off x="822960" y="3154680"/>
            <a:ext cx="5303520" cy="475488"/>
          </a:xfrm>
          <a:prstGeom prst="rect">
            <a:avLst/>
          </a:prstGeom>
          <a:noFill/>
          <a:ln/>
        </p:spPr>
        <p:txBody>
          <a:bodyPr wrap="square" lIns="0" tIns="0" rIns="0" bIns="0"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RFM + k-means — Chen et al. 2012</a:t>
            </a:r>
            <a:endParaRPr lang="en-US" sz="1250" dirty="0"/>
          </a:p>
          <a:p>
            <a:pPr indent="0" marL="0">
              <a:buNone/>
            </a:pPr>
            <a:r>
              <a:rPr lang="en-US" sz="1250" dirty="0">
                <a:solidFill>
                  <a:srgbClr val="A9B3CC"/>
                </a:solidFill>
                <a:latin typeface="Calibri" pitchFamily="34" charset="0"/>
                <a:ea typeface="Calibri" pitchFamily="34" charset="-122"/>
                <a:cs typeface="Calibri" pitchFamily="34" charset="-120"/>
              </a:rPr>
              <a:t>Customer segmentation</a:t>
            </a:r>
            <a:endParaRPr lang="en-US" sz="1250" dirty="0"/>
          </a:p>
        </p:txBody>
      </p:sp>
      <p:sp>
        <p:nvSpPr>
          <p:cNvPr id="10" name="Text 8"/>
          <p:cNvSpPr txBox="1"/>
          <p:nvPr/>
        </p:nvSpPr>
        <p:spPr>
          <a:xfrm>
            <a:off x="822960" y="3657600"/>
            <a:ext cx="5303520" cy="475488"/>
          </a:xfrm>
          <a:prstGeom prst="rect">
            <a:avLst/>
          </a:prstGeom>
          <a:noFill/>
          <a:ln/>
        </p:spPr>
        <p:txBody>
          <a:bodyPr wrap="square" lIns="0" tIns="0" rIns="0" bIns="0"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Churn benchmarks — Verbeke et al. 2012</a:t>
            </a:r>
            <a:endParaRPr lang="en-US" sz="1250" dirty="0"/>
          </a:p>
          <a:p>
            <a:pPr indent="0" marL="0">
              <a:buNone/>
            </a:pPr>
            <a:r>
              <a:rPr lang="en-US" sz="1250" dirty="0">
                <a:solidFill>
                  <a:srgbClr val="A9B3CC"/>
                </a:solidFill>
                <a:latin typeface="Calibri" pitchFamily="34" charset="0"/>
                <a:ea typeface="Calibri" pitchFamily="34" charset="-122"/>
                <a:cs typeface="Calibri" pitchFamily="34" charset="-120"/>
              </a:rPr>
              <a:t>Classifier comparison</a:t>
            </a:r>
            <a:endParaRPr lang="en-US" sz="1250" dirty="0"/>
          </a:p>
        </p:txBody>
      </p:sp>
      <p:sp>
        <p:nvSpPr>
          <p:cNvPr id="11" name="Text 9"/>
          <p:cNvSpPr txBox="1"/>
          <p:nvPr/>
        </p:nvSpPr>
        <p:spPr>
          <a:xfrm>
            <a:off x="822960" y="4160520"/>
            <a:ext cx="5303520" cy="475488"/>
          </a:xfrm>
          <a:prstGeom prst="rect">
            <a:avLst/>
          </a:prstGeom>
          <a:noFill/>
          <a:ln/>
        </p:spPr>
        <p:txBody>
          <a:bodyPr wrap="square" lIns="0" tIns="0" rIns="0" bIns="0"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Implicit ALS — Hu, Koren &amp; Volinsky 2008</a:t>
            </a:r>
            <a:endParaRPr lang="en-US" sz="1250" dirty="0"/>
          </a:p>
          <a:p>
            <a:pPr indent="0" marL="0">
              <a:buNone/>
            </a:pPr>
            <a:r>
              <a:rPr lang="en-US" sz="1250" dirty="0">
                <a:solidFill>
                  <a:srgbClr val="A9B3CC"/>
                </a:solidFill>
                <a:latin typeface="Calibri" pitchFamily="34" charset="0"/>
                <a:ea typeface="Calibri" pitchFamily="34" charset="-122"/>
                <a:cs typeface="Calibri" pitchFamily="34" charset="-120"/>
              </a:rPr>
              <a:t>Recommendations from clicks</a:t>
            </a:r>
            <a:endParaRPr lang="en-US" sz="1250" dirty="0"/>
          </a:p>
        </p:txBody>
      </p:sp>
      <p:sp>
        <p:nvSpPr>
          <p:cNvPr id="12" name="Text 10"/>
          <p:cNvSpPr txBox="1"/>
          <p:nvPr/>
        </p:nvSpPr>
        <p:spPr>
          <a:xfrm>
            <a:off x="822960" y="4663440"/>
            <a:ext cx="5303520" cy="475488"/>
          </a:xfrm>
          <a:prstGeom prst="rect">
            <a:avLst/>
          </a:prstGeom>
          <a:noFill/>
          <a:ln/>
        </p:spPr>
        <p:txBody>
          <a:bodyPr wrap="square" lIns="0" tIns="0" rIns="0" bIns="0"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FP-Growth — Han et al. 2000</a:t>
            </a:r>
            <a:endParaRPr lang="en-US" sz="1250" dirty="0"/>
          </a:p>
          <a:p>
            <a:pPr indent="0" marL="0">
              <a:buNone/>
            </a:pPr>
            <a:r>
              <a:rPr lang="en-US" sz="1250" dirty="0">
                <a:solidFill>
                  <a:srgbClr val="A9B3CC"/>
                </a:solidFill>
                <a:latin typeface="Calibri" pitchFamily="34" charset="0"/>
                <a:ea typeface="Calibri" pitchFamily="34" charset="-122"/>
                <a:cs typeface="Calibri" pitchFamily="34" charset="-120"/>
              </a:rPr>
              <a:t>Frequent itemsets</a:t>
            </a:r>
            <a:endParaRPr lang="en-US" sz="1250" dirty="0"/>
          </a:p>
        </p:txBody>
      </p:sp>
      <p:sp>
        <p:nvSpPr>
          <p:cNvPr id="13" name="Text 11"/>
          <p:cNvSpPr txBox="1"/>
          <p:nvPr/>
        </p:nvSpPr>
        <p:spPr>
          <a:xfrm>
            <a:off x="822960" y="5166360"/>
            <a:ext cx="5303520" cy="475488"/>
          </a:xfrm>
          <a:prstGeom prst="rect">
            <a:avLst/>
          </a:prstGeom>
          <a:noFill/>
          <a:ln/>
        </p:spPr>
        <p:txBody>
          <a:bodyPr wrap="square" lIns="0" tIns="0" rIns="0" bIns="0"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Prophet — Taylor &amp; Letham 2018</a:t>
            </a:r>
            <a:endParaRPr lang="en-US" sz="1250" dirty="0"/>
          </a:p>
          <a:p>
            <a:pPr indent="0" marL="0">
              <a:buNone/>
            </a:pPr>
            <a:r>
              <a:rPr lang="en-US" sz="1250" dirty="0">
                <a:solidFill>
                  <a:srgbClr val="A9B3CC"/>
                </a:solidFill>
                <a:latin typeface="Calibri" pitchFamily="34" charset="0"/>
                <a:ea typeface="Calibri" pitchFamily="34" charset="-122"/>
                <a:cs typeface="Calibri" pitchFamily="34" charset="-120"/>
              </a:rPr>
              <a:t>Holiday-aware forecasting</a:t>
            </a:r>
            <a:endParaRPr lang="en-US" sz="1250" dirty="0"/>
          </a:p>
        </p:txBody>
      </p:sp>
      <p:sp>
        <p:nvSpPr>
          <p:cNvPr id="14" name="Text 12"/>
          <p:cNvSpPr txBox="1"/>
          <p:nvPr/>
        </p:nvSpPr>
        <p:spPr>
          <a:xfrm>
            <a:off x="822960" y="5669280"/>
            <a:ext cx="5303520" cy="475488"/>
          </a:xfrm>
          <a:prstGeom prst="rect">
            <a:avLst/>
          </a:prstGeom>
          <a:noFill/>
          <a:ln/>
        </p:spPr>
        <p:txBody>
          <a:bodyPr wrap="square" lIns="0" tIns="0" rIns="0" bIns="0"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MAD outliers — Leys et al. 2013</a:t>
            </a:r>
            <a:endParaRPr lang="en-US" sz="1250" dirty="0"/>
          </a:p>
          <a:p>
            <a:pPr indent="0" marL="0">
              <a:buNone/>
            </a:pPr>
            <a:r>
              <a:rPr lang="en-US" sz="1250" dirty="0">
                <a:solidFill>
                  <a:srgbClr val="A9B3CC"/>
                </a:solidFill>
                <a:latin typeface="Calibri" pitchFamily="34" charset="0"/>
                <a:ea typeface="Calibri" pitchFamily="34" charset="-122"/>
                <a:cs typeface="Calibri" pitchFamily="34" charset="-120"/>
              </a:rPr>
              <a:t>Robust anomaly detection</a:t>
            </a:r>
            <a:endParaRPr lang="en-US" sz="1250" dirty="0"/>
          </a:p>
        </p:txBody>
      </p:sp>
      <p:sp>
        <p:nvSpPr>
          <p:cNvPr id="15" name="Text 13"/>
          <p:cNvSpPr txBox="1"/>
          <p:nvPr/>
        </p:nvSpPr>
        <p:spPr>
          <a:xfrm>
            <a:off x="6583680" y="1554480"/>
            <a:ext cx="5029200" cy="365760"/>
          </a:xfrm>
          <a:prstGeom prst="rect">
            <a:avLst/>
          </a:prstGeom>
          <a:noFill/>
          <a:ln/>
        </p:spPr>
        <p:txBody>
          <a:bodyPr wrap="square" lIns="0" tIns="0" rIns="0" bIns="0" rtlCol="0" anchor="ctr"/>
          <a:lstStyle/>
          <a:p>
            <a:pPr indent="0" marL="0">
              <a:buNone/>
            </a:pPr>
            <a:r>
              <a:rPr lang="en-US" sz="1500" b="1" dirty="0">
                <a:solidFill>
                  <a:srgbClr val="06B6D4"/>
                </a:solidFill>
                <a:latin typeface="Arial" pitchFamily="34" charset="0"/>
                <a:ea typeface="Arial" pitchFamily="34" charset="-122"/>
                <a:cs typeface="Arial" pitchFamily="34" charset="-120"/>
              </a:rPr>
              <a:t>Gap  →  how ShopSense addresses it</a:t>
            </a:r>
            <a:endParaRPr lang="en-US" sz="1500" dirty="0"/>
          </a:p>
        </p:txBody>
      </p:sp>
      <p:sp>
        <p:nvSpPr>
          <p:cNvPr id="16" name="Shape 14"/>
          <p:cNvSpPr/>
          <p:nvPr/>
        </p:nvSpPr>
        <p:spPr>
          <a:xfrm>
            <a:off x="6583680" y="2011680"/>
            <a:ext cx="5029200" cy="603504"/>
          </a:xfrm>
          <a:prstGeom prst="roundRect">
            <a:avLst>
              <a:gd name="adj" fmla="val 18182"/>
            </a:avLst>
          </a:prstGeom>
          <a:solidFill>
            <a:srgbClr val="1C2540"/>
          </a:solidFill>
          <a:ln w="9525">
            <a:solidFill>
              <a:srgbClr val="2A3556"/>
            </a:solidFill>
            <a:prstDash val="solid"/>
          </a:ln>
        </p:spPr>
      </p:sp>
      <p:sp>
        <p:nvSpPr>
          <p:cNvPr id="17" name="Text 15"/>
          <p:cNvSpPr txBox="1"/>
          <p:nvPr/>
        </p:nvSpPr>
        <p:spPr>
          <a:xfrm>
            <a:off x="6766560" y="2011680"/>
            <a:ext cx="4754880" cy="603504"/>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Isolated solutions  </a:t>
            </a:r>
            <a:pPr indent="0" marL="0">
              <a:buNone/>
            </a:pPr>
            <a:r>
              <a:rPr lang="en-US" sz="1300" dirty="0">
                <a:solidFill>
                  <a:srgbClr val="A9B3CC"/>
                </a:solidFill>
                <a:latin typeface="Calibri" pitchFamily="34" charset="0"/>
                <a:ea typeface="Calibri" pitchFamily="34" charset="-122"/>
                <a:cs typeface="Calibri" pitchFamily="34" charset="-120"/>
              </a:rPr>
              <a:t>→ One pipeline feeds all models + Customer 360</a:t>
            </a:r>
            <a:endParaRPr lang="en-US" sz="1300" dirty="0"/>
          </a:p>
        </p:txBody>
      </p:sp>
      <p:sp>
        <p:nvSpPr>
          <p:cNvPr id="18" name="Shape 16"/>
          <p:cNvSpPr/>
          <p:nvPr/>
        </p:nvSpPr>
        <p:spPr>
          <a:xfrm>
            <a:off x="6583680" y="2724912"/>
            <a:ext cx="5029200" cy="603504"/>
          </a:xfrm>
          <a:prstGeom prst="roundRect">
            <a:avLst>
              <a:gd name="adj" fmla="val 18182"/>
            </a:avLst>
          </a:prstGeom>
          <a:solidFill>
            <a:srgbClr val="1C2540"/>
          </a:solidFill>
          <a:ln w="9525">
            <a:solidFill>
              <a:srgbClr val="2A3556"/>
            </a:solidFill>
            <a:prstDash val="solid"/>
          </a:ln>
        </p:spPr>
      </p:sp>
      <p:sp>
        <p:nvSpPr>
          <p:cNvPr id="19" name="Text 17"/>
          <p:cNvSpPr txBox="1"/>
          <p:nvPr/>
        </p:nvSpPr>
        <p:spPr>
          <a:xfrm>
            <a:off x="6766560" y="2724912"/>
            <a:ext cx="4754880" cy="603504"/>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Temporal leakage in churn  </a:t>
            </a:r>
            <a:pPr indent="0" marL="0">
              <a:buNone/>
            </a:pPr>
            <a:r>
              <a:rPr lang="en-US" sz="1300" dirty="0">
                <a:solidFill>
                  <a:srgbClr val="A9B3CC"/>
                </a:solidFill>
                <a:latin typeface="Calibri" pitchFamily="34" charset="0"/>
                <a:ea typeface="Calibri" pitchFamily="34" charset="-122"/>
                <a:cs typeface="Calibri" pitchFamily="34" charset="-120"/>
              </a:rPr>
              <a:t>→ Strict observation / label windows</a:t>
            </a:r>
            <a:endParaRPr lang="en-US" sz="1300" dirty="0"/>
          </a:p>
        </p:txBody>
      </p:sp>
      <p:sp>
        <p:nvSpPr>
          <p:cNvPr id="20" name="Shape 18"/>
          <p:cNvSpPr/>
          <p:nvPr/>
        </p:nvSpPr>
        <p:spPr>
          <a:xfrm>
            <a:off x="6583680" y="3438144"/>
            <a:ext cx="5029200" cy="603504"/>
          </a:xfrm>
          <a:prstGeom prst="roundRect">
            <a:avLst>
              <a:gd name="adj" fmla="val 18182"/>
            </a:avLst>
          </a:prstGeom>
          <a:solidFill>
            <a:srgbClr val="1C2540"/>
          </a:solidFill>
          <a:ln w="9525">
            <a:solidFill>
              <a:srgbClr val="2A3556"/>
            </a:solidFill>
            <a:prstDash val="solid"/>
          </a:ln>
        </p:spPr>
      </p:sp>
      <p:sp>
        <p:nvSpPr>
          <p:cNvPr id="21" name="Text 19"/>
          <p:cNvSpPr txBox="1"/>
          <p:nvPr/>
        </p:nvSpPr>
        <p:spPr>
          <a:xfrm>
            <a:off x="6766560" y="3438144"/>
            <a:ext cx="4754880" cy="603504"/>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Explicit-rating assumption  </a:t>
            </a:r>
            <a:pPr indent="0" marL="0">
              <a:buNone/>
            </a:pPr>
            <a:r>
              <a:rPr lang="en-US" sz="1300" dirty="0">
                <a:solidFill>
                  <a:srgbClr val="A9B3CC"/>
                </a:solidFill>
                <a:latin typeface="Calibri" pitchFamily="34" charset="0"/>
                <a:ea typeface="Calibri" pitchFamily="34" charset="-122"/>
                <a:cs typeface="Calibri" pitchFamily="34" charset="-120"/>
              </a:rPr>
              <a:t>→ Implicit views, carts &amp; purchases</a:t>
            </a:r>
            <a:endParaRPr lang="en-US" sz="1300" dirty="0"/>
          </a:p>
        </p:txBody>
      </p:sp>
      <p:sp>
        <p:nvSpPr>
          <p:cNvPr id="22" name="Shape 20"/>
          <p:cNvSpPr/>
          <p:nvPr/>
        </p:nvSpPr>
        <p:spPr>
          <a:xfrm>
            <a:off x="6583680" y="4151376"/>
            <a:ext cx="5029200" cy="603504"/>
          </a:xfrm>
          <a:prstGeom prst="roundRect">
            <a:avLst>
              <a:gd name="adj" fmla="val 18182"/>
            </a:avLst>
          </a:prstGeom>
          <a:solidFill>
            <a:srgbClr val="1C2540"/>
          </a:solidFill>
          <a:ln w="9525">
            <a:solidFill>
              <a:srgbClr val="2A3556"/>
            </a:solidFill>
            <a:prstDash val="solid"/>
          </a:ln>
        </p:spPr>
      </p:sp>
      <p:sp>
        <p:nvSpPr>
          <p:cNvPr id="23" name="Text 21"/>
          <p:cNvSpPr txBox="1"/>
          <p:nvPr/>
        </p:nvSpPr>
        <p:spPr>
          <a:xfrm>
            <a:off x="6766560" y="4151376"/>
            <a:ext cx="4754880" cy="603504"/>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Data quality ignored  </a:t>
            </a:r>
            <a:pPr indent="0" marL="0">
              <a:buNone/>
            </a:pPr>
            <a:r>
              <a:rPr lang="en-US" sz="1300" dirty="0">
                <a:solidFill>
                  <a:srgbClr val="A9B3CC"/>
                </a:solidFill>
                <a:latin typeface="Calibri" pitchFamily="34" charset="0"/>
                <a:ea typeface="Calibri" pitchFamily="34" charset="-122"/>
                <a:cs typeface="Calibri" pitchFamily="34" charset="-120"/>
              </a:rPr>
              <a:t>→ Measured cleaning with a DQ report</a:t>
            </a:r>
            <a:endParaRPr lang="en-US" sz="1300" dirty="0"/>
          </a:p>
        </p:txBody>
      </p:sp>
      <p:sp>
        <p:nvSpPr>
          <p:cNvPr id="24" name="Shape 22"/>
          <p:cNvSpPr/>
          <p:nvPr/>
        </p:nvSpPr>
        <p:spPr>
          <a:xfrm>
            <a:off x="6583680" y="4864608"/>
            <a:ext cx="5029200" cy="603504"/>
          </a:xfrm>
          <a:prstGeom prst="roundRect">
            <a:avLst>
              <a:gd name="adj" fmla="val 18182"/>
            </a:avLst>
          </a:prstGeom>
          <a:solidFill>
            <a:srgbClr val="1C2540"/>
          </a:solidFill>
          <a:ln w="9525">
            <a:solidFill>
              <a:srgbClr val="2A3556"/>
            </a:solidFill>
            <a:prstDash val="solid"/>
          </a:ln>
        </p:spPr>
      </p:sp>
      <p:sp>
        <p:nvSpPr>
          <p:cNvPr id="25" name="Text 23"/>
          <p:cNvSpPr txBox="1"/>
          <p:nvPr/>
        </p:nvSpPr>
        <p:spPr>
          <a:xfrm>
            <a:off x="6766560" y="4864608"/>
            <a:ext cx="4754880" cy="603504"/>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Naïve forecasts &amp; alarms  </a:t>
            </a:r>
            <a:pPr indent="0" marL="0">
              <a:buNone/>
            </a:pPr>
            <a:r>
              <a:rPr lang="en-US" sz="1300" dirty="0">
                <a:solidFill>
                  <a:srgbClr val="A9B3CC"/>
                </a:solidFill>
                <a:latin typeface="Calibri" pitchFamily="34" charset="0"/>
                <a:ea typeface="Calibri" pitchFamily="34" charset="-122"/>
                <a:cs typeface="Calibri" pitchFamily="34" charset="-120"/>
              </a:rPr>
              <a:t>→ Sale-calendar features, robust residual z-score</a:t>
            </a:r>
            <a:endParaRPr lang="en-US" sz="1300" dirty="0"/>
          </a:p>
        </p:txBody>
      </p:sp>
      <p:sp>
        <p:nvSpPr>
          <p:cNvPr id="26" name="Shape 24"/>
          <p:cNvSpPr/>
          <p:nvPr/>
        </p:nvSpPr>
        <p:spPr>
          <a:xfrm>
            <a:off x="6583680" y="5577840"/>
            <a:ext cx="5029200" cy="603504"/>
          </a:xfrm>
          <a:prstGeom prst="roundRect">
            <a:avLst>
              <a:gd name="adj" fmla="val 18182"/>
            </a:avLst>
          </a:prstGeom>
          <a:solidFill>
            <a:srgbClr val="1C2540"/>
          </a:solidFill>
          <a:ln w="9525">
            <a:solidFill>
              <a:srgbClr val="2A3556"/>
            </a:solidFill>
            <a:prstDash val="solid"/>
          </a:ln>
        </p:spPr>
      </p:sp>
      <p:sp>
        <p:nvSpPr>
          <p:cNvPr id="27" name="Text 25"/>
          <p:cNvSpPr txBox="1"/>
          <p:nvPr/>
        </p:nvSpPr>
        <p:spPr>
          <a:xfrm>
            <a:off x="6766560" y="5577840"/>
            <a:ext cx="4754880" cy="603504"/>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Metrics, not actions  </a:t>
            </a:r>
            <a:pPr indent="0" marL="0">
              <a:buNone/>
            </a:pPr>
            <a:r>
              <a:rPr lang="en-US" sz="1300" dirty="0">
                <a:solidFill>
                  <a:srgbClr val="A9B3CC"/>
                </a:solidFill>
                <a:latin typeface="Calibri" pitchFamily="34" charset="0"/>
                <a:ea typeface="Calibri" pitchFamily="34" charset="-122"/>
                <a:cs typeface="Calibri" pitchFamily="34" charset="-120"/>
              </a:rPr>
              <a:t>→ Playbooks, explanations, simulator, CSV export</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020"/>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200" b="1" spc="300" kern="0" dirty="0">
                <a:solidFill>
                  <a:srgbClr val="06B6D4"/>
                </a:solidFill>
                <a:latin typeface="Calibri" pitchFamily="34" charset="0"/>
                <a:ea typeface="Calibri" pitchFamily="34" charset="-122"/>
                <a:cs typeface="Calibri" pitchFamily="34" charset="-120"/>
              </a:rPr>
              <a:t>PYTHON + SPARK + MONGODB + MACHINE LEARNING</a:t>
            </a:r>
            <a:endParaRPr lang="en-US" sz="1200" dirty="0"/>
          </a:p>
        </p:txBody>
      </p:sp>
      <p:sp>
        <p:nvSpPr>
          <p:cNvPr id="3" name="Text 1"/>
          <p:cNvSpPr txBox="1"/>
          <p:nvPr/>
        </p:nvSpPr>
        <p:spPr>
          <a:xfrm>
            <a:off x="548640" y="603504"/>
            <a:ext cx="11064240" cy="685800"/>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Technology stack</a:t>
            </a:r>
            <a:endParaRPr lang="en-US" sz="3200" dirty="0"/>
          </a:p>
        </p:txBody>
      </p:sp>
      <p:sp>
        <p:nvSpPr>
          <p:cNvPr id="4" name="Text 2"/>
          <p:cNvSpPr txBox="1"/>
          <p:nvPr/>
        </p:nvSpPr>
        <p:spPr>
          <a:xfrm>
            <a:off x="8412480" y="6446520"/>
            <a:ext cx="3246120" cy="274320"/>
          </a:xfrm>
          <a:prstGeom prst="rect">
            <a:avLst/>
          </a:prstGeom>
          <a:noFill/>
          <a:ln/>
        </p:spPr>
        <p:txBody>
          <a:bodyPr wrap="square" lIns="0" tIns="0" rIns="0" bIns="0" rtlCol="0" anchor="ctr"/>
          <a:lstStyle/>
          <a:p>
            <a:pPr algn="r" indent="0" marL="0">
              <a:buNone/>
            </a:pPr>
            <a:r>
              <a:rPr lang="en-US" sz="1000" dirty="0">
                <a:solidFill>
                  <a:srgbClr val="7D88A6"/>
                </a:solidFill>
                <a:latin typeface="Calibri" pitchFamily="34" charset="0"/>
                <a:ea typeface="Calibri" pitchFamily="34" charset="-122"/>
                <a:cs typeface="Calibri" pitchFamily="34" charset="-120"/>
              </a:rPr>
              <a:t>ShopSense · Big Data Analytics  |  7</a:t>
            </a:r>
            <a:endParaRPr lang="en-US" sz="1000" dirty="0"/>
          </a:p>
        </p:txBody>
      </p:sp>
      <p:sp>
        <p:nvSpPr>
          <p:cNvPr id="5" name="Shape 3"/>
          <p:cNvSpPr/>
          <p:nvPr/>
        </p:nvSpPr>
        <p:spPr>
          <a:xfrm>
            <a:off x="548640" y="1645920"/>
            <a:ext cx="3474720" cy="2057400"/>
          </a:xfrm>
          <a:prstGeom prst="roundRect">
            <a:avLst>
              <a:gd name="adj" fmla="val 5333"/>
            </a:avLst>
          </a:prstGeom>
          <a:solidFill>
            <a:srgbClr val="151C30"/>
          </a:solidFill>
          <a:ln w="9525">
            <a:solidFill>
              <a:srgbClr val="2A3556"/>
            </a:solidFill>
            <a:prstDash val="solid"/>
          </a:ln>
        </p:spPr>
      </p:sp>
      <p:sp>
        <p:nvSpPr>
          <p:cNvPr id="6" name="Shape 4"/>
          <p:cNvSpPr/>
          <p:nvPr/>
        </p:nvSpPr>
        <p:spPr>
          <a:xfrm>
            <a:off x="868680" y="1965960"/>
            <a:ext cx="777240" cy="777240"/>
          </a:xfrm>
          <a:prstGeom prst="ellipse">
            <a:avLst/>
          </a:prstGeom>
          <a:solidFill>
            <a:srgbClr val="3776AB"/>
          </a:solidFill>
          <a:ln w="12700">
            <a:solidFill>
              <a:srgbClr val="3776AB"/>
            </a:solidFill>
            <a:prstDash val="solid"/>
          </a:ln>
        </p:spPr>
      </p:sp>
      <p:pic>
        <p:nvPicPr>
          <p:cNvPr id="7" name="Image 0" descr="preencoded.png">    </p:cNvPr>
          <p:cNvPicPr>
            <a:picLocks noChangeAspect="1"/>
          </p:cNvPicPr>
          <p:nvPr/>
        </p:nvPicPr>
        <p:blipFill>
          <a:blip r:embed="rId1"/>
          <a:stretch>
            <a:fillRect/>
          </a:stretch>
        </p:blipFill>
        <p:spPr>
          <a:xfrm>
            <a:off x="1055218" y="2152498"/>
            <a:ext cx="404165" cy="404165"/>
          </a:xfrm>
          <a:prstGeom prst="rect">
            <a:avLst/>
          </a:prstGeom>
        </p:spPr>
      </p:pic>
      <p:sp>
        <p:nvSpPr>
          <p:cNvPr id="8" name="Text 5"/>
          <p:cNvSpPr txBox="1"/>
          <p:nvPr/>
        </p:nvSpPr>
        <p:spPr>
          <a:xfrm>
            <a:off x="868680" y="2834640"/>
            <a:ext cx="2926080" cy="384048"/>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Python 3.11</a:t>
            </a:r>
            <a:endParaRPr lang="en-US" sz="1900" dirty="0"/>
          </a:p>
        </p:txBody>
      </p:sp>
      <p:sp>
        <p:nvSpPr>
          <p:cNvPr id="9" name="Text 6"/>
          <p:cNvSpPr txBox="1"/>
          <p:nvPr/>
        </p:nvSpPr>
        <p:spPr>
          <a:xfrm>
            <a:off x="868680" y="3218688"/>
            <a:ext cx="3017520" cy="411480"/>
          </a:xfrm>
          <a:prstGeom prst="rect">
            <a:avLst/>
          </a:prstGeom>
          <a:noFill/>
          <a:ln/>
        </p:spPr>
        <p:txBody>
          <a:bodyPr wrap="square" lIns="0" tIns="0" rIns="0" bIns="0" rtlCol="0" anchor="ctr"/>
          <a:lstStyle/>
          <a:p>
            <a:pPr indent="0" marL="0">
              <a:buNone/>
            </a:pPr>
            <a:r>
              <a:rPr lang="en-US" sz="1400" dirty="0">
                <a:solidFill>
                  <a:srgbClr val="A9B3CC"/>
                </a:solidFill>
                <a:latin typeface="Calibri" pitchFamily="34" charset="0"/>
                <a:ea typeface="Calibri" pitchFamily="34" charset="-122"/>
                <a:cs typeface="Calibri" pitchFamily="34" charset="-120"/>
              </a:rPr>
              <a:t>Pipeline, ML &amp; API code</a:t>
            </a:r>
            <a:endParaRPr lang="en-US" sz="1400" dirty="0"/>
          </a:p>
        </p:txBody>
      </p:sp>
      <p:sp>
        <p:nvSpPr>
          <p:cNvPr id="10" name="Shape 7"/>
          <p:cNvSpPr/>
          <p:nvPr/>
        </p:nvSpPr>
        <p:spPr>
          <a:xfrm>
            <a:off x="4297680" y="1645920"/>
            <a:ext cx="3474720" cy="2057400"/>
          </a:xfrm>
          <a:prstGeom prst="roundRect">
            <a:avLst>
              <a:gd name="adj" fmla="val 5333"/>
            </a:avLst>
          </a:prstGeom>
          <a:solidFill>
            <a:srgbClr val="151C30"/>
          </a:solidFill>
          <a:ln w="9525">
            <a:solidFill>
              <a:srgbClr val="2A3556"/>
            </a:solidFill>
            <a:prstDash val="solid"/>
          </a:ln>
        </p:spPr>
      </p:sp>
      <p:sp>
        <p:nvSpPr>
          <p:cNvPr id="11" name="Shape 8"/>
          <p:cNvSpPr/>
          <p:nvPr/>
        </p:nvSpPr>
        <p:spPr>
          <a:xfrm>
            <a:off x="4617720" y="1965960"/>
            <a:ext cx="777240" cy="777240"/>
          </a:xfrm>
          <a:prstGeom prst="ellipse">
            <a:avLst/>
          </a:prstGeom>
          <a:solidFill>
            <a:srgbClr val="E25A1C"/>
          </a:solidFill>
          <a:ln w="12700">
            <a:solidFill>
              <a:srgbClr val="E25A1C"/>
            </a:solidFill>
            <a:prstDash val="solid"/>
          </a:ln>
        </p:spPr>
      </p:sp>
      <p:pic>
        <p:nvPicPr>
          <p:cNvPr id="12" name="Image 1" descr="preencoded.png">    </p:cNvPr>
          <p:cNvPicPr>
            <a:picLocks noChangeAspect="1"/>
          </p:cNvPicPr>
          <p:nvPr/>
        </p:nvPicPr>
        <p:blipFill>
          <a:blip r:embed="rId2"/>
          <a:stretch>
            <a:fillRect/>
          </a:stretch>
        </p:blipFill>
        <p:spPr>
          <a:xfrm>
            <a:off x="4804258" y="2152498"/>
            <a:ext cx="404165" cy="404165"/>
          </a:xfrm>
          <a:prstGeom prst="rect">
            <a:avLst/>
          </a:prstGeom>
        </p:spPr>
      </p:pic>
      <p:sp>
        <p:nvSpPr>
          <p:cNvPr id="13" name="Text 9"/>
          <p:cNvSpPr txBox="1"/>
          <p:nvPr/>
        </p:nvSpPr>
        <p:spPr>
          <a:xfrm>
            <a:off x="4617720" y="2834640"/>
            <a:ext cx="2926080" cy="384048"/>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Apache Spark 3.5</a:t>
            </a:r>
            <a:endParaRPr lang="en-US" sz="1900" dirty="0"/>
          </a:p>
        </p:txBody>
      </p:sp>
      <p:sp>
        <p:nvSpPr>
          <p:cNvPr id="14" name="Text 10"/>
          <p:cNvSpPr txBox="1"/>
          <p:nvPr/>
        </p:nvSpPr>
        <p:spPr>
          <a:xfrm>
            <a:off x="4617720" y="3218688"/>
            <a:ext cx="3017520" cy="411480"/>
          </a:xfrm>
          <a:prstGeom prst="rect">
            <a:avLst/>
          </a:prstGeom>
          <a:noFill/>
          <a:ln/>
        </p:spPr>
        <p:txBody>
          <a:bodyPr wrap="square" lIns="0" tIns="0" rIns="0" bIns="0" rtlCol="0" anchor="ctr"/>
          <a:lstStyle/>
          <a:p>
            <a:pPr indent="0" marL="0">
              <a:buNone/>
            </a:pPr>
            <a:r>
              <a:rPr lang="en-US" sz="1400" dirty="0">
                <a:solidFill>
                  <a:srgbClr val="A9B3CC"/>
                </a:solidFill>
                <a:latin typeface="Calibri" pitchFamily="34" charset="0"/>
                <a:ea typeface="Calibri" pitchFamily="34" charset="-122"/>
                <a:cs typeface="Calibri" pitchFamily="34" charset="-120"/>
              </a:rPr>
              <a:t>PySpark DataFrames, Spark SQL</a:t>
            </a:r>
            <a:endParaRPr lang="en-US" sz="1400" dirty="0"/>
          </a:p>
        </p:txBody>
      </p:sp>
      <p:sp>
        <p:nvSpPr>
          <p:cNvPr id="15" name="Shape 11"/>
          <p:cNvSpPr/>
          <p:nvPr/>
        </p:nvSpPr>
        <p:spPr>
          <a:xfrm>
            <a:off x="8046720" y="1645920"/>
            <a:ext cx="3474720" cy="2057400"/>
          </a:xfrm>
          <a:prstGeom prst="roundRect">
            <a:avLst>
              <a:gd name="adj" fmla="val 5333"/>
            </a:avLst>
          </a:prstGeom>
          <a:solidFill>
            <a:srgbClr val="151C30"/>
          </a:solidFill>
          <a:ln w="9525">
            <a:solidFill>
              <a:srgbClr val="2A3556"/>
            </a:solidFill>
            <a:prstDash val="solid"/>
          </a:ln>
        </p:spPr>
      </p:sp>
      <p:sp>
        <p:nvSpPr>
          <p:cNvPr id="16" name="Shape 12"/>
          <p:cNvSpPr/>
          <p:nvPr/>
        </p:nvSpPr>
        <p:spPr>
          <a:xfrm>
            <a:off x="8366760" y="1965960"/>
            <a:ext cx="777240" cy="777240"/>
          </a:xfrm>
          <a:prstGeom prst="ellipse">
            <a:avLst/>
          </a:prstGeom>
          <a:solidFill>
            <a:srgbClr val="8B5CF6"/>
          </a:solidFill>
          <a:ln w="12700">
            <a:solidFill>
              <a:srgbClr val="8B5CF6"/>
            </a:solidFill>
            <a:prstDash val="solid"/>
          </a:ln>
        </p:spPr>
      </p:sp>
      <p:pic>
        <p:nvPicPr>
          <p:cNvPr id="17" name="Image 2" descr="preencoded.png">    </p:cNvPr>
          <p:cNvPicPr>
            <a:picLocks noChangeAspect="1"/>
          </p:cNvPicPr>
          <p:nvPr/>
        </p:nvPicPr>
        <p:blipFill>
          <a:blip r:embed="rId3"/>
          <a:stretch>
            <a:fillRect/>
          </a:stretch>
        </p:blipFill>
        <p:spPr>
          <a:xfrm>
            <a:off x="8553298" y="2152498"/>
            <a:ext cx="404165" cy="404165"/>
          </a:xfrm>
          <a:prstGeom prst="rect">
            <a:avLst/>
          </a:prstGeom>
        </p:spPr>
      </p:pic>
      <p:sp>
        <p:nvSpPr>
          <p:cNvPr id="18" name="Text 13"/>
          <p:cNvSpPr txBox="1"/>
          <p:nvPr/>
        </p:nvSpPr>
        <p:spPr>
          <a:xfrm>
            <a:off x="8366760" y="2834640"/>
            <a:ext cx="2926080" cy="384048"/>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Spark MLlib</a:t>
            </a:r>
            <a:endParaRPr lang="en-US" sz="1900" dirty="0"/>
          </a:p>
        </p:txBody>
      </p:sp>
      <p:sp>
        <p:nvSpPr>
          <p:cNvPr id="19" name="Text 14"/>
          <p:cNvSpPr txBox="1"/>
          <p:nvPr/>
        </p:nvSpPr>
        <p:spPr>
          <a:xfrm>
            <a:off x="8366760" y="3218688"/>
            <a:ext cx="3017520" cy="411480"/>
          </a:xfrm>
          <a:prstGeom prst="rect">
            <a:avLst/>
          </a:prstGeom>
          <a:noFill/>
          <a:ln/>
        </p:spPr>
        <p:txBody>
          <a:bodyPr wrap="square" lIns="0" tIns="0" rIns="0" bIns="0" rtlCol="0" anchor="ctr"/>
          <a:lstStyle/>
          <a:p>
            <a:pPr indent="0" marL="0">
              <a:buNone/>
            </a:pPr>
            <a:r>
              <a:rPr lang="en-US" sz="1400" dirty="0">
                <a:solidFill>
                  <a:srgbClr val="A9B3CC"/>
                </a:solidFill>
                <a:latin typeface="Calibri" pitchFamily="34" charset="0"/>
                <a:ea typeface="Calibri" pitchFamily="34" charset="-122"/>
                <a:cs typeface="Calibri" pitchFamily="34" charset="-120"/>
              </a:rPr>
              <a:t>K-Means · LR · RF · GBT · ALS · FP-Growth</a:t>
            </a:r>
            <a:endParaRPr lang="en-US" sz="1400" dirty="0"/>
          </a:p>
        </p:txBody>
      </p:sp>
      <p:sp>
        <p:nvSpPr>
          <p:cNvPr id="20" name="Shape 15"/>
          <p:cNvSpPr/>
          <p:nvPr/>
        </p:nvSpPr>
        <p:spPr>
          <a:xfrm>
            <a:off x="548640" y="3977640"/>
            <a:ext cx="3474720" cy="2057400"/>
          </a:xfrm>
          <a:prstGeom prst="roundRect">
            <a:avLst>
              <a:gd name="adj" fmla="val 5333"/>
            </a:avLst>
          </a:prstGeom>
          <a:solidFill>
            <a:srgbClr val="151C30"/>
          </a:solidFill>
          <a:ln w="9525">
            <a:solidFill>
              <a:srgbClr val="2A3556"/>
            </a:solidFill>
            <a:prstDash val="solid"/>
          </a:ln>
        </p:spPr>
      </p:sp>
      <p:sp>
        <p:nvSpPr>
          <p:cNvPr id="21" name="Shape 16"/>
          <p:cNvSpPr/>
          <p:nvPr/>
        </p:nvSpPr>
        <p:spPr>
          <a:xfrm>
            <a:off x="868680" y="4297680"/>
            <a:ext cx="777240" cy="777240"/>
          </a:xfrm>
          <a:prstGeom prst="ellipse">
            <a:avLst/>
          </a:prstGeom>
          <a:solidFill>
            <a:srgbClr val="13AA52"/>
          </a:solidFill>
          <a:ln w="12700">
            <a:solidFill>
              <a:srgbClr val="13AA52"/>
            </a:solidFill>
            <a:prstDash val="solid"/>
          </a:ln>
        </p:spPr>
      </p:sp>
      <p:pic>
        <p:nvPicPr>
          <p:cNvPr id="22" name="Image 3" descr="preencoded.png">    </p:cNvPr>
          <p:cNvPicPr>
            <a:picLocks noChangeAspect="1"/>
          </p:cNvPicPr>
          <p:nvPr/>
        </p:nvPicPr>
        <p:blipFill>
          <a:blip r:embed="rId4"/>
          <a:stretch>
            <a:fillRect/>
          </a:stretch>
        </p:blipFill>
        <p:spPr>
          <a:xfrm>
            <a:off x="1055218" y="4484218"/>
            <a:ext cx="404165" cy="404165"/>
          </a:xfrm>
          <a:prstGeom prst="rect">
            <a:avLst/>
          </a:prstGeom>
        </p:spPr>
      </p:pic>
      <p:sp>
        <p:nvSpPr>
          <p:cNvPr id="23" name="Text 17"/>
          <p:cNvSpPr txBox="1"/>
          <p:nvPr/>
        </p:nvSpPr>
        <p:spPr>
          <a:xfrm>
            <a:off x="868680" y="5166360"/>
            <a:ext cx="2926080" cy="384048"/>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MongoDB 8</a:t>
            </a:r>
            <a:endParaRPr lang="en-US" sz="1900" dirty="0"/>
          </a:p>
        </p:txBody>
      </p:sp>
      <p:sp>
        <p:nvSpPr>
          <p:cNvPr id="24" name="Text 18"/>
          <p:cNvSpPr txBox="1"/>
          <p:nvPr/>
        </p:nvSpPr>
        <p:spPr>
          <a:xfrm>
            <a:off x="868680" y="5550408"/>
            <a:ext cx="3017520" cy="411480"/>
          </a:xfrm>
          <a:prstGeom prst="rect">
            <a:avLst/>
          </a:prstGeom>
          <a:noFill/>
          <a:ln/>
        </p:spPr>
        <p:txBody>
          <a:bodyPr wrap="square" lIns="0" tIns="0" rIns="0" bIns="0" rtlCol="0" anchor="ctr"/>
          <a:lstStyle/>
          <a:p>
            <a:pPr indent="0" marL="0">
              <a:buNone/>
            </a:pPr>
            <a:r>
              <a:rPr lang="en-US" sz="1400" dirty="0">
                <a:solidFill>
                  <a:srgbClr val="A9B3CC"/>
                </a:solidFill>
                <a:latin typeface="Calibri" pitchFamily="34" charset="0"/>
                <a:ea typeface="Calibri" pitchFamily="34" charset="-122"/>
                <a:cs typeface="Calibri" pitchFamily="34" charset="-120"/>
              </a:rPr>
              <a:t>Document store, aggregation pipelines</a:t>
            </a:r>
            <a:endParaRPr lang="en-US" sz="1400" dirty="0"/>
          </a:p>
        </p:txBody>
      </p:sp>
      <p:sp>
        <p:nvSpPr>
          <p:cNvPr id="25" name="Shape 19"/>
          <p:cNvSpPr/>
          <p:nvPr/>
        </p:nvSpPr>
        <p:spPr>
          <a:xfrm>
            <a:off x="4297680" y="3977640"/>
            <a:ext cx="3474720" cy="2057400"/>
          </a:xfrm>
          <a:prstGeom prst="roundRect">
            <a:avLst>
              <a:gd name="adj" fmla="val 5333"/>
            </a:avLst>
          </a:prstGeom>
          <a:solidFill>
            <a:srgbClr val="151C30"/>
          </a:solidFill>
          <a:ln w="9525">
            <a:solidFill>
              <a:srgbClr val="2A3556"/>
            </a:solidFill>
            <a:prstDash val="solid"/>
          </a:ln>
        </p:spPr>
      </p:sp>
      <p:sp>
        <p:nvSpPr>
          <p:cNvPr id="26" name="Shape 20"/>
          <p:cNvSpPr/>
          <p:nvPr/>
        </p:nvSpPr>
        <p:spPr>
          <a:xfrm>
            <a:off x="4617720" y="4297680"/>
            <a:ext cx="777240" cy="777240"/>
          </a:xfrm>
          <a:prstGeom prst="ellipse">
            <a:avLst/>
          </a:prstGeom>
          <a:solidFill>
            <a:srgbClr val="059669"/>
          </a:solidFill>
          <a:ln w="12700">
            <a:solidFill>
              <a:srgbClr val="059669"/>
            </a:solidFill>
            <a:prstDash val="solid"/>
          </a:ln>
        </p:spPr>
      </p:sp>
      <p:pic>
        <p:nvPicPr>
          <p:cNvPr id="27" name="Image 4" descr="preencoded.png">    </p:cNvPr>
          <p:cNvPicPr>
            <a:picLocks noChangeAspect="1"/>
          </p:cNvPicPr>
          <p:nvPr/>
        </p:nvPicPr>
        <p:blipFill>
          <a:blip r:embed="rId5"/>
          <a:stretch>
            <a:fillRect/>
          </a:stretch>
        </p:blipFill>
        <p:spPr>
          <a:xfrm>
            <a:off x="4804258" y="4484218"/>
            <a:ext cx="404165" cy="404165"/>
          </a:xfrm>
          <a:prstGeom prst="rect">
            <a:avLst/>
          </a:prstGeom>
        </p:spPr>
      </p:pic>
      <p:sp>
        <p:nvSpPr>
          <p:cNvPr id="28" name="Text 21"/>
          <p:cNvSpPr txBox="1"/>
          <p:nvPr/>
        </p:nvSpPr>
        <p:spPr>
          <a:xfrm>
            <a:off x="4617720" y="5166360"/>
            <a:ext cx="2926080" cy="384048"/>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FastAPI</a:t>
            </a:r>
            <a:endParaRPr lang="en-US" sz="1900" dirty="0"/>
          </a:p>
        </p:txBody>
      </p:sp>
      <p:sp>
        <p:nvSpPr>
          <p:cNvPr id="29" name="Text 22"/>
          <p:cNvSpPr txBox="1"/>
          <p:nvPr/>
        </p:nvSpPr>
        <p:spPr>
          <a:xfrm>
            <a:off x="4617720" y="5550408"/>
            <a:ext cx="3017520" cy="411480"/>
          </a:xfrm>
          <a:prstGeom prst="rect">
            <a:avLst/>
          </a:prstGeom>
          <a:noFill/>
          <a:ln/>
        </p:spPr>
        <p:txBody>
          <a:bodyPr wrap="square" lIns="0" tIns="0" rIns="0" bIns="0" rtlCol="0" anchor="ctr"/>
          <a:lstStyle/>
          <a:p>
            <a:pPr indent="0" marL="0">
              <a:buNone/>
            </a:pPr>
            <a:r>
              <a:rPr lang="en-US" sz="1400" dirty="0">
                <a:solidFill>
                  <a:srgbClr val="A9B3CC"/>
                </a:solidFill>
                <a:latin typeface="Calibri" pitchFamily="34" charset="0"/>
                <a:ea typeface="Calibri" pitchFamily="34" charset="-122"/>
                <a:cs typeface="Calibri" pitchFamily="34" charset="-120"/>
              </a:rPr>
              <a:t>29 REST endpoints + Swagger docs</a:t>
            </a:r>
            <a:endParaRPr lang="en-US" sz="1400" dirty="0"/>
          </a:p>
        </p:txBody>
      </p:sp>
      <p:sp>
        <p:nvSpPr>
          <p:cNvPr id="30" name="Shape 23"/>
          <p:cNvSpPr/>
          <p:nvPr/>
        </p:nvSpPr>
        <p:spPr>
          <a:xfrm>
            <a:off x="8046720" y="3977640"/>
            <a:ext cx="3474720" cy="2057400"/>
          </a:xfrm>
          <a:prstGeom prst="roundRect">
            <a:avLst>
              <a:gd name="adj" fmla="val 5333"/>
            </a:avLst>
          </a:prstGeom>
          <a:solidFill>
            <a:srgbClr val="151C30"/>
          </a:solidFill>
          <a:ln w="9525">
            <a:solidFill>
              <a:srgbClr val="2A3556"/>
            </a:solidFill>
            <a:prstDash val="solid"/>
          </a:ln>
        </p:spPr>
      </p:sp>
      <p:sp>
        <p:nvSpPr>
          <p:cNvPr id="31" name="Shape 24"/>
          <p:cNvSpPr/>
          <p:nvPr/>
        </p:nvSpPr>
        <p:spPr>
          <a:xfrm>
            <a:off x="8366760" y="4297680"/>
            <a:ext cx="777240" cy="777240"/>
          </a:xfrm>
          <a:prstGeom prst="ellipse">
            <a:avLst/>
          </a:prstGeom>
          <a:solidFill>
            <a:srgbClr val="06B6D4"/>
          </a:solidFill>
          <a:ln w="12700">
            <a:solidFill>
              <a:srgbClr val="06B6D4"/>
            </a:solidFill>
            <a:prstDash val="solid"/>
          </a:ln>
        </p:spPr>
      </p:sp>
      <p:pic>
        <p:nvPicPr>
          <p:cNvPr id="32" name="Image 5" descr="preencoded.png">    </p:cNvPr>
          <p:cNvPicPr>
            <a:picLocks noChangeAspect="1"/>
          </p:cNvPicPr>
          <p:nvPr/>
        </p:nvPicPr>
        <p:blipFill>
          <a:blip r:embed="rId6"/>
          <a:stretch>
            <a:fillRect/>
          </a:stretch>
        </p:blipFill>
        <p:spPr>
          <a:xfrm>
            <a:off x="8553298" y="4484218"/>
            <a:ext cx="404165" cy="404165"/>
          </a:xfrm>
          <a:prstGeom prst="rect">
            <a:avLst/>
          </a:prstGeom>
        </p:spPr>
      </p:pic>
      <p:sp>
        <p:nvSpPr>
          <p:cNvPr id="33" name="Text 25"/>
          <p:cNvSpPr txBox="1"/>
          <p:nvPr/>
        </p:nvSpPr>
        <p:spPr>
          <a:xfrm>
            <a:off x="8366760" y="5166360"/>
            <a:ext cx="2926080" cy="384048"/>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ECharts + JS</a:t>
            </a:r>
            <a:endParaRPr lang="en-US" sz="1900" dirty="0"/>
          </a:p>
        </p:txBody>
      </p:sp>
      <p:sp>
        <p:nvSpPr>
          <p:cNvPr id="34" name="Text 26"/>
          <p:cNvSpPr txBox="1"/>
          <p:nvPr/>
        </p:nvSpPr>
        <p:spPr>
          <a:xfrm>
            <a:off x="8366760" y="5550408"/>
            <a:ext cx="3017520" cy="411480"/>
          </a:xfrm>
          <a:prstGeom prst="rect">
            <a:avLst/>
          </a:prstGeom>
          <a:noFill/>
          <a:ln/>
        </p:spPr>
        <p:txBody>
          <a:bodyPr wrap="square" lIns="0" tIns="0" rIns="0" bIns="0" rtlCol="0" anchor="ctr"/>
          <a:lstStyle/>
          <a:p>
            <a:pPr indent="0" marL="0">
              <a:buNone/>
            </a:pPr>
            <a:r>
              <a:rPr lang="en-US" sz="1400" dirty="0">
                <a:solidFill>
                  <a:srgbClr val="A9B3CC"/>
                </a:solidFill>
                <a:latin typeface="Calibri" pitchFamily="34" charset="0"/>
                <a:ea typeface="Calibri" pitchFamily="34" charset="-122"/>
                <a:cs typeface="Calibri" pitchFamily="34" charset="-120"/>
              </a:rPr>
              <a:t>11-page responsive dashboard</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020"/>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200" b="1" spc="300" kern="0" dirty="0">
                <a:solidFill>
                  <a:srgbClr val="06B6D4"/>
                </a:solidFill>
                <a:latin typeface="Calibri" pitchFamily="34" charset="0"/>
                <a:ea typeface="Calibri" pitchFamily="34" charset="-122"/>
                <a:cs typeface="Calibri" pitchFamily="34" charset="-120"/>
              </a:rPr>
              <a:t>BATCH PROCESSING LAYER + LOW-LATENCY SERVING LAYER</a:t>
            </a:r>
            <a:endParaRPr lang="en-US" sz="1200" dirty="0"/>
          </a:p>
        </p:txBody>
      </p:sp>
      <p:sp>
        <p:nvSpPr>
          <p:cNvPr id="3" name="Text 1"/>
          <p:cNvSpPr txBox="1"/>
          <p:nvPr/>
        </p:nvSpPr>
        <p:spPr>
          <a:xfrm>
            <a:off x="548640" y="603504"/>
            <a:ext cx="11064240" cy="685800"/>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System architecture</a:t>
            </a:r>
            <a:endParaRPr lang="en-US" sz="3200" dirty="0"/>
          </a:p>
        </p:txBody>
      </p:sp>
      <p:sp>
        <p:nvSpPr>
          <p:cNvPr id="4" name="Text 2"/>
          <p:cNvSpPr txBox="1"/>
          <p:nvPr/>
        </p:nvSpPr>
        <p:spPr>
          <a:xfrm>
            <a:off x="8412480" y="6446520"/>
            <a:ext cx="3246120" cy="274320"/>
          </a:xfrm>
          <a:prstGeom prst="rect">
            <a:avLst/>
          </a:prstGeom>
          <a:noFill/>
          <a:ln/>
        </p:spPr>
        <p:txBody>
          <a:bodyPr wrap="square" lIns="0" tIns="0" rIns="0" bIns="0" rtlCol="0" anchor="ctr"/>
          <a:lstStyle/>
          <a:p>
            <a:pPr algn="r" indent="0" marL="0">
              <a:buNone/>
            </a:pPr>
            <a:r>
              <a:rPr lang="en-US" sz="1000" dirty="0">
                <a:solidFill>
                  <a:srgbClr val="7D88A6"/>
                </a:solidFill>
                <a:latin typeface="Calibri" pitchFamily="34" charset="0"/>
                <a:ea typeface="Calibri" pitchFamily="34" charset="-122"/>
                <a:cs typeface="Calibri" pitchFamily="34" charset="-120"/>
              </a:rPr>
              <a:t>ShopSense · Big Data Analytics  |  8</a:t>
            </a:r>
            <a:endParaRPr lang="en-US" sz="1000" dirty="0"/>
          </a:p>
        </p:txBody>
      </p:sp>
      <p:sp>
        <p:nvSpPr>
          <p:cNvPr id="5" name="Shape 3"/>
          <p:cNvSpPr/>
          <p:nvPr/>
        </p:nvSpPr>
        <p:spPr>
          <a:xfrm>
            <a:off x="548640" y="1508760"/>
            <a:ext cx="11064240" cy="3566160"/>
          </a:xfrm>
          <a:prstGeom prst="roundRect">
            <a:avLst>
              <a:gd name="adj" fmla="val 3077"/>
            </a:avLst>
          </a:prstGeom>
          <a:solidFill>
            <a:srgbClr val="FFFFFF"/>
          </a:solidFill>
          <a:ln w="9525">
            <a:solidFill>
              <a:srgbClr val="2A3556"/>
            </a:solidFill>
            <a:prstDash val="solid"/>
          </a:ln>
        </p:spPr>
      </p:sp>
      <p:pic>
        <p:nvPicPr>
          <p:cNvPr id="6" name="Image 0" descr="/home/user/BDA/docs/diagrams/01_architecture.png">    </p:cNvPr>
          <p:cNvPicPr>
            <a:picLocks noChangeAspect="1"/>
          </p:cNvPicPr>
          <p:nvPr/>
        </p:nvPicPr>
        <p:blipFill>
          <a:blip r:embed="rId1"/>
          <a:stretch>
            <a:fillRect/>
          </a:stretch>
        </p:blipFill>
        <p:spPr>
          <a:xfrm>
            <a:off x="1814885" y="1600200"/>
            <a:ext cx="8531750" cy="3383280"/>
          </a:xfrm>
          <a:prstGeom prst="rect">
            <a:avLst/>
          </a:prstGeom>
        </p:spPr>
      </p:pic>
      <p:sp>
        <p:nvSpPr>
          <p:cNvPr id="7" name="Text 4"/>
          <p:cNvSpPr txBox="1"/>
          <p:nvPr/>
        </p:nvSpPr>
        <p:spPr>
          <a:xfrm>
            <a:off x="548640" y="5303520"/>
            <a:ext cx="2651760" cy="82296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1  Sources</a:t>
            </a:r>
            <a:endParaRPr lang="en-US" sz="1400" dirty="0"/>
          </a:p>
          <a:p>
            <a:pPr indent="0" marL="0">
              <a:buNone/>
            </a:pPr>
            <a:r>
              <a:rPr lang="en-US" sz="1400" dirty="0">
                <a:solidFill>
                  <a:srgbClr val="A9B3CC"/>
                </a:solidFill>
                <a:latin typeface="Calibri" pitchFamily="34" charset="0"/>
                <a:ea typeface="Calibri" pitchFamily="34" charset="-122"/>
                <a:cs typeface="Calibri" pitchFamily="34" charset="-120"/>
              </a:rPr>
              <a:t>CSV + JSON-lines landing zone</a:t>
            </a:r>
            <a:endParaRPr lang="en-US" sz="1400" dirty="0"/>
          </a:p>
        </p:txBody>
      </p:sp>
      <p:sp>
        <p:nvSpPr>
          <p:cNvPr id="8" name="Text 5"/>
          <p:cNvSpPr txBox="1"/>
          <p:nvPr/>
        </p:nvSpPr>
        <p:spPr>
          <a:xfrm>
            <a:off x="3364992" y="5303520"/>
            <a:ext cx="2651760" cy="82296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2  Spark</a:t>
            </a:r>
            <a:endParaRPr lang="en-US" sz="1400" dirty="0"/>
          </a:p>
          <a:p>
            <a:pPr indent="0" marL="0">
              <a:buNone/>
            </a:pPr>
            <a:r>
              <a:rPr lang="en-US" sz="1400" dirty="0">
                <a:solidFill>
                  <a:srgbClr val="A9B3CC"/>
                </a:solidFill>
                <a:latin typeface="Calibri" pitchFamily="34" charset="0"/>
                <a:ea typeface="Calibri" pitchFamily="34" charset="-122"/>
                <a:cs typeface="Calibri" pitchFamily="34" charset="-120"/>
              </a:rPr>
              <a:t>bronze → silver → gold, MLlib</a:t>
            </a:r>
            <a:endParaRPr lang="en-US" sz="1400" dirty="0"/>
          </a:p>
        </p:txBody>
      </p:sp>
      <p:sp>
        <p:nvSpPr>
          <p:cNvPr id="9" name="Text 6"/>
          <p:cNvSpPr txBox="1"/>
          <p:nvPr/>
        </p:nvSpPr>
        <p:spPr>
          <a:xfrm>
            <a:off x="6181344" y="5303520"/>
            <a:ext cx="2651760" cy="82296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3  MongoDB</a:t>
            </a:r>
            <a:endParaRPr lang="en-US" sz="1400" dirty="0"/>
          </a:p>
          <a:p>
            <a:pPr indent="0" marL="0">
              <a:buNone/>
            </a:pPr>
            <a:r>
              <a:rPr lang="en-US" sz="1400" dirty="0">
                <a:solidFill>
                  <a:srgbClr val="A9B3CC"/>
                </a:solidFill>
                <a:latin typeface="Calibri" pitchFamily="34" charset="0"/>
                <a:ea typeface="Calibri" pitchFamily="34" charset="-122"/>
                <a:cs typeface="Calibri" pitchFamily="34" charset="-120"/>
              </a:rPr>
              <a:t>query-shaped gold documents</a:t>
            </a:r>
            <a:endParaRPr lang="en-US" sz="1400" dirty="0"/>
          </a:p>
        </p:txBody>
      </p:sp>
      <p:sp>
        <p:nvSpPr>
          <p:cNvPr id="10" name="Text 7"/>
          <p:cNvSpPr txBox="1"/>
          <p:nvPr/>
        </p:nvSpPr>
        <p:spPr>
          <a:xfrm>
            <a:off x="8997696" y="5303520"/>
            <a:ext cx="2651760" cy="82296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4  Serving</a:t>
            </a:r>
            <a:endParaRPr lang="en-US" sz="1400" dirty="0"/>
          </a:p>
          <a:p>
            <a:pPr indent="0" marL="0">
              <a:buNone/>
            </a:pPr>
            <a:r>
              <a:rPr lang="en-US" sz="1400" dirty="0">
                <a:solidFill>
                  <a:srgbClr val="A9B3CC"/>
                </a:solidFill>
                <a:latin typeface="Calibri" pitchFamily="34" charset="0"/>
                <a:ea typeface="Calibri" pitchFamily="34" charset="-122"/>
                <a:cs typeface="Calibri" pitchFamily="34" charset="-120"/>
              </a:rPr>
              <a:t>FastAPI + dashboard</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020"/>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200" b="1" spc="300" kern="0" dirty="0">
                <a:solidFill>
                  <a:srgbClr val="06B6D4"/>
                </a:solidFill>
                <a:latin typeface="Calibri" pitchFamily="34" charset="0"/>
                <a:ea typeface="Calibri" pitchFamily="34" charset="-122"/>
                <a:cs typeface="Calibri" pitchFamily="34" charset="-120"/>
              </a:rPr>
              <a:t>MEDALLION ARCHITECTURE</a:t>
            </a:r>
            <a:endParaRPr lang="en-US" sz="1200" dirty="0"/>
          </a:p>
        </p:txBody>
      </p:sp>
      <p:sp>
        <p:nvSpPr>
          <p:cNvPr id="3" name="Text 1"/>
          <p:cNvSpPr txBox="1"/>
          <p:nvPr/>
        </p:nvSpPr>
        <p:spPr>
          <a:xfrm>
            <a:off x="548640" y="603504"/>
            <a:ext cx="11064240" cy="685800"/>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Spark pipeline &amp; data quality</a:t>
            </a:r>
            <a:endParaRPr lang="en-US" sz="3200" dirty="0"/>
          </a:p>
        </p:txBody>
      </p:sp>
      <p:sp>
        <p:nvSpPr>
          <p:cNvPr id="4" name="Text 2"/>
          <p:cNvSpPr txBox="1"/>
          <p:nvPr/>
        </p:nvSpPr>
        <p:spPr>
          <a:xfrm>
            <a:off x="8412480" y="6446520"/>
            <a:ext cx="3246120" cy="274320"/>
          </a:xfrm>
          <a:prstGeom prst="rect">
            <a:avLst/>
          </a:prstGeom>
          <a:noFill/>
          <a:ln/>
        </p:spPr>
        <p:txBody>
          <a:bodyPr wrap="square" lIns="0" tIns="0" rIns="0" bIns="0" rtlCol="0" anchor="ctr"/>
          <a:lstStyle/>
          <a:p>
            <a:pPr algn="r" indent="0" marL="0">
              <a:buNone/>
            </a:pPr>
            <a:r>
              <a:rPr lang="en-US" sz="1000" dirty="0">
                <a:solidFill>
                  <a:srgbClr val="7D88A6"/>
                </a:solidFill>
                <a:latin typeface="Calibri" pitchFamily="34" charset="0"/>
                <a:ea typeface="Calibri" pitchFamily="34" charset="-122"/>
                <a:cs typeface="Calibri" pitchFamily="34" charset="-120"/>
              </a:rPr>
              <a:t>ShopSense · Big Data Analytics  |  9</a:t>
            </a:r>
            <a:endParaRPr lang="en-US" sz="1000" dirty="0"/>
          </a:p>
        </p:txBody>
      </p:sp>
      <p:sp>
        <p:nvSpPr>
          <p:cNvPr id="5" name="Shape 3"/>
          <p:cNvSpPr/>
          <p:nvPr/>
        </p:nvSpPr>
        <p:spPr>
          <a:xfrm>
            <a:off x="548640" y="1508760"/>
            <a:ext cx="5852160" cy="2103120"/>
          </a:xfrm>
          <a:prstGeom prst="roundRect">
            <a:avLst>
              <a:gd name="adj" fmla="val 5217"/>
            </a:avLst>
          </a:prstGeom>
          <a:solidFill>
            <a:srgbClr val="FFFFFF"/>
          </a:solidFill>
          <a:ln w="9525">
            <a:solidFill>
              <a:srgbClr val="2A3556"/>
            </a:solidFill>
            <a:prstDash val="solid"/>
          </a:ln>
        </p:spPr>
      </p:sp>
      <p:pic>
        <p:nvPicPr>
          <p:cNvPr id="6" name="Image 0" descr="/home/user/BDA/docs/diagrams/14_medallion.png">    </p:cNvPr>
          <p:cNvPicPr>
            <a:picLocks noChangeAspect="1"/>
          </p:cNvPicPr>
          <p:nvPr/>
        </p:nvPicPr>
        <p:blipFill>
          <a:blip r:embed="rId1"/>
          <a:stretch>
            <a:fillRect/>
          </a:stretch>
        </p:blipFill>
        <p:spPr>
          <a:xfrm>
            <a:off x="904553" y="1600200"/>
            <a:ext cx="5140335" cy="1920240"/>
          </a:xfrm>
          <a:prstGeom prst="rect">
            <a:avLst/>
          </a:prstGeom>
        </p:spPr>
      </p:pic>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3840480"/>
          <a:ext cx="5852160" cy="914400"/>
        </p:xfrm>
        <a:graphic>
          <a:graphicData uri="http://schemas.openxmlformats.org/drawingml/2006/table">
            <a:tbl>
              <a:tblPr/>
              <a:tblGrid>
                <a:gridCol w="1280160"/>
                <a:gridCol w="1143000"/>
                <a:gridCol w="1143000"/>
                <a:gridCol w="2286000"/>
              </a:tblGrid>
              <a:tr h="384048">
                <a:tc>
                  <a:txBody>
                    <a:bodyPr/>
                    <a:lstStyle/>
                    <a:p>
                      <a:pPr indent="0" marL="0">
                        <a:buNone/>
                      </a:pPr>
                      <a:r>
                        <a:rPr lang="en-US" sz="1200" b="1" dirty="0">
                          <a:solidFill>
                            <a:srgbClr val="06B6D4"/>
                          </a:solidFill>
                          <a:latin typeface="Calibri" pitchFamily="34" charset="0"/>
                          <a:ea typeface="Calibri" pitchFamily="34" charset="-122"/>
                          <a:cs typeface="Calibri" pitchFamily="34" charset="-120"/>
                        </a:rPr>
                        <a:t>Dataset</a:t>
                      </a:r>
                      <a:endParaRPr lang="en-US" sz="1200" dirty="0">
                        <a:latin typeface="Calibri" charset="0"/>
                        <a:ea typeface="Calibri" charset="0"/>
                        <a:cs typeface="Calibri" charset="0"/>
                      </a:endParaRPr>
                    </a:p>
                  </a:txBody>
                  <a:tcPr marL="91440" marR="91440" marT="45720" marB="45720">
                    <a:lnL w="6350" cap="flat" cmpd="sng" algn="ctr">
                      <a:solidFill>
                        <a:srgbClr val="2A3556"/>
                      </a:solidFill>
                      <a:prstDash val="solid"/>
                      <a:round/>
                      <a:headEnd type="none" w="med" len="med"/>
                      <a:tailEnd type="none" w="med" len="med"/>
                    </a:lnL>
                    <a:lnR w="6350" cap="flat" cmpd="sng" algn="ctr">
                      <a:solidFill>
                        <a:srgbClr val="2A3556"/>
                      </a:solidFill>
                      <a:prstDash val="solid"/>
                      <a:round/>
                      <a:headEnd type="none" w="med" len="med"/>
                      <a:tailEnd type="none" w="med" len="med"/>
                    </a:lnR>
                    <a:lnT w="6350" cap="flat" cmpd="sng" algn="ctr">
                      <a:solidFill>
                        <a:srgbClr val="2A3556"/>
                      </a:solidFill>
                      <a:prstDash val="solid"/>
                      <a:round/>
                      <a:headEnd type="none" w="med" len="med"/>
                      <a:tailEnd type="none" w="med" len="med"/>
                    </a:lnT>
                    <a:lnB w="6350" cap="flat" cmpd="sng" algn="ctr">
                      <a:solidFill>
                        <a:srgbClr val="2A3556"/>
                      </a:solidFill>
                      <a:prstDash val="solid"/>
                      <a:round/>
                      <a:headEnd type="none" w="med" len="med"/>
                      <a:tailEnd type="none" w="med" len="med"/>
                    </a:lnB>
                    <a:solidFill>
                      <a:srgbClr val="1C2540"/>
                    </a:solidFill>
                  </a:tcPr>
                </a:tc>
                <a:tc>
                  <a:txBody>
                    <a:bodyPr/>
                    <a:lstStyle/>
                    <a:p>
                      <a:pPr indent="0" marL="0">
                        <a:buNone/>
                      </a:pPr>
                      <a:r>
                        <a:rPr lang="en-US" sz="1200" b="1" dirty="0">
                          <a:solidFill>
                            <a:srgbClr val="06B6D4"/>
                          </a:solidFill>
                          <a:latin typeface="Calibri" pitchFamily="34" charset="0"/>
                          <a:ea typeface="Calibri" pitchFamily="34" charset="-122"/>
                          <a:cs typeface="Calibri" pitchFamily="34" charset="-120"/>
                        </a:rPr>
                        <a:t>Raw</a:t>
                      </a:r>
                      <a:endParaRPr lang="en-US" sz="1200" dirty="0">
                        <a:latin typeface="Calibri" charset="0"/>
                        <a:ea typeface="Calibri" charset="0"/>
                        <a:cs typeface="Calibri" charset="0"/>
                      </a:endParaRPr>
                    </a:p>
                  </a:txBody>
                  <a:tcPr marL="91440" marR="91440" marT="45720" marB="45720">
                    <a:lnL w="6350" cap="flat" cmpd="sng" algn="ctr">
                      <a:solidFill>
                        <a:srgbClr val="2A3556"/>
                      </a:solidFill>
                      <a:prstDash val="solid"/>
                      <a:round/>
                      <a:headEnd type="none" w="med" len="med"/>
                      <a:tailEnd type="none" w="med" len="med"/>
                    </a:lnL>
                    <a:lnR w="6350" cap="flat" cmpd="sng" algn="ctr">
                      <a:solidFill>
                        <a:srgbClr val="2A3556"/>
                      </a:solidFill>
                      <a:prstDash val="solid"/>
                      <a:round/>
                      <a:headEnd type="none" w="med" len="med"/>
                      <a:tailEnd type="none" w="med" len="med"/>
                    </a:lnR>
                    <a:lnT w="6350" cap="flat" cmpd="sng" algn="ctr">
                      <a:solidFill>
                        <a:srgbClr val="2A3556"/>
                      </a:solidFill>
                      <a:prstDash val="solid"/>
                      <a:round/>
                      <a:headEnd type="none" w="med" len="med"/>
                      <a:tailEnd type="none" w="med" len="med"/>
                    </a:lnT>
                    <a:lnB w="6350" cap="flat" cmpd="sng" algn="ctr">
                      <a:solidFill>
                        <a:srgbClr val="2A3556"/>
                      </a:solidFill>
                      <a:prstDash val="solid"/>
                      <a:round/>
                      <a:headEnd type="none" w="med" len="med"/>
                      <a:tailEnd type="none" w="med" len="med"/>
                    </a:lnB>
                    <a:solidFill>
                      <a:srgbClr val="1C2540"/>
                    </a:solidFill>
                  </a:tcPr>
                </a:tc>
                <a:tc>
                  <a:txBody>
                    <a:bodyPr/>
                    <a:lstStyle/>
                    <a:p>
                      <a:pPr indent="0" marL="0">
                        <a:buNone/>
                      </a:pPr>
                      <a:r>
                        <a:rPr lang="en-US" sz="1200" b="1" dirty="0">
                          <a:solidFill>
                            <a:srgbClr val="06B6D4"/>
                          </a:solidFill>
                          <a:latin typeface="Calibri" pitchFamily="34" charset="0"/>
                          <a:ea typeface="Calibri" pitchFamily="34" charset="-122"/>
                          <a:cs typeface="Calibri" pitchFamily="34" charset="-120"/>
                        </a:rPr>
                        <a:t>Clean</a:t>
                      </a:r>
                      <a:endParaRPr lang="en-US" sz="1200" dirty="0">
                        <a:latin typeface="Calibri" charset="0"/>
                        <a:ea typeface="Calibri" charset="0"/>
                        <a:cs typeface="Calibri" charset="0"/>
                      </a:endParaRPr>
                    </a:p>
                  </a:txBody>
                  <a:tcPr marL="91440" marR="91440" marT="45720" marB="45720">
                    <a:lnL w="6350" cap="flat" cmpd="sng" algn="ctr">
                      <a:solidFill>
                        <a:srgbClr val="2A3556"/>
                      </a:solidFill>
                      <a:prstDash val="solid"/>
                      <a:round/>
                      <a:headEnd type="none" w="med" len="med"/>
                      <a:tailEnd type="none" w="med" len="med"/>
                    </a:lnL>
                    <a:lnR w="6350" cap="flat" cmpd="sng" algn="ctr">
                      <a:solidFill>
                        <a:srgbClr val="2A3556"/>
                      </a:solidFill>
                      <a:prstDash val="solid"/>
                      <a:round/>
                      <a:headEnd type="none" w="med" len="med"/>
                      <a:tailEnd type="none" w="med" len="med"/>
                    </a:lnR>
                    <a:lnT w="6350" cap="flat" cmpd="sng" algn="ctr">
                      <a:solidFill>
                        <a:srgbClr val="2A3556"/>
                      </a:solidFill>
                      <a:prstDash val="solid"/>
                      <a:round/>
                      <a:headEnd type="none" w="med" len="med"/>
                      <a:tailEnd type="none" w="med" len="med"/>
                    </a:lnT>
                    <a:lnB w="6350" cap="flat" cmpd="sng" algn="ctr">
                      <a:solidFill>
                        <a:srgbClr val="2A3556"/>
                      </a:solidFill>
                      <a:prstDash val="solid"/>
                      <a:round/>
                      <a:headEnd type="none" w="med" len="med"/>
                      <a:tailEnd type="none" w="med" len="med"/>
                    </a:lnB>
                    <a:solidFill>
                      <a:srgbClr val="1C2540"/>
                    </a:solidFill>
                  </a:tcPr>
                </a:tc>
                <a:tc>
                  <a:txBody>
                    <a:bodyPr/>
                    <a:lstStyle/>
                    <a:p>
                      <a:pPr indent="0" marL="0">
                        <a:buNone/>
                      </a:pPr>
                      <a:r>
                        <a:rPr lang="en-US" sz="1200" b="1" dirty="0">
                          <a:solidFill>
                            <a:srgbClr val="06B6D4"/>
                          </a:solidFill>
                          <a:latin typeface="Calibri" pitchFamily="34" charset="0"/>
                          <a:ea typeface="Calibri" pitchFamily="34" charset="-122"/>
                          <a:cs typeface="Calibri" pitchFamily="34" charset="-120"/>
                        </a:rPr>
                        <a:t>Fixed</a:t>
                      </a:r>
                      <a:endParaRPr lang="en-US" sz="1200" dirty="0">
                        <a:latin typeface="Calibri" charset="0"/>
                        <a:ea typeface="Calibri" charset="0"/>
                        <a:cs typeface="Calibri" charset="0"/>
                      </a:endParaRPr>
                    </a:p>
                  </a:txBody>
                  <a:tcPr marL="91440" marR="91440" marT="45720" marB="45720">
                    <a:lnL w="6350" cap="flat" cmpd="sng" algn="ctr">
                      <a:solidFill>
                        <a:srgbClr val="2A3556"/>
                      </a:solidFill>
                      <a:prstDash val="solid"/>
                      <a:round/>
                      <a:headEnd type="none" w="med" len="med"/>
                      <a:tailEnd type="none" w="med" len="med"/>
                    </a:lnL>
                    <a:lnR w="6350" cap="flat" cmpd="sng" algn="ctr">
                      <a:solidFill>
                        <a:srgbClr val="2A3556"/>
                      </a:solidFill>
                      <a:prstDash val="solid"/>
                      <a:round/>
                      <a:headEnd type="none" w="med" len="med"/>
                      <a:tailEnd type="none" w="med" len="med"/>
                    </a:lnR>
                    <a:lnT w="6350" cap="flat" cmpd="sng" algn="ctr">
                      <a:solidFill>
                        <a:srgbClr val="2A3556"/>
                      </a:solidFill>
                      <a:prstDash val="solid"/>
                      <a:round/>
                      <a:headEnd type="none" w="med" len="med"/>
                      <a:tailEnd type="none" w="med" len="med"/>
                    </a:lnT>
                    <a:lnB w="6350" cap="flat" cmpd="sng" algn="ctr">
                      <a:solidFill>
                        <a:srgbClr val="2A3556"/>
                      </a:solidFill>
                      <a:prstDash val="solid"/>
                      <a:round/>
                      <a:headEnd type="none" w="med" len="med"/>
                      <a:tailEnd type="none" w="med" len="med"/>
                    </a:lnB>
                    <a:solidFill>
                      <a:srgbClr val="1C2540"/>
                    </a:solidFill>
                  </a:tcPr>
                </a:tc>
              </a:tr>
              <a:tr h="384048">
                <a:tc>
                  <a:txBody>
                    <a:bodyPr/>
                    <a:lstStyle/>
                    <a:p>
                      <a:pPr indent="0" marL="0">
                        <a:buNone/>
                      </a:pPr>
                      <a:r>
                        <a:rPr lang="en-US" sz="1200" dirty="0">
                          <a:solidFill>
                            <a:srgbClr val="FFFFFF"/>
                          </a:solidFill>
                          <a:latin typeface="Calibri" pitchFamily="34" charset="0"/>
                          <a:ea typeface="Calibri" pitchFamily="34" charset="-122"/>
                          <a:cs typeface="Calibri" pitchFamily="34" charset="-120"/>
                        </a:rPr>
                        <a:t>Customers</a:t>
                      </a:r>
                      <a:endParaRPr lang="en-US" sz="1200" dirty="0">
                        <a:latin typeface="Calibri" charset="0"/>
                        <a:ea typeface="Calibri" charset="0"/>
                        <a:cs typeface="Calibri" charset="0"/>
                      </a:endParaRPr>
                    </a:p>
                  </a:txBody>
                  <a:tcPr marL="91440" marR="91440" marT="45720" marB="45720">
                    <a:lnL w="6350" cap="flat" cmpd="sng" algn="ctr">
                      <a:solidFill>
                        <a:srgbClr val="2A3556"/>
                      </a:solidFill>
                      <a:prstDash val="solid"/>
                      <a:round/>
                      <a:headEnd type="none" w="med" len="med"/>
                      <a:tailEnd type="none" w="med" len="med"/>
                    </a:lnL>
                    <a:lnR w="6350" cap="flat" cmpd="sng" algn="ctr">
                      <a:solidFill>
                        <a:srgbClr val="2A3556"/>
                      </a:solidFill>
                      <a:prstDash val="solid"/>
                      <a:round/>
                      <a:headEnd type="none" w="med" len="med"/>
                      <a:tailEnd type="none" w="med" len="med"/>
                    </a:lnR>
                    <a:lnT w="6350" cap="flat" cmpd="sng" algn="ctr">
                      <a:solidFill>
                        <a:srgbClr val="2A3556"/>
                      </a:solidFill>
                      <a:prstDash val="solid"/>
                      <a:round/>
                      <a:headEnd type="none" w="med" len="med"/>
                      <a:tailEnd type="none" w="med" len="med"/>
                    </a:lnT>
                    <a:lnB w="6350" cap="flat" cmpd="sng" algn="ctr">
                      <a:solidFill>
                        <a:srgbClr val="2A3556"/>
                      </a:solidFill>
                      <a:prstDash val="solid"/>
                      <a:round/>
                      <a:headEnd type="none" w="med" len="med"/>
                      <a:tailEnd type="none" w="med" len="med"/>
                    </a:lnB>
                    <a:solidFill>
                      <a:srgbClr val="151C30"/>
                    </a:solidFill>
                  </a:tcPr>
                </a:tc>
                <a:tc>
                  <a:txBody>
                    <a:bodyPr/>
                    <a:lstStyle/>
                    <a:p>
                      <a:pPr indent="0" marL="0">
                        <a:buNone/>
                      </a:pPr>
                      <a:r>
                        <a:rPr lang="en-US" sz="1200" dirty="0">
                          <a:solidFill>
                            <a:srgbClr val="FFFFFF"/>
                          </a:solidFill>
                          <a:latin typeface="Calibri" pitchFamily="34" charset="0"/>
                          <a:ea typeface="Calibri" pitchFamily="34" charset="-122"/>
                          <a:cs typeface="Calibri" pitchFamily="34" charset="-120"/>
                        </a:rPr>
                        <a:t>10,033</a:t>
                      </a:r>
                      <a:endParaRPr lang="en-US" sz="1200" dirty="0">
                        <a:latin typeface="Calibri" charset="0"/>
                        <a:ea typeface="Calibri" charset="0"/>
                        <a:cs typeface="Calibri" charset="0"/>
                      </a:endParaRPr>
                    </a:p>
                  </a:txBody>
                  <a:tcPr marL="91440" marR="91440" marT="45720" marB="45720">
                    <a:lnL w="6350" cap="flat" cmpd="sng" algn="ctr">
                      <a:solidFill>
                        <a:srgbClr val="2A3556"/>
                      </a:solidFill>
                      <a:prstDash val="solid"/>
                      <a:round/>
                      <a:headEnd type="none" w="med" len="med"/>
                      <a:tailEnd type="none" w="med" len="med"/>
                    </a:lnL>
                    <a:lnR w="6350" cap="flat" cmpd="sng" algn="ctr">
                      <a:solidFill>
                        <a:srgbClr val="2A3556"/>
                      </a:solidFill>
                      <a:prstDash val="solid"/>
                      <a:round/>
                      <a:headEnd type="none" w="med" len="med"/>
                      <a:tailEnd type="none" w="med" len="med"/>
                    </a:lnR>
                    <a:lnT w="6350" cap="flat" cmpd="sng" algn="ctr">
                      <a:solidFill>
                        <a:srgbClr val="2A3556"/>
                      </a:solidFill>
                      <a:prstDash val="solid"/>
                      <a:round/>
                      <a:headEnd type="none" w="med" len="med"/>
                      <a:tailEnd type="none" w="med" len="med"/>
                    </a:lnT>
                    <a:lnB w="6350" cap="flat" cmpd="sng" algn="ctr">
                      <a:solidFill>
                        <a:srgbClr val="2A3556"/>
                      </a:solidFill>
                      <a:prstDash val="solid"/>
                      <a:round/>
                      <a:headEnd type="none" w="med" len="med"/>
                      <a:tailEnd type="none" w="med" len="med"/>
                    </a:lnB>
                    <a:solidFill>
                      <a:srgbClr val="151C30"/>
                    </a:solidFill>
                  </a:tcPr>
                </a:tc>
                <a:tc>
                  <a:txBody>
                    <a:bodyPr/>
                    <a:lstStyle/>
                    <a:p>
                      <a:pPr indent="0" marL="0">
                        <a:buNone/>
                      </a:pPr>
                      <a:r>
                        <a:rPr lang="en-US" sz="1200" dirty="0">
                          <a:solidFill>
                            <a:srgbClr val="FFFFFF"/>
                          </a:solidFill>
                          <a:latin typeface="Calibri" pitchFamily="34" charset="0"/>
                          <a:ea typeface="Calibri" pitchFamily="34" charset="-122"/>
                          <a:cs typeface="Calibri" pitchFamily="34" charset="-120"/>
                        </a:rPr>
                        <a:t>10,000</a:t>
                      </a:r>
                      <a:endParaRPr lang="en-US" sz="1200" dirty="0">
                        <a:latin typeface="Calibri" charset="0"/>
                        <a:ea typeface="Calibri" charset="0"/>
                        <a:cs typeface="Calibri" charset="0"/>
                      </a:endParaRPr>
                    </a:p>
                  </a:txBody>
                  <a:tcPr marL="91440" marR="91440" marT="45720" marB="45720">
                    <a:lnL w="6350" cap="flat" cmpd="sng" algn="ctr">
                      <a:solidFill>
                        <a:srgbClr val="2A3556"/>
                      </a:solidFill>
                      <a:prstDash val="solid"/>
                      <a:round/>
                      <a:headEnd type="none" w="med" len="med"/>
                      <a:tailEnd type="none" w="med" len="med"/>
                    </a:lnL>
                    <a:lnR w="6350" cap="flat" cmpd="sng" algn="ctr">
                      <a:solidFill>
                        <a:srgbClr val="2A3556"/>
                      </a:solidFill>
                      <a:prstDash val="solid"/>
                      <a:round/>
                      <a:headEnd type="none" w="med" len="med"/>
                      <a:tailEnd type="none" w="med" len="med"/>
                    </a:lnR>
                    <a:lnT w="6350" cap="flat" cmpd="sng" algn="ctr">
                      <a:solidFill>
                        <a:srgbClr val="2A3556"/>
                      </a:solidFill>
                      <a:prstDash val="solid"/>
                      <a:round/>
                      <a:headEnd type="none" w="med" len="med"/>
                      <a:tailEnd type="none" w="med" len="med"/>
                    </a:lnT>
                    <a:lnB w="6350" cap="flat" cmpd="sng" algn="ctr">
                      <a:solidFill>
                        <a:srgbClr val="2A3556"/>
                      </a:solidFill>
                      <a:prstDash val="solid"/>
                      <a:round/>
                      <a:headEnd type="none" w="med" len="med"/>
                      <a:tailEnd type="none" w="med" len="med"/>
                    </a:lnB>
                    <a:solidFill>
                      <a:srgbClr val="151C30"/>
                    </a:solidFill>
                  </a:tcPr>
                </a:tc>
                <a:tc>
                  <a:txBody>
                    <a:bodyPr/>
                    <a:lstStyle/>
                    <a:p>
                      <a:pPr indent="0" marL="0">
                        <a:buNone/>
                      </a:pPr>
                      <a:r>
                        <a:rPr lang="en-US" sz="1200" dirty="0">
                          <a:solidFill>
                            <a:srgbClr val="FFFFFF"/>
                          </a:solidFill>
                          <a:latin typeface="Calibri" pitchFamily="34" charset="0"/>
                          <a:ea typeface="Calibri" pitchFamily="34" charset="-122"/>
                          <a:cs typeface="Calibri" pitchFamily="34" charset="-120"/>
                        </a:rPr>
                        <a:t>33 dup · 107 cities</a:t>
                      </a:r>
                      <a:endParaRPr lang="en-US" sz="1200" dirty="0">
                        <a:latin typeface="Calibri" charset="0"/>
                        <a:ea typeface="Calibri" charset="0"/>
                        <a:cs typeface="Calibri" charset="0"/>
                      </a:endParaRPr>
                    </a:p>
                  </a:txBody>
                  <a:tcPr marL="91440" marR="91440" marT="45720" marB="45720">
                    <a:lnL w="6350" cap="flat" cmpd="sng" algn="ctr">
                      <a:solidFill>
                        <a:srgbClr val="2A3556"/>
                      </a:solidFill>
                      <a:prstDash val="solid"/>
                      <a:round/>
                      <a:headEnd type="none" w="med" len="med"/>
                      <a:tailEnd type="none" w="med" len="med"/>
                    </a:lnL>
                    <a:lnR w="6350" cap="flat" cmpd="sng" algn="ctr">
                      <a:solidFill>
                        <a:srgbClr val="2A3556"/>
                      </a:solidFill>
                      <a:prstDash val="solid"/>
                      <a:round/>
                      <a:headEnd type="none" w="med" len="med"/>
                      <a:tailEnd type="none" w="med" len="med"/>
                    </a:lnR>
                    <a:lnT w="6350" cap="flat" cmpd="sng" algn="ctr">
                      <a:solidFill>
                        <a:srgbClr val="2A3556"/>
                      </a:solidFill>
                      <a:prstDash val="solid"/>
                      <a:round/>
                      <a:headEnd type="none" w="med" len="med"/>
                      <a:tailEnd type="none" w="med" len="med"/>
                    </a:lnT>
                    <a:lnB w="6350" cap="flat" cmpd="sng" algn="ctr">
                      <a:solidFill>
                        <a:srgbClr val="2A3556"/>
                      </a:solidFill>
                      <a:prstDash val="solid"/>
                      <a:round/>
                      <a:headEnd type="none" w="med" len="med"/>
                      <a:tailEnd type="none" w="med" len="med"/>
                    </a:lnB>
                    <a:solidFill>
                      <a:srgbClr val="151C30"/>
                    </a:solidFill>
                  </a:tcPr>
                </a:tc>
              </a:tr>
              <a:tr h="384048">
                <a:tc>
                  <a:txBody>
                    <a:bodyPr/>
                    <a:lstStyle/>
                    <a:p>
                      <a:pPr indent="0" marL="0">
                        <a:buNone/>
                      </a:pPr>
                      <a:r>
                        <a:rPr lang="en-US" sz="1200" dirty="0">
                          <a:solidFill>
                            <a:srgbClr val="FFFFFF"/>
                          </a:solidFill>
                          <a:latin typeface="Calibri" pitchFamily="34" charset="0"/>
                          <a:ea typeface="Calibri" pitchFamily="34" charset="-122"/>
                          <a:cs typeface="Calibri" pitchFamily="34" charset="-120"/>
                        </a:rPr>
                        <a:t>Orders</a:t>
                      </a:r>
                      <a:endParaRPr lang="en-US" sz="1200" dirty="0">
                        <a:latin typeface="Calibri" charset="0"/>
                        <a:ea typeface="Calibri" charset="0"/>
                        <a:cs typeface="Calibri" charset="0"/>
                      </a:endParaRPr>
                    </a:p>
                  </a:txBody>
                  <a:tcPr marL="91440" marR="91440" marT="45720" marB="45720">
                    <a:lnL w="6350" cap="flat" cmpd="sng" algn="ctr">
                      <a:solidFill>
                        <a:srgbClr val="2A3556"/>
                      </a:solidFill>
                      <a:prstDash val="solid"/>
                      <a:round/>
                      <a:headEnd type="none" w="med" len="med"/>
                      <a:tailEnd type="none" w="med" len="med"/>
                    </a:lnL>
                    <a:lnR w="6350" cap="flat" cmpd="sng" algn="ctr">
                      <a:solidFill>
                        <a:srgbClr val="2A3556"/>
                      </a:solidFill>
                      <a:prstDash val="solid"/>
                      <a:round/>
                      <a:headEnd type="none" w="med" len="med"/>
                      <a:tailEnd type="none" w="med" len="med"/>
                    </a:lnR>
                    <a:lnT w="6350" cap="flat" cmpd="sng" algn="ctr">
                      <a:solidFill>
                        <a:srgbClr val="2A3556"/>
                      </a:solidFill>
                      <a:prstDash val="solid"/>
                      <a:round/>
                      <a:headEnd type="none" w="med" len="med"/>
                      <a:tailEnd type="none" w="med" len="med"/>
                    </a:lnT>
                    <a:lnB w="6350" cap="flat" cmpd="sng" algn="ctr">
                      <a:solidFill>
                        <a:srgbClr val="2A3556"/>
                      </a:solidFill>
                      <a:prstDash val="solid"/>
                      <a:round/>
                      <a:headEnd type="none" w="med" len="med"/>
                      <a:tailEnd type="none" w="med" len="med"/>
                    </a:lnB>
                    <a:solidFill>
                      <a:srgbClr val="151C30"/>
                    </a:solidFill>
                  </a:tcPr>
                </a:tc>
                <a:tc>
                  <a:txBody>
                    <a:bodyPr/>
                    <a:lstStyle/>
                    <a:p>
                      <a:pPr indent="0" marL="0">
                        <a:buNone/>
                      </a:pPr>
                      <a:r>
                        <a:rPr lang="en-US" sz="1200" dirty="0">
                          <a:solidFill>
                            <a:srgbClr val="FFFFFF"/>
                          </a:solidFill>
                          <a:latin typeface="Calibri" pitchFamily="34" charset="0"/>
                          <a:ea typeface="Calibri" pitchFamily="34" charset="-122"/>
                          <a:cs typeface="Calibri" pitchFamily="34" charset="-120"/>
                        </a:rPr>
                        <a:t>74,348</a:t>
                      </a:r>
                      <a:endParaRPr lang="en-US" sz="1200" dirty="0">
                        <a:latin typeface="Calibri" charset="0"/>
                        <a:ea typeface="Calibri" charset="0"/>
                        <a:cs typeface="Calibri" charset="0"/>
                      </a:endParaRPr>
                    </a:p>
                  </a:txBody>
                  <a:tcPr marL="91440" marR="91440" marT="45720" marB="45720">
                    <a:lnL w="6350" cap="flat" cmpd="sng" algn="ctr">
                      <a:solidFill>
                        <a:srgbClr val="2A3556"/>
                      </a:solidFill>
                      <a:prstDash val="solid"/>
                      <a:round/>
                      <a:headEnd type="none" w="med" len="med"/>
                      <a:tailEnd type="none" w="med" len="med"/>
                    </a:lnL>
                    <a:lnR w="6350" cap="flat" cmpd="sng" algn="ctr">
                      <a:solidFill>
                        <a:srgbClr val="2A3556"/>
                      </a:solidFill>
                      <a:prstDash val="solid"/>
                      <a:round/>
                      <a:headEnd type="none" w="med" len="med"/>
                      <a:tailEnd type="none" w="med" len="med"/>
                    </a:lnR>
                    <a:lnT w="6350" cap="flat" cmpd="sng" algn="ctr">
                      <a:solidFill>
                        <a:srgbClr val="2A3556"/>
                      </a:solidFill>
                      <a:prstDash val="solid"/>
                      <a:round/>
                      <a:headEnd type="none" w="med" len="med"/>
                      <a:tailEnd type="none" w="med" len="med"/>
                    </a:lnT>
                    <a:lnB w="6350" cap="flat" cmpd="sng" algn="ctr">
                      <a:solidFill>
                        <a:srgbClr val="2A3556"/>
                      </a:solidFill>
                      <a:prstDash val="solid"/>
                      <a:round/>
                      <a:headEnd type="none" w="med" len="med"/>
                      <a:tailEnd type="none" w="med" len="med"/>
                    </a:lnB>
                    <a:solidFill>
                      <a:srgbClr val="151C30"/>
                    </a:solidFill>
                  </a:tcPr>
                </a:tc>
                <a:tc>
                  <a:txBody>
                    <a:bodyPr/>
                    <a:lstStyle/>
                    <a:p>
                      <a:pPr indent="0" marL="0">
                        <a:buNone/>
                      </a:pPr>
                      <a:r>
                        <a:rPr lang="en-US" sz="1200" dirty="0">
                          <a:solidFill>
                            <a:srgbClr val="FFFFFF"/>
                          </a:solidFill>
                          <a:latin typeface="Calibri" pitchFamily="34" charset="0"/>
                          <a:ea typeface="Calibri" pitchFamily="34" charset="-122"/>
                          <a:cs typeface="Calibri" pitchFamily="34" charset="-120"/>
                        </a:rPr>
                        <a:t>74,052</a:t>
                      </a:r>
                      <a:endParaRPr lang="en-US" sz="1200" dirty="0">
                        <a:latin typeface="Calibri" charset="0"/>
                        <a:ea typeface="Calibri" charset="0"/>
                        <a:cs typeface="Calibri" charset="0"/>
                      </a:endParaRPr>
                    </a:p>
                  </a:txBody>
                  <a:tcPr marL="91440" marR="91440" marT="45720" marB="45720">
                    <a:lnL w="6350" cap="flat" cmpd="sng" algn="ctr">
                      <a:solidFill>
                        <a:srgbClr val="2A3556"/>
                      </a:solidFill>
                      <a:prstDash val="solid"/>
                      <a:round/>
                      <a:headEnd type="none" w="med" len="med"/>
                      <a:tailEnd type="none" w="med" len="med"/>
                    </a:lnL>
                    <a:lnR w="6350" cap="flat" cmpd="sng" algn="ctr">
                      <a:solidFill>
                        <a:srgbClr val="2A3556"/>
                      </a:solidFill>
                      <a:prstDash val="solid"/>
                      <a:round/>
                      <a:headEnd type="none" w="med" len="med"/>
                      <a:tailEnd type="none" w="med" len="med"/>
                    </a:lnR>
                    <a:lnT w="6350" cap="flat" cmpd="sng" algn="ctr">
                      <a:solidFill>
                        <a:srgbClr val="2A3556"/>
                      </a:solidFill>
                      <a:prstDash val="solid"/>
                      <a:round/>
                      <a:headEnd type="none" w="med" len="med"/>
                      <a:tailEnd type="none" w="med" len="med"/>
                    </a:lnT>
                    <a:lnB w="6350" cap="flat" cmpd="sng" algn="ctr">
                      <a:solidFill>
                        <a:srgbClr val="2A3556"/>
                      </a:solidFill>
                      <a:prstDash val="solid"/>
                      <a:round/>
                      <a:headEnd type="none" w="med" len="med"/>
                      <a:tailEnd type="none" w="med" len="med"/>
                    </a:lnB>
                    <a:solidFill>
                      <a:srgbClr val="151C30"/>
                    </a:solidFill>
                  </a:tcPr>
                </a:tc>
                <a:tc>
                  <a:txBody>
                    <a:bodyPr/>
                    <a:lstStyle/>
                    <a:p>
                      <a:pPr indent="0" marL="0">
                        <a:buNone/>
                      </a:pPr>
                      <a:r>
                        <a:rPr lang="en-US" sz="1200" dirty="0">
                          <a:solidFill>
                            <a:srgbClr val="FFFFFF"/>
                          </a:solidFill>
                          <a:latin typeface="Calibri" pitchFamily="34" charset="0"/>
                          <a:ea typeface="Calibri" pitchFamily="34" charset="-122"/>
                          <a:cs typeface="Calibri" pitchFamily="34" charset="-120"/>
                        </a:rPr>
                        <a:t>296 dup · 1,518 payments</a:t>
                      </a:r>
                      <a:endParaRPr lang="en-US" sz="1200" dirty="0">
                        <a:latin typeface="Calibri" charset="0"/>
                        <a:ea typeface="Calibri" charset="0"/>
                        <a:cs typeface="Calibri" charset="0"/>
                      </a:endParaRPr>
                    </a:p>
                  </a:txBody>
                  <a:tcPr marL="91440" marR="91440" marT="45720" marB="45720">
                    <a:lnL w="6350" cap="flat" cmpd="sng" algn="ctr">
                      <a:solidFill>
                        <a:srgbClr val="2A3556"/>
                      </a:solidFill>
                      <a:prstDash val="solid"/>
                      <a:round/>
                      <a:headEnd type="none" w="med" len="med"/>
                      <a:tailEnd type="none" w="med" len="med"/>
                    </a:lnL>
                    <a:lnR w="6350" cap="flat" cmpd="sng" algn="ctr">
                      <a:solidFill>
                        <a:srgbClr val="2A3556"/>
                      </a:solidFill>
                      <a:prstDash val="solid"/>
                      <a:round/>
                      <a:headEnd type="none" w="med" len="med"/>
                      <a:tailEnd type="none" w="med" len="med"/>
                    </a:lnR>
                    <a:lnT w="6350" cap="flat" cmpd="sng" algn="ctr">
                      <a:solidFill>
                        <a:srgbClr val="2A3556"/>
                      </a:solidFill>
                      <a:prstDash val="solid"/>
                      <a:round/>
                      <a:headEnd type="none" w="med" len="med"/>
                      <a:tailEnd type="none" w="med" len="med"/>
                    </a:lnT>
                    <a:lnB w="6350" cap="flat" cmpd="sng" algn="ctr">
                      <a:solidFill>
                        <a:srgbClr val="2A3556"/>
                      </a:solidFill>
                      <a:prstDash val="solid"/>
                      <a:round/>
                      <a:headEnd type="none" w="med" len="med"/>
                      <a:tailEnd type="none" w="med" len="med"/>
                    </a:lnB>
                    <a:solidFill>
                      <a:srgbClr val="151C30"/>
                    </a:solidFill>
                  </a:tcPr>
                </a:tc>
              </a:tr>
              <a:tr h="384048">
                <a:tc>
                  <a:txBody>
                    <a:bodyPr/>
                    <a:lstStyle/>
                    <a:p>
                      <a:pPr indent="0" marL="0">
                        <a:buNone/>
                      </a:pPr>
                      <a:r>
                        <a:rPr lang="en-US" sz="1200" dirty="0">
                          <a:solidFill>
                            <a:srgbClr val="FFFFFF"/>
                          </a:solidFill>
                          <a:latin typeface="Calibri" pitchFamily="34" charset="0"/>
                          <a:ea typeface="Calibri" pitchFamily="34" charset="-122"/>
                          <a:cs typeface="Calibri" pitchFamily="34" charset="-120"/>
                        </a:rPr>
                        <a:t>Order items</a:t>
                      </a:r>
                      <a:endParaRPr lang="en-US" sz="1200" dirty="0">
                        <a:latin typeface="Calibri" charset="0"/>
                        <a:ea typeface="Calibri" charset="0"/>
                        <a:cs typeface="Calibri" charset="0"/>
                      </a:endParaRPr>
                    </a:p>
                  </a:txBody>
                  <a:tcPr marL="91440" marR="91440" marT="45720" marB="45720">
                    <a:lnL w="6350" cap="flat" cmpd="sng" algn="ctr">
                      <a:solidFill>
                        <a:srgbClr val="2A3556"/>
                      </a:solidFill>
                      <a:prstDash val="solid"/>
                      <a:round/>
                      <a:headEnd type="none" w="med" len="med"/>
                      <a:tailEnd type="none" w="med" len="med"/>
                    </a:lnL>
                    <a:lnR w="6350" cap="flat" cmpd="sng" algn="ctr">
                      <a:solidFill>
                        <a:srgbClr val="2A3556"/>
                      </a:solidFill>
                      <a:prstDash val="solid"/>
                      <a:round/>
                      <a:headEnd type="none" w="med" len="med"/>
                      <a:tailEnd type="none" w="med" len="med"/>
                    </a:lnR>
                    <a:lnT w="6350" cap="flat" cmpd="sng" algn="ctr">
                      <a:solidFill>
                        <a:srgbClr val="2A3556"/>
                      </a:solidFill>
                      <a:prstDash val="solid"/>
                      <a:round/>
                      <a:headEnd type="none" w="med" len="med"/>
                      <a:tailEnd type="none" w="med" len="med"/>
                    </a:lnT>
                    <a:lnB w="6350" cap="flat" cmpd="sng" algn="ctr">
                      <a:solidFill>
                        <a:srgbClr val="2A3556"/>
                      </a:solidFill>
                      <a:prstDash val="solid"/>
                      <a:round/>
                      <a:headEnd type="none" w="med" len="med"/>
                      <a:tailEnd type="none" w="med" len="med"/>
                    </a:lnB>
                    <a:solidFill>
                      <a:srgbClr val="151C30"/>
                    </a:solidFill>
                  </a:tcPr>
                </a:tc>
                <a:tc>
                  <a:txBody>
                    <a:bodyPr/>
                    <a:lstStyle/>
                    <a:p>
                      <a:pPr indent="0" marL="0">
                        <a:buNone/>
                      </a:pPr>
                      <a:r>
                        <a:rPr lang="en-US" sz="1200" dirty="0">
                          <a:solidFill>
                            <a:srgbClr val="FFFFFF"/>
                          </a:solidFill>
                          <a:latin typeface="Calibri" pitchFamily="34" charset="0"/>
                          <a:ea typeface="Calibri" pitchFamily="34" charset="-122"/>
                          <a:cs typeface="Calibri" pitchFamily="34" charset="-120"/>
                        </a:rPr>
                        <a:t>1,45,368</a:t>
                      </a:r>
                      <a:endParaRPr lang="en-US" sz="1200" dirty="0">
                        <a:latin typeface="Calibri" charset="0"/>
                        <a:ea typeface="Calibri" charset="0"/>
                        <a:cs typeface="Calibri" charset="0"/>
                      </a:endParaRPr>
                    </a:p>
                  </a:txBody>
                  <a:tcPr marL="91440" marR="91440" marT="45720" marB="45720">
                    <a:lnL w="6350" cap="flat" cmpd="sng" algn="ctr">
                      <a:solidFill>
                        <a:srgbClr val="2A3556"/>
                      </a:solidFill>
                      <a:prstDash val="solid"/>
                      <a:round/>
                      <a:headEnd type="none" w="med" len="med"/>
                      <a:tailEnd type="none" w="med" len="med"/>
                    </a:lnL>
                    <a:lnR w="6350" cap="flat" cmpd="sng" algn="ctr">
                      <a:solidFill>
                        <a:srgbClr val="2A3556"/>
                      </a:solidFill>
                      <a:prstDash val="solid"/>
                      <a:round/>
                      <a:headEnd type="none" w="med" len="med"/>
                      <a:tailEnd type="none" w="med" len="med"/>
                    </a:lnR>
                    <a:lnT w="6350" cap="flat" cmpd="sng" algn="ctr">
                      <a:solidFill>
                        <a:srgbClr val="2A3556"/>
                      </a:solidFill>
                      <a:prstDash val="solid"/>
                      <a:round/>
                      <a:headEnd type="none" w="med" len="med"/>
                      <a:tailEnd type="none" w="med" len="med"/>
                    </a:lnT>
                    <a:lnB w="6350" cap="flat" cmpd="sng" algn="ctr">
                      <a:solidFill>
                        <a:srgbClr val="2A3556"/>
                      </a:solidFill>
                      <a:prstDash val="solid"/>
                      <a:round/>
                      <a:headEnd type="none" w="med" len="med"/>
                      <a:tailEnd type="none" w="med" len="med"/>
                    </a:lnB>
                    <a:solidFill>
                      <a:srgbClr val="151C30"/>
                    </a:solidFill>
                  </a:tcPr>
                </a:tc>
                <a:tc>
                  <a:txBody>
                    <a:bodyPr/>
                    <a:lstStyle/>
                    <a:p>
                      <a:pPr indent="0" marL="0">
                        <a:buNone/>
                      </a:pPr>
                      <a:r>
                        <a:rPr lang="en-US" sz="1200" dirty="0">
                          <a:solidFill>
                            <a:srgbClr val="FFFFFF"/>
                          </a:solidFill>
                          <a:latin typeface="Calibri" pitchFamily="34" charset="0"/>
                          <a:ea typeface="Calibri" pitchFamily="34" charset="-122"/>
                          <a:cs typeface="Calibri" pitchFamily="34" charset="-120"/>
                        </a:rPr>
                        <a:t>1,45,160</a:t>
                      </a:r>
                      <a:endParaRPr lang="en-US" sz="1200" dirty="0">
                        <a:latin typeface="Calibri" charset="0"/>
                        <a:ea typeface="Calibri" charset="0"/>
                        <a:cs typeface="Calibri" charset="0"/>
                      </a:endParaRPr>
                    </a:p>
                  </a:txBody>
                  <a:tcPr marL="91440" marR="91440" marT="45720" marB="45720">
                    <a:lnL w="6350" cap="flat" cmpd="sng" algn="ctr">
                      <a:solidFill>
                        <a:srgbClr val="2A3556"/>
                      </a:solidFill>
                      <a:prstDash val="solid"/>
                      <a:round/>
                      <a:headEnd type="none" w="med" len="med"/>
                      <a:tailEnd type="none" w="med" len="med"/>
                    </a:lnL>
                    <a:lnR w="6350" cap="flat" cmpd="sng" algn="ctr">
                      <a:solidFill>
                        <a:srgbClr val="2A3556"/>
                      </a:solidFill>
                      <a:prstDash val="solid"/>
                      <a:round/>
                      <a:headEnd type="none" w="med" len="med"/>
                      <a:tailEnd type="none" w="med" len="med"/>
                    </a:lnR>
                    <a:lnT w="6350" cap="flat" cmpd="sng" algn="ctr">
                      <a:solidFill>
                        <a:srgbClr val="2A3556"/>
                      </a:solidFill>
                      <a:prstDash val="solid"/>
                      <a:round/>
                      <a:headEnd type="none" w="med" len="med"/>
                      <a:tailEnd type="none" w="med" len="med"/>
                    </a:lnT>
                    <a:lnB w="6350" cap="flat" cmpd="sng" algn="ctr">
                      <a:solidFill>
                        <a:srgbClr val="2A3556"/>
                      </a:solidFill>
                      <a:prstDash val="solid"/>
                      <a:round/>
                      <a:headEnd type="none" w="med" len="med"/>
                      <a:tailEnd type="none" w="med" len="med"/>
                    </a:lnB>
                    <a:solidFill>
                      <a:srgbClr val="151C30"/>
                    </a:solidFill>
                  </a:tcPr>
                </a:tc>
                <a:tc>
                  <a:txBody>
                    <a:bodyPr/>
                    <a:lstStyle/>
                    <a:p>
                      <a:pPr indent="0" marL="0">
                        <a:buNone/>
                      </a:pPr>
                      <a:r>
                        <a:rPr lang="en-US" sz="1200" dirty="0">
                          <a:solidFill>
                            <a:srgbClr val="FFFFFF"/>
                          </a:solidFill>
                          <a:latin typeface="Calibri" pitchFamily="34" charset="0"/>
                          <a:ea typeface="Calibri" pitchFamily="34" charset="-122"/>
                          <a:cs typeface="Calibri" pitchFamily="34" charset="-120"/>
                        </a:rPr>
                        <a:t>208 invalid qty</a:t>
                      </a:r>
                      <a:endParaRPr lang="en-US" sz="1200" dirty="0">
                        <a:latin typeface="Calibri" charset="0"/>
                        <a:ea typeface="Calibri" charset="0"/>
                        <a:cs typeface="Calibri" charset="0"/>
                      </a:endParaRPr>
                    </a:p>
                  </a:txBody>
                  <a:tcPr marL="91440" marR="91440" marT="45720" marB="45720">
                    <a:lnL w="6350" cap="flat" cmpd="sng" algn="ctr">
                      <a:solidFill>
                        <a:srgbClr val="2A3556"/>
                      </a:solidFill>
                      <a:prstDash val="solid"/>
                      <a:round/>
                      <a:headEnd type="none" w="med" len="med"/>
                      <a:tailEnd type="none" w="med" len="med"/>
                    </a:lnL>
                    <a:lnR w="6350" cap="flat" cmpd="sng" algn="ctr">
                      <a:solidFill>
                        <a:srgbClr val="2A3556"/>
                      </a:solidFill>
                      <a:prstDash val="solid"/>
                      <a:round/>
                      <a:headEnd type="none" w="med" len="med"/>
                      <a:tailEnd type="none" w="med" len="med"/>
                    </a:lnR>
                    <a:lnT w="6350" cap="flat" cmpd="sng" algn="ctr">
                      <a:solidFill>
                        <a:srgbClr val="2A3556"/>
                      </a:solidFill>
                      <a:prstDash val="solid"/>
                      <a:round/>
                      <a:headEnd type="none" w="med" len="med"/>
                      <a:tailEnd type="none" w="med" len="med"/>
                    </a:lnT>
                    <a:lnB w="6350" cap="flat" cmpd="sng" algn="ctr">
                      <a:solidFill>
                        <a:srgbClr val="2A3556"/>
                      </a:solidFill>
                      <a:prstDash val="solid"/>
                      <a:round/>
                      <a:headEnd type="none" w="med" len="med"/>
                      <a:tailEnd type="none" w="med" len="med"/>
                    </a:lnB>
                    <a:solidFill>
                      <a:srgbClr val="151C30"/>
                    </a:solidFill>
                  </a:tcPr>
                </a:tc>
              </a:tr>
              <a:tr h="384048">
                <a:tc>
                  <a:txBody>
                    <a:bodyPr/>
                    <a:lstStyle/>
                    <a:p>
                      <a:pPr indent="0" marL="0">
                        <a:buNone/>
                      </a:pPr>
                      <a:r>
                        <a:rPr lang="en-US" sz="1200" dirty="0">
                          <a:solidFill>
                            <a:srgbClr val="FFFFFF"/>
                          </a:solidFill>
                          <a:latin typeface="Calibri" pitchFamily="34" charset="0"/>
                          <a:ea typeface="Calibri" pitchFamily="34" charset="-122"/>
                          <a:cs typeface="Calibri" pitchFamily="34" charset="-120"/>
                        </a:rPr>
                        <a:t>Events</a:t>
                      </a:r>
                      <a:endParaRPr lang="en-US" sz="1200" dirty="0">
                        <a:latin typeface="Calibri" charset="0"/>
                        <a:ea typeface="Calibri" charset="0"/>
                        <a:cs typeface="Calibri" charset="0"/>
                      </a:endParaRPr>
                    </a:p>
                  </a:txBody>
                  <a:tcPr marL="91440" marR="91440" marT="45720" marB="45720">
                    <a:lnL w="6350" cap="flat" cmpd="sng" algn="ctr">
                      <a:solidFill>
                        <a:srgbClr val="2A3556"/>
                      </a:solidFill>
                      <a:prstDash val="solid"/>
                      <a:round/>
                      <a:headEnd type="none" w="med" len="med"/>
                      <a:tailEnd type="none" w="med" len="med"/>
                    </a:lnL>
                    <a:lnR w="6350" cap="flat" cmpd="sng" algn="ctr">
                      <a:solidFill>
                        <a:srgbClr val="2A3556"/>
                      </a:solidFill>
                      <a:prstDash val="solid"/>
                      <a:round/>
                      <a:headEnd type="none" w="med" len="med"/>
                      <a:tailEnd type="none" w="med" len="med"/>
                    </a:lnR>
                    <a:lnT w="6350" cap="flat" cmpd="sng" algn="ctr">
                      <a:solidFill>
                        <a:srgbClr val="2A3556"/>
                      </a:solidFill>
                      <a:prstDash val="solid"/>
                      <a:round/>
                      <a:headEnd type="none" w="med" len="med"/>
                      <a:tailEnd type="none" w="med" len="med"/>
                    </a:lnT>
                    <a:lnB w="6350" cap="flat" cmpd="sng" algn="ctr">
                      <a:solidFill>
                        <a:srgbClr val="2A3556"/>
                      </a:solidFill>
                      <a:prstDash val="solid"/>
                      <a:round/>
                      <a:headEnd type="none" w="med" len="med"/>
                      <a:tailEnd type="none" w="med" len="med"/>
                    </a:lnB>
                    <a:solidFill>
                      <a:srgbClr val="151C30"/>
                    </a:solidFill>
                  </a:tcPr>
                </a:tc>
                <a:tc>
                  <a:txBody>
                    <a:bodyPr/>
                    <a:lstStyle/>
                    <a:p>
                      <a:pPr indent="0" marL="0">
                        <a:buNone/>
                      </a:pPr>
                      <a:r>
                        <a:rPr lang="en-US" sz="1200" dirty="0">
                          <a:solidFill>
                            <a:srgbClr val="FFFFFF"/>
                          </a:solidFill>
                          <a:latin typeface="Calibri" pitchFamily="34" charset="0"/>
                          <a:ea typeface="Calibri" pitchFamily="34" charset="-122"/>
                          <a:cs typeface="Calibri" pitchFamily="34" charset="-120"/>
                        </a:rPr>
                        <a:t>13,51,601</a:t>
                      </a:r>
                      <a:endParaRPr lang="en-US" sz="1200" dirty="0">
                        <a:latin typeface="Calibri" charset="0"/>
                        <a:ea typeface="Calibri" charset="0"/>
                        <a:cs typeface="Calibri" charset="0"/>
                      </a:endParaRPr>
                    </a:p>
                  </a:txBody>
                  <a:tcPr marL="91440" marR="91440" marT="45720" marB="45720">
                    <a:lnL w="6350" cap="flat" cmpd="sng" algn="ctr">
                      <a:solidFill>
                        <a:srgbClr val="2A3556"/>
                      </a:solidFill>
                      <a:prstDash val="solid"/>
                      <a:round/>
                      <a:headEnd type="none" w="med" len="med"/>
                      <a:tailEnd type="none" w="med" len="med"/>
                    </a:lnL>
                    <a:lnR w="6350" cap="flat" cmpd="sng" algn="ctr">
                      <a:solidFill>
                        <a:srgbClr val="2A3556"/>
                      </a:solidFill>
                      <a:prstDash val="solid"/>
                      <a:round/>
                      <a:headEnd type="none" w="med" len="med"/>
                      <a:tailEnd type="none" w="med" len="med"/>
                    </a:lnR>
                    <a:lnT w="6350" cap="flat" cmpd="sng" algn="ctr">
                      <a:solidFill>
                        <a:srgbClr val="2A3556"/>
                      </a:solidFill>
                      <a:prstDash val="solid"/>
                      <a:round/>
                      <a:headEnd type="none" w="med" len="med"/>
                      <a:tailEnd type="none" w="med" len="med"/>
                    </a:lnT>
                    <a:lnB w="6350" cap="flat" cmpd="sng" algn="ctr">
                      <a:solidFill>
                        <a:srgbClr val="2A3556"/>
                      </a:solidFill>
                      <a:prstDash val="solid"/>
                      <a:round/>
                      <a:headEnd type="none" w="med" len="med"/>
                      <a:tailEnd type="none" w="med" len="med"/>
                    </a:lnB>
                    <a:solidFill>
                      <a:srgbClr val="151C30"/>
                    </a:solidFill>
                  </a:tcPr>
                </a:tc>
                <a:tc>
                  <a:txBody>
                    <a:bodyPr/>
                    <a:lstStyle/>
                    <a:p>
                      <a:pPr indent="0" marL="0">
                        <a:buNone/>
                      </a:pPr>
                      <a:r>
                        <a:rPr lang="en-US" sz="1200" dirty="0">
                          <a:solidFill>
                            <a:srgbClr val="FFFFFF"/>
                          </a:solidFill>
                          <a:latin typeface="Calibri" pitchFamily="34" charset="0"/>
                          <a:ea typeface="Calibri" pitchFamily="34" charset="-122"/>
                          <a:cs typeface="Calibri" pitchFamily="34" charset="-120"/>
                        </a:rPr>
                        <a:t>13,47,800</a:t>
                      </a:r>
                      <a:endParaRPr lang="en-US" sz="1200" dirty="0">
                        <a:latin typeface="Calibri" charset="0"/>
                        <a:ea typeface="Calibri" charset="0"/>
                        <a:cs typeface="Calibri" charset="0"/>
                      </a:endParaRPr>
                    </a:p>
                  </a:txBody>
                  <a:tcPr marL="91440" marR="91440" marT="45720" marB="45720">
                    <a:lnL w="6350" cap="flat" cmpd="sng" algn="ctr">
                      <a:solidFill>
                        <a:srgbClr val="2A3556"/>
                      </a:solidFill>
                      <a:prstDash val="solid"/>
                      <a:round/>
                      <a:headEnd type="none" w="med" len="med"/>
                      <a:tailEnd type="none" w="med" len="med"/>
                    </a:lnL>
                    <a:lnR w="6350" cap="flat" cmpd="sng" algn="ctr">
                      <a:solidFill>
                        <a:srgbClr val="2A3556"/>
                      </a:solidFill>
                      <a:prstDash val="solid"/>
                      <a:round/>
                      <a:headEnd type="none" w="med" len="med"/>
                      <a:tailEnd type="none" w="med" len="med"/>
                    </a:lnR>
                    <a:lnT w="6350" cap="flat" cmpd="sng" algn="ctr">
                      <a:solidFill>
                        <a:srgbClr val="2A3556"/>
                      </a:solidFill>
                      <a:prstDash val="solid"/>
                      <a:round/>
                      <a:headEnd type="none" w="med" len="med"/>
                      <a:tailEnd type="none" w="med" len="med"/>
                    </a:lnT>
                    <a:lnB w="6350" cap="flat" cmpd="sng" algn="ctr">
                      <a:solidFill>
                        <a:srgbClr val="2A3556"/>
                      </a:solidFill>
                      <a:prstDash val="solid"/>
                      <a:round/>
                      <a:headEnd type="none" w="med" len="med"/>
                      <a:tailEnd type="none" w="med" len="med"/>
                    </a:lnB>
                    <a:solidFill>
                      <a:srgbClr val="151C30"/>
                    </a:solidFill>
                  </a:tcPr>
                </a:tc>
                <a:tc>
                  <a:txBody>
                    <a:bodyPr/>
                    <a:lstStyle/>
                    <a:p>
                      <a:pPr indent="0" marL="0">
                        <a:buNone/>
                      </a:pPr>
                      <a:r>
                        <a:rPr lang="en-US" sz="1200" dirty="0">
                          <a:solidFill>
                            <a:srgbClr val="FFFFFF"/>
                          </a:solidFill>
                          <a:latin typeface="Calibri" pitchFamily="34" charset="0"/>
                          <a:ea typeface="Calibri" pitchFamily="34" charset="-122"/>
                          <a:cs typeface="Calibri" pitchFamily="34" charset="-120"/>
                        </a:rPr>
                        <a:t>2,685 dup · 3,362 casing</a:t>
                      </a:r>
                      <a:endParaRPr lang="en-US" sz="1200" dirty="0">
                        <a:latin typeface="Calibri" charset="0"/>
                        <a:ea typeface="Calibri" charset="0"/>
                        <a:cs typeface="Calibri" charset="0"/>
                      </a:endParaRPr>
                    </a:p>
                  </a:txBody>
                  <a:tcPr marL="91440" marR="91440" marT="45720" marB="45720">
                    <a:lnL w="6350" cap="flat" cmpd="sng" algn="ctr">
                      <a:solidFill>
                        <a:srgbClr val="2A3556"/>
                      </a:solidFill>
                      <a:prstDash val="solid"/>
                      <a:round/>
                      <a:headEnd type="none" w="med" len="med"/>
                      <a:tailEnd type="none" w="med" len="med"/>
                    </a:lnL>
                    <a:lnR w="6350" cap="flat" cmpd="sng" algn="ctr">
                      <a:solidFill>
                        <a:srgbClr val="2A3556"/>
                      </a:solidFill>
                      <a:prstDash val="solid"/>
                      <a:round/>
                      <a:headEnd type="none" w="med" len="med"/>
                      <a:tailEnd type="none" w="med" len="med"/>
                    </a:lnR>
                    <a:lnT w="6350" cap="flat" cmpd="sng" algn="ctr">
                      <a:solidFill>
                        <a:srgbClr val="2A3556"/>
                      </a:solidFill>
                      <a:prstDash val="solid"/>
                      <a:round/>
                      <a:headEnd type="none" w="med" len="med"/>
                      <a:tailEnd type="none" w="med" len="med"/>
                    </a:lnT>
                    <a:lnB w="6350" cap="flat" cmpd="sng" algn="ctr">
                      <a:solidFill>
                        <a:srgbClr val="2A3556"/>
                      </a:solidFill>
                      <a:prstDash val="solid"/>
                      <a:round/>
                      <a:headEnd type="none" w="med" len="med"/>
                      <a:tailEnd type="none" w="med" len="med"/>
                    </a:lnB>
                    <a:solidFill>
                      <a:srgbClr val="151C30"/>
                    </a:solidFill>
                  </a:tcPr>
                </a:tc>
              </a:tr>
            </a:tbl>
          </a:graphicData>
        </a:graphic>
      </p:graphicFrame>
      <p:sp>
        <p:nvSpPr>
          <p:cNvPr id="8" name="Shape 4"/>
          <p:cNvSpPr/>
          <p:nvPr/>
        </p:nvSpPr>
        <p:spPr>
          <a:xfrm>
            <a:off x="6675120" y="1508760"/>
            <a:ext cx="4937760" cy="4663440"/>
          </a:xfrm>
          <a:prstGeom prst="roundRect">
            <a:avLst>
              <a:gd name="adj" fmla="val 2353"/>
            </a:avLst>
          </a:prstGeom>
          <a:solidFill>
            <a:srgbClr val="151C30"/>
          </a:solidFill>
          <a:ln w="9525">
            <a:solidFill>
              <a:srgbClr val="2A3556"/>
            </a:solidFill>
            <a:prstDash val="solid"/>
          </a:ln>
        </p:spPr>
      </p:sp>
      <p:sp>
        <p:nvSpPr>
          <p:cNvPr id="9" name="Text 5"/>
          <p:cNvSpPr txBox="1"/>
          <p:nvPr/>
        </p:nvSpPr>
        <p:spPr>
          <a:xfrm>
            <a:off x="6949440" y="1691640"/>
            <a:ext cx="4480560" cy="365760"/>
          </a:xfrm>
          <a:prstGeom prst="rect">
            <a:avLst/>
          </a:prstGeom>
          <a:noFill/>
          <a:ln/>
        </p:spPr>
        <p:txBody>
          <a:bodyPr wrap="square" lIns="0" tIns="0" rIns="0" bIns="0" rtlCol="0" anchor="ctr"/>
          <a:lstStyle/>
          <a:p>
            <a:pPr indent="0" marL="0">
              <a:buNone/>
            </a:pPr>
            <a:r>
              <a:rPr lang="en-US" sz="1500" b="1" dirty="0">
                <a:solidFill>
                  <a:srgbClr val="06B6D4"/>
                </a:solidFill>
                <a:latin typeface="Arial" pitchFamily="34" charset="0"/>
                <a:ea typeface="Arial" pitchFamily="34" charset="-122"/>
                <a:cs typeface="Arial" pitchFamily="34" charset="-120"/>
              </a:rPr>
              <a:t>Run on a 4-core laptop (medium scale)</a:t>
            </a:r>
            <a:endParaRPr lang="en-US" sz="1500" dirty="0"/>
          </a:p>
        </p:txBody>
      </p:sp>
      <p:graphicFrame>
        <p:nvGraphicFramePr>
          <p:cNvPr id="10" name="Chart 0" descr=""/>
          <p:cNvGraphicFramePr/>
          <p:nvPr/>
        </p:nvGraphicFramePr>
        <p:xfrm>
          <a:off x="6858000" y="2103120"/>
          <a:ext cx="4572000" cy="3200400"/>
        </p:xfrm>
        <a:graphic xmlns:a="http://schemas.openxmlformats.org/drawingml/2006/main">
          <a:graphicData uri="http://schemas.openxmlformats.org/drawingml/2006/chart">
            <c:chart xmlns:c="http://schemas.openxmlformats.org/drawingml/2006/chart" r:id="rId2"/>
          </a:graphicData>
        </a:graphic>
      </p:graphicFrame>
      <p:sp>
        <p:nvSpPr>
          <p:cNvPr id="11" name="Text 6"/>
          <p:cNvSpPr txBox="1"/>
          <p:nvPr/>
        </p:nvSpPr>
        <p:spPr>
          <a:xfrm>
            <a:off x="6949440" y="5440680"/>
            <a:ext cx="4480560" cy="548640"/>
          </a:xfrm>
          <a:prstGeom prst="rect">
            <a:avLst/>
          </a:prstGeom>
          <a:noFill/>
          <a:ln/>
        </p:spPr>
        <p:txBody>
          <a:bodyPr wrap="square" lIns="0" tIns="0" rIns="0" bIns="0" rtlCol="0" anchor="ctr"/>
          <a:lstStyle/>
          <a:p>
            <a:pPr indent="0" marL="0">
              <a:buNone/>
            </a:pPr>
            <a:r>
              <a:rPr lang="en-US" sz="1300" dirty="0">
                <a:solidFill>
                  <a:srgbClr val="A9B3CC"/>
                </a:solidFill>
                <a:latin typeface="Calibri" pitchFamily="34" charset="0"/>
                <a:ea typeface="Calibri" pitchFamily="34" charset="-122"/>
                <a:cs typeface="Calibri" pitchFamily="34" charset="-120"/>
              </a:rPr>
              <a:t>Total: 6.7 min for ≈1.4 M records · every stage logged to MongoDB</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020"/>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200" b="1" spc="300" kern="0" dirty="0">
                <a:solidFill>
                  <a:srgbClr val="06B6D4"/>
                </a:solidFill>
                <a:latin typeface="Calibri" pitchFamily="34" charset="0"/>
                <a:ea typeface="Calibri" pitchFamily="34" charset="-122"/>
                <a:cs typeface="Calibri" pitchFamily="34" charset="-120"/>
              </a:rPr>
              <a:t>INTELLIGENCE LAYER</a:t>
            </a:r>
            <a:endParaRPr lang="en-US" sz="1200" dirty="0"/>
          </a:p>
        </p:txBody>
      </p:sp>
      <p:sp>
        <p:nvSpPr>
          <p:cNvPr id="3" name="Text 1"/>
          <p:cNvSpPr txBox="1"/>
          <p:nvPr/>
        </p:nvSpPr>
        <p:spPr>
          <a:xfrm>
            <a:off x="548640" y="603504"/>
            <a:ext cx="11064240" cy="685800"/>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Six machine-learning models (Spark MLlib)</a:t>
            </a:r>
            <a:endParaRPr lang="en-US" sz="3200" dirty="0"/>
          </a:p>
        </p:txBody>
      </p:sp>
      <p:sp>
        <p:nvSpPr>
          <p:cNvPr id="4" name="Text 2"/>
          <p:cNvSpPr txBox="1"/>
          <p:nvPr/>
        </p:nvSpPr>
        <p:spPr>
          <a:xfrm>
            <a:off x="8412480" y="6446520"/>
            <a:ext cx="3246120" cy="274320"/>
          </a:xfrm>
          <a:prstGeom prst="rect">
            <a:avLst/>
          </a:prstGeom>
          <a:noFill/>
          <a:ln/>
        </p:spPr>
        <p:txBody>
          <a:bodyPr wrap="square" lIns="0" tIns="0" rIns="0" bIns="0" rtlCol="0" anchor="ctr"/>
          <a:lstStyle/>
          <a:p>
            <a:pPr algn="r" indent="0" marL="0">
              <a:buNone/>
            </a:pPr>
            <a:r>
              <a:rPr lang="en-US" sz="1000" dirty="0">
                <a:solidFill>
                  <a:srgbClr val="7D88A6"/>
                </a:solidFill>
                <a:latin typeface="Calibri" pitchFamily="34" charset="0"/>
                <a:ea typeface="Calibri" pitchFamily="34" charset="-122"/>
                <a:cs typeface="Calibri" pitchFamily="34" charset="-120"/>
              </a:rPr>
              <a:t>ShopSense · Big Data Analytics  |  10</a:t>
            </a:r>
            <a:endParaRPr lang="en-US" sz="1000" dirty="0"/>
          </a:p>
        </p:txBody>
      </p:sp>
      <p:sp>
        <p:nvSpPr>
          <p:cNvPr id="5" name="Shape 3"/>
          <p:cNvSpPr/>
          <p:nvPr/>
        </p:nvSpPr>
        <p:spPr>
          <a:xfrm>
            <a:off x="548640" y="1600200"/>
            <a:ext cx="3474720" cy="2148840"/>
          </a:xfrm>
          <a:prstGeom prst="roundRect">
            <a:avLst>
              <a:gd name="adj" fmla="val 5106"/>
            </a:avLst>
          </a:prstGeom>
          <a:solidFill>
            <a:srgbClr val="151C30"/>
          </a:solidFill>
          <a:ln w="9525">
            <a:solidFill>
              <a:srgbClr val="2A3556"/>
            </a:solidFill>
            <a:prstDash val="solid"/>
          </a:ln>
        </p:spPr>
      </p:sp>
      <p:sp>
        <p:nvSpPr>
          <p:cNvPr id="6" name="Shape 4"/>
          <p:cNvSpPr/>
          <p:nvPr/>
        </p:nvSpPr>
        <p:spPr>
          <a:xfrm>
            <a:off x="822960" y="1874520"/>
            <a:ext cx="640080" cy="640080"/>
          </a:xfrm>
          <a:prstGeom prst="ellipse">
            <a:avLst/>
          </a:prstGeom>
          <a:solidFill>
            <a:srgbClr val="6366F1"/>
          </a:solidFill>
          <a:ln w="12700">
            <a:solidFill>
              <a:srgbClr val="6366F1"/>
            </a:solidFill>
            <a:prstDash val="solid"/>
          </a:ln>
        </p:spPr>
      </p:sp>
      <p:pic>
        <p:nvPicPr>
          <p:cNvPr id="7" name="Image 0" descr="preencoded.png">    </p:cNvPr>
          <p:cNvPicPr>
            <a:picLocks noChangeAspect="1"/>
          </p:cNvPicPr>
          <p:nvPr/>
        </p:nvPicPr>
        <p:blipFill>
          <a:blip r:embed="rId1"/>
          <a:stretch>
            <a:fillRect/>
          </a:stretch>
        </p:blipFill>
        <p:spPr>
          <a:xfrm>
            <a:off x="976579" y="2028139"/>
            <a:ext cx="332842" cy="332842"/>
          </a:xfrm>
          <a:prstGeom prst="rect">
            <a:avLst/>
          </a:prstGeom>
        </p:spPr>
      </p:pic>
      <p:sp>
        <p:nvSpPr>
          <p:cNvPr id="8" name="Text 5"/>
          <p:cNvSpPr txBox="1"/>
          <p:nvPr/>
        </p:nvSpPr>
        <p:spPr>
          <a:xfrm>
            <a:off x="1600200" y="1874520"/>
            <a:ext cx="2331720" cy="36576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Segmentation</a:t>
            </a:r>
            <a:endParaRPr lang="en-US" sz="1800" dirty="0"/>
          </a:p>
        </p:txBody>
      </p:sp>
      <p:sp>
        <p:nvSpPr>
          <p:cNvPr id="9" name="Text 6"/>
          <p:cNvSpPr txBox="1"/>
          <p:nvPr/>
        </p:nvSpPr>
        <p:spPr>
          <a:xfrm>
            <a:off x="1600200" y="2240280"/>
            <a:ext cx="2331720" cy="320040"/>
          </a:xfrm>
          <a:prstGeom prst="rect">
            <a:avLst/>
          </a:prstGeom>
          <a:noFill/>
          <a:ln/>
        </p:spPr>
        <p:txBody>
          <a:bodyPr wrap="square" lIns="0" tIns="0" rIns="0" bIns="0" rtlCol="0" anchor="ctr"/>
          <a:lstStyle/>
          <a:p>
            <a:pPr indent="0" marL="0">
              <a:buNone/>
            </a:pPr>
            <a:r>
              <a:rPr lang="en-US" sz="1300" dirty="0">
                <a:solidFill>
                  <a:srgbClr val="A9B3CC"/>
                </a:solidFill>
                <a:latin typeface="Calibri" pitchFamily="34" charset="0"/>
                <a:ea typeface="Calibri" pitchFamily="34" charset="-122"/>
                <a:cs typeface="Calibri" pitchFamily="34" charset="-120"/>
              </a:rPr>
              <a:t>RFM + K-Means</a:t>
            </a:r>
            <a:endParaRPr lang="en-US" sz="1300" dirty="0"/>
          </a:p>
        </p:txBody>
      </p:sp>
      <p:sp>
        <p:nvSpPr>
          <p:cNvPr id="10" name="Text 7"/>
          <p:cNvSpPr txBox="1"/>
          <p:nvPr/>
        </p:nvSpPr>
        <p:spPr>
          <a:xfrm>
            <a:off x="822960" y="2834640"/>
            <a:ext cx="2971800" cy="731520"/>
          </a:xfrm>
          <a:prstGeom prst="rect">
            <a:avLst/>
          </a:prstGeom>
          <a:noFill/>
          <a:ln/>
        </p:spPr>
        <p:txBody>
          <a:bodyPr wrap="square" lIns="0" tIns="0" rIns="0" bIns="0" rtlCol="0" anchor="t"/>
          <a:lstStyle/>
          <a:p>
            <a:pPr indent="0" marL="0">
              <a:buNone/>
            </a:pPr>
            <a:r>
              <a:rPr lang="en-US" sz="1500" b="1" dirty="0">
                <a:solidFill>
                  <a:srgbClr val="6366F1"/>
                </a:solidFill>
                <a:latin typeface="Arial" pitchFamily="34" charset="0"/>
                <a:ea typeface="Arial" pitchFamily="34" charset="-122"/>
                <a:cs typeface="Arial" pitchFamily="34" charset="-120"/>
              </a:rPr>
              <a:t>k = 5 · silhouette 0.375</a:t>
            </a:r>
            <a:endParaRPr lang="en-US" sz="1500" dirty="0"/>
          </a:p>
        </p:txBody>
      </p:sp>
      <p:sp>
        <p:nvSpPr>
          <p:cNvPr id="11" name="Shape 8"/>
          <p:cNvSpPr/>
          <p:nvPr/>
        </p:nvSpPr>
        <p:spPr>
          <a:xfrm>
            <a:off x="4297680" y="1600200"/>
            <a:ext cx="3474720" cy="2148840"/>
          </a:xfrm>
          <a:prstGeom prst="roundRect">
            <a:avLst>
              <a:gd name="adj" fmla="val 5106"/>
            </a:avLst>
          </a:prstGeom>
          <a:solidFill>
            <a:srgbClr val="151C30"/>
          </a:solidFill>
          <a:ln w="9525">
            <a:solidFill>
              <a:srgbClr val="2A3556"/>
            </a:solidFill>
            <a:prstDash val="solid"/>
          </a:ln>
        </p:spPr>
      </p:sp>
      <p:sp>
        <p:nvSpPr>
          <p:cNvPr id="12" name="Shape 9"/>
          <p:cNvSpPr/>
          <p:nvPr/>
        </p:nvSpPr>
        <p:spPr>
          <a:xfrm>
            <a:off x="4572000" y="1874520"/>
            <a:ext cx="640080" cy="640080"/>
          </a:xfrm>
          <a:prstGeom prst="ellipse">
            <a:avLst/>
          </a:prstGeom>
          <a:solidFill>
            <a:srgbClr val="EF4444"/>
          </a:solidFill>
          <a:ln w="12700">
            <a:solidFill>
              <a:srgbClr val="EF4444"/>
            </a:solidFill>
            <a:prstDash val="solid"/>
          </a:ln>
        </p:spPr>
      </p:sp>
      <p:pic>
        <p:nvPicPr>
          <p:cNvPr id="13" name="Image 1" descr="preencoded.png">    </p:cNvPr>
          <p:cNvPicPr>
            <a:picLocks noChangeAspect="1"/>
          </p:cNvPicPr>
          <p:nvPr/>
        </p:nvPicPr>
        <p:blipFill>
          <a:blip r:embed="rId2"/>
          <a:stretch>
            <a:fillRect/>
          </a:stretch>
        </p:blipFill>
        <p:spPr>
          <a:xfrm>
            <a:off x="4725619" y="2028139"/>
            <a:ext cx="332842" cy="332842"/>
          </a:xfrm>
          <a:prstGeom prst="rect">
            <a:avLst/>
          </a:prstGeom>
        </p:spPr>
      </p:pic>
      <p:sp>
        <p:nvSpPr>
          <p:cNvPr id="14" name="Text 10"/>
          <p:cNvSpPr txBox="1"/>
          <p:nvPr/>
        </p:nvSpPr>
        <p:spPr>
          <a:xfrm>
            <a:off x="5349240" y="1874520"/>
            <a:ext cx="2331720" cy="36576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Churn prediction</a:t>
            </a:r>
            <a:endParaRPr lang="en-US" sz="1800" dirty="0"/>
          </a:p>
        </p:txBody>
      </p:sp>
      <p:sp>
        <p:nvSpPr>
          <p:cNvPr id="15" name="Text 11"/>
          <p:cNvSpPr txBox="1"/>
          <p:nvPr/>
        </p:nvSpPr>
        <p:spPr>
          <a:xfrm>
            <a:off x="5349240" y="2240280"/>
            <a:ext cx="2331720" cy="320040"/>
          </a:xfrm>
          <a:prstGeom prst="rect">
            <a:avLst/>
          </a:prstGeom>
          <a:noFill/>
          <a:ln/>
        </p:spPr>
        <p:txBody>
          <a:bodyPr wrap="square" lIns="0" tIns="0" rIns="0" bIns="0" rtlCol="0" anchor="ctr"/>
          <a:lstStyle/>
          <a:p>
            <a:pPr indent="0" marL="0">
              <a:buNone/>
            </a:pPr>
            <a:r>
              <a:rPr lang="en-US" sz="1300" dirty="0">
                <a:solidFill>
                  <a:srgbClr val="A9B3CC"/>
                </a:solidFill>
                <a:latin typeface="Calibri" pitchFamily="34" charset="0"/>
                <a:ea typeface="Calibri" pitchFamily="34" charset="-122"/>
                <a:cs typeface="Calibri" pitchFamily="34" charset="-120"/>
              </a:rPr>
              <a:t>LR vs RF vs GBT</a:t>
            </a:r>
            <a:endParaRPr lang="en-US" sz="1300" dirty="0"/>
          </a:p>
        </p:txBody>
      </p:sp>
      <p:sp>
        <p:nvSpPr>
          <p:cNvPr id="16" name="Text 12"/>
          <p:cNvSpPr txBox="1"/>
          <p:nvPr/>
        </p:nvSpPr>
        <p:spPr>
          <a:xfrm>
            <a:off x="4572000" y="2834640"/>
            <a:ext cx="2971800" cy="731520"/>
          </a:xfrm>
          <a:prstGeom prst="rect">
            <a:avLst/>
          </a:prstGeom>
          <a:noFill/>
          <a:ln/>
        </p:spPr>
        <p:txBody>
          <a:bodyPr wrap="square" lIns="0" tIns="0" rIns="0" bIns="0" rtlCol="0" anchor="t"/>
          <a:lstStyle/>
          <a:p>
            <a:pPr indent="0" marL="0">
              <a:buNone/>
            </a:pPr>
            <a:r>
              <a:rPr lang="en-US" sz="1500" b="1" dirty="0">
                <a:solidFill>
                  <a:srgbClr val="EF4444"/>
                </a:solidFill>
                <a:latin typeface="Arial" pitchFamily="34" charset="0"/>
                <a:ea typeface="Arial" pitchFamily="34" charset="-122"/>
                <a:cs typeface="Arial" pitchFamily="34" charset="-120"/>
              </a:rPr>
              <a:t>AUC 0.955 · precision 93.5%</a:t>
            </a:r>
            <a:endParaRPr lang="en-US" sz="1500" dirty="0"/>
          </a:p>
        </p:txBody>
      </p:sp>
      <p:sp>
        <p:nvSpPr>
          <p:cNvPr id="17" name="Shape 13"/>
          <p:cNvSpPr/>
          <p:nvPr/>
        </p:nvSpPr>
        <p:spPr>
          <a:xfrm>
            <a:off x="8046720" y="1600200"/>
            <a:ext cx="3474720" cy="2148840"/>
          </a:xfrm>
          <a:prstGeom prst="roundRect">
            <a:avLst>
              <a:gd name="adj" fmla="val 5106"/>
            </a:avLst>
          </a:prstGeom>
          <a:solidFill>
            <a:srgbClr val="151C30"/>
          </a:solidFill>
          <a:ln w="9525">
            <a:solidFill>
              <a:srgbClr val="2A3556"/>
            </a:solidFill>
            <a:prstDash val="solid"/>
          </a:ln>
        </p:spPr>
      </p:sp>
      <p:sp>
        <p:nvSpPr>
          <p:cNvPr id="18" name="Shape 14"/>
          <p:cNvSpPr/>
          <p:nvPr/>
        </p:nvSpPr>
        <p:spPr>
          <a:xfrm>
            <a:off x="8321040" y="1874520"/>
            <a:ext cx="640080" cy="640080"/>
          </a:xfrm>
          <a:prstGeom prst="ellipse">
            <a:avLst/>
          </a:prstGeom>
          <a:solidFill>
            <a:srgbClr val="F59E0B"/>
          </a:solidFill>
          <a:ln w="12700">
            <a:solidFill>
              <a:srgbClr val="F59E0B"/>
            </a:solidFill>
            <a:prstDash val="solid"/>
          </a:ln>
        </p:spPr>
      </p:sp>
      <p:pic>
        <p:nvPicPr>
          <p:cNvPr id="19" name="Image 2" descr="preencoded.png">    </p:cNvPr>
          <p:cNvPicPr>
            <a:picLocks noChangeAspect="1"/>
          </p:cNvPicPr>
          <p:nvPr/>
        </p:nvPicPr>
        <p:blipFill>
          <a:blip r:embed="rId3"/>
          <a:stretch>
            <a:fillRect/>
          </a:stretch>
        </p:blipFill>
        <p:spPr>
          <a:xfrm>
            <a:off x="8474659" y="2028139"/>
            <a:ext cx="332842" cy="332842"/>
          </a:xfrm>
          <a:prstGeom prst="rect">
            <a:avLst/>
          </a:prstGeom>
        </p:spPr>
      </p:pic>
      <p:sp>
        <p:nvSpPr>
          <p:cNvPr id="20" name="Text 15"/>
          <p:cNvSpPr txBox="1"/>
          <p:nvPr/>
        </p:nvSpPr>
        <p:spPr>
          <a:xfrm>
            <a:off x="9098280" y="1874520"/>
            <a:ext cx="2331720" cy="36576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Recommendations</a:t>
            </a:r>
            <a:endParaRPr lang="en-US" sz="1800" dirty="0"/>
          </a:p>
        </p:txBody>
      </p:sp>
      <p:sp>
        <p:nvSpPr>
          <p:cNvPr id="21" name="Text 16"/>
          <p:cNvSpPr txBox="1"/>
          <p:nvPr/>
        </p:nvSpPr>
        <p:spPr>
          <a:xfrm>
            <a:off x="9098280" y="2240280"/>
            <a:ext cx="2331720" cy="320040"/>
          </a:xfrm>
          <a:prstGeom prst="rect">
            <a:avLst/>
          </a:prstGeom>
          <a:noFill/>
          <a:ln/>
        </p:spPr>
        <p:txBody>
          <a:bodyPr wrap="square" lIns="0" tIns="0" rIns="0" bIns="0" rtlCol="0" anchor="ctr"/>
          <a:lstStyle/>
          <a:p>
            <a:pPr indent="0" marL="0">
              <a:buNone/>
            </a:pPr>
            <a:r>
              <a:rPr lang="en-US" sz="1300" dirty="0">
                <a:solidFill>
                  <a:srgbClr val="A9B3CC"/>
                </a:solidFill>
                <a:latin typeface="Calibri" pitchFamily="34" charset="0"/>
                <a:ea typeface="Calibri" pitchFamily="34" charset="-122"/>
                <a:cs typeface="Calibri" pitchFamily="34" charset="-120"/>
              </a:rPr>
              <a:t>Implicit-feedback ALS</a:t>
            </a:r>
            <a:endParaRPr lang="en-US" sz="1300" dirty="0"/>
          </a:p>
        </p:txBody>
      </p:sp>
      <p:sp>
        <p:nvSpPr>
          <p:cNvPr id="22" name="Text 17"/>
          <p:cNvSpPr txBox="1"/>
          <p:nvPr/>
        </p:nvSpPr>
        <p:spPr>
          <a:xfrm>
            <a:off x="8321040" y="2834640"/>
            <a:ext cx="2971800" cy="731520"/>
          </a:xfrm>
          <a:prstGeom prst="rect">
            <a:avLst/>
          </a:prstGeom>
          <a:noFill/>
          <a:ln/>
        </p:spPr>
        <p:txBody>
          <a:bodyPr wrap="square" lIns="0" tIns="0" rIns="0" bIns="0" rtlCol="0" anchor="t"/>
          <a:lstStyle/>
          <a:p>
            <a:pPr indent="0" marL="0">
              <a:buNone/>
            </a:pPr>
            <a:r>
              <a:rPr lang="en-US" sz="1500" b="1" dirty="0">
                <a:solidFill>
                  <a:srgbClr val="F59E0B"/>
                </a:solidFill>
                <a:latin typeface="Arial" pitchFamily="34" charset="0"/>
                <a:ea typeface="Arial" pitchFamily="34" charset="-122"/>
                <a:cs typeface="Arial" pitchFamily="34" charset="-120"/>
              </a:rPr>
              <a:t>HitRate@10 0.18 · 1.8× baseline</a:t>
            </a:r>
            <a:endParaRPr lang="en-US" sz="1500" dirty="0"/>
          </a:p>
        </p:txBody>
      </p:sp>
      <p:sp>
        <p:nvSpPr>
          <p:cNvPr id="23" name="Shape 18"/>
          <p:cNvSpPr/>
          <p:nvPr/>
        </p:nvSpPr>
        <p:spPr>
          <a:xfrm>
            <a:off x="548640" y="3977640"/>
            <a:ext cx="3474720" cy="2148840"/>
          </a:xfrm>
          <a:prstGeom prst="roundRect">
            <a:avLst>
              <a:gd name="adj" fmla="val 5106"/>
            </a:avLst>
          </a:prstGeom>
          <a:solidFill>
            <a:srgbClr val="151C30"/>
          </a:solidFill>
          <a:ln w="9525">
            <a:solidFill>
              <a:srgbClr val="2A3556"/>
            </a:solidFill>
            <a:prstDash val="solid"/>
          </a:ln>
        </p:spPr>
      </p:sp>
      <p:sp>
        <p:nvSpPr>
          <p:cNvPr id="24" name="Shape 19"/>
          <p:cNvSpPr/>
          <p:nvPr/>
        </p:nvSpPr>
        <p:spPr>
          <a:xfrm>
            <a:off x="822960" y="4251960"/>
            <a:ext cx="640080" cy="640080"/>
          </a:xfrm>
          <a:prstGeom prst="ellipse">
            <a:avLst/>
          </a:prstGeom>
          <a:solidFill>
            <a:srgbClr val="22C55E"/>
          </a:solidFill>
          <a:ln w="12700">
            <a:solidFill>
              <a:srgbClr val="22C55E"/>
            </a:solidFill>
            <a:prstDash val="solid"/>
          </a:ln>
        </p:spPr>
      </p:sp>
      <p:pic>
        <p:nvPicPr>
          <p:cNvPr id="25" name="Image 3" descr="preencoded.png">    </p:cNvPr>
          <p:cNvPicPr>
            <a:picLocks noChangeAspect="1"/>
          </p:cNvPicPr>
          <p:nvPr/>
        </p:nvPicPr>
        <p:blipFill>
          <a:blip r:embed="rId4"/>
          <a:stretch>
            <a:fillRect/>
          </a:stretch>
        </p:blipFill>
        <p:spPr>
          <a:xfrm>
            <a:off x="976579" y="4405579"/>
            <a:ext cx="332842" cy="332842"/>
          </a:xfrm>
          <a:prstGeom prst="rect">
            <a:avLst/>
          </a:prstGeom>
        </p:spPr>
      </p:pic>
      <p:sp>
        <p:nvSpPr>
          <p:cNvPr id="26" name="Text 20"/>
          <p:cNvSpPr txBox="1"/>
          <p:nvPr/>
        </p:nvSpPr>
        <p:spPr>
          <a:xfrm>
            <a:off x="1600200" y="4251960"/>
            <a:ext cx="2331720" cy="36576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Market basket</a:t>
            </a:r>
            <a:endParaRPr lang="en-US" sz="1800" dirty="0"/>
          </a:p>
        </p:txBody>
      </p:sp>
      <p:sp>
        <p:nvSpPr>
          <p:cNvPr id="27" name="Text 21"/>
          <p:cNvSpPr txBox="1"/>
          <p:nvPr/>
        </p:nvSpPr>
        <p:spPr>
          <a:xfrm>
            <a:off x="1600200" y="4617720"/>
            <a:ext cx="2331720" cy="320040"/>
          </a:xfrm>
          <a:prstGeom prst="rect">
            <a:avLst/>
          </a:prstGeom>
          <a:noFill/>
          <a:ln/>
        </p:spPr>
        <p:txBody>
          <a:bodyPr wrap="square" lIns="0" tIns="0" rIns="0" bIns="0" rtlCol="0" anchor="ctr"/>
          <a:lstStyle/>
          <a:p>
            <a:pPr indent="0" marL="0">
              <a:buNone/>
            </a:pPr>
            <a:r>
              <a:rPr lang="en-US" sz="1300" dirty="0">
                <a:solidFill>
                  <a:srgbClr val="A9B3CC"/>
                </a:solidFill>
                <a:latin typeface="Calibri" pitchFamily="34" charset="0"/>
                <a:ea typeface="Calibri" pitchFamily="34" charset="-122"/>
                <a:cs typeface="Calibri" pitchFamily="34" charset="-120"/>
              </a:rPr>
              <a:t>FP-Growth</a:t>
            </a:r>
            <a:endParaRPr lang="en-US" sz="1300" dirty="0"/>
          </a:p>
        </p:txBody>
      </p:sp>
      <p:sp>
        <p:nvSpPr>
          <p:cNvPr id="28" name="Text 22"/>
          <p:cNvSpPr txBox="1"/>
          <p:nvPr/>
        </p:nvSpPr>
        <p:spPr>
          <a:xfrm>
            <a:off x="822960" y="5212080"/>
            <a:ext cx="2971800" cy="731520"/>
          </a:xfrm>
          <a:prstGeom prst="rect">
            <a:avLst/>
          </a:prstGeom>
          <a:noFill/>
          <a:ln/>
        </p:spPr>
        <p:txBody>
          <a:bodyPr wrap="square" lIns="0" tIns="0" rIns="0" bIns="0" rtlCol="0" anchor="t"/>
          <a:lstStyle/>
          <a:p>
            <a:pPr indent="0" marL="0">
              <a:buNone/>
            </a:pPr>
            <a:r>
              <a:rPr lang="en-US" sz="1500" b="1" dirty="0">
                <a:solidFill>
                  <a:srgbClr val="22C55E"/>
                </a:solidFill>
                <a:latin typeface="Arial" pitchFamily="34" charset="0"/>
                <a:ea typeface="Arial" pitchFamily="34" charset="-122"/>
                <a:cs typeface="Arial" pitchFamily="34" charset="-120"/>
              </a:rPr>
              <a:t>281 rules · lift up to 135×</a:t>
            </a:r>
            <a:endParaRPr lang="en-US" sz="1500" dirty="0"/>
          </a:p>
        </p:txBody>
      </p:sp>
      <p:sp>
        <p:nvSpPr>
          <p:cNvPr id="29" name="Shape 23"/>
          <p:cNvSpPr/>
          <p:nvPr/>
        </p:nvSpPr>
        <p:spPr>
          <a:xfrm>
            <a:off x="4297680" y="3977640"/>
            <a:ext cx="3474720" cy="2148840"/>
          </a:xfrm>
          <a:prstGeom prst="roundRect">
            <a:avLst>
              <a:gd name="adj" fmla="val 5106"/>
            </a:avLst>
          </a:prstGeom>
          <a:solidFill>
            <a:srgbClr val="151C30"/>
          </a:solidFill>
          <a:ln w="9525">
            <a:solidFill>
              <a:srgbClr val="2A3556"/>
            </a:solidFill>
            <a:prstDash val="solid"/>
          </a:ln>
        </p:spPr>
      </p:sp>
      <p:sp>
        <p:nvSpPr>
          <p:cNvPr id="30" name="Shape 24"/>
          <p:cNvSpPr/>
          <p:nvPr/>
        </p:nvSpPr>
        <p:spPr>
          <a:xfrm>
            <a:off x="4572000" y="4251960"/>
            <a:ext cx="640080" cy="640080"/>
          </a:xfrm>
          <a:prstGeom prst="ellipse">
            <a:avLst/>
          </a:prstGeom>
          <a:solidFill>
            <a:srgbClr val="06B6D4"/>
          </a:solidFill>
          <a:ln w="12700">
            <a:solidFill>
              <a:srgbClr val="06B6D4"/>
            </a:solidFill>
            <a:prstDash val="solid"/>
          </a:ln>
        </p:spPr>
      </p:sp>
      <p:pic>
        <p:nvPicPr>
          <p:cNvPr id="31" name="Image 4" descr="preencoded.png">    </p:cNvPr>
          <p:cNvPicPr>
            <a:picLocks noChangeAspect="1"/>
          </p:cNvPicPr>
          <p:nvPr/>
        </p:nvPicPr>
        <p:blipFill>
          <a:blip r:embed="rId5"/>
          <a:stretch>
            <a:fillRect/>
          </a:stretch>
        </p:blipFill>
        <p:spPr>
          <a:xfrm>
            <a:off x="4725619" y="4405579"/>
            <a:ext cx="332842" cy="332842"/>
          </a:xfrm>
          <a:prstGeom prst="rect">
            <a:avLst/>
          </a:prstGeom>
        </p:spPr>
      </p:pic>
      <p:sp>
        <p:nvSpPr>
          <p:cNvPr id="32" name="Text 25"/>
          <p:cNvSpPr txBox="1"/>
          <p:nvPr/>
        </p:nvSpPr>
        <p:spPr>
          <a:xfrm>
            <a:off x="5349240" y="4251960"/>
            <a:ext cx="2331720" cy="36576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Forecasting</a:t>
            </a:r>
            <a:endParaRPr lang="en-US" sz="1800" dirty="0"/>
          </a:p>
        </p:txBody>
      </p:sp>
      <p:sp>
        <p:nvSpPr>
          <p:cNvPr id="33" name="Text 26"/>
          <p:cNvSpPr txBox="1"/>
          <p:nvPr/>
        </p:nvSpPr>
        <p:spPr>
          <a:xfrm>
            <a:off x="5349240" y="4617720"/>
            <a:ext cx="2331720" cy="320040"/>
          </a:xfrm>
          <a:prstGeom prst="rect">
            <a:avLst/>
          </a:prstGeom>
          <a:noFill/>
          <a:ln/>
        </p:spPr>
        <p:txBody>
          <a:bodyPr wrap="square" lIns="0" tIns="0" rIns="0" bIns="0" rtlCol="0" anchor="ctr"/>
          <a:lstStyle/>
          <a:p>
            <a:pPr indent="0" marL="0">
              <a:buNone/>
            </a:pPr>
            <a:r>
              <a:rPr lang="en-US" sz="1300" dirty="0">
                <a:solidFill>
                  <a:srgbClr val="A9B3CC"/>
                </a:solidFill>
                <a:latin typeface="Calibri" pitchFamily="34" charset="0"/>
                <a:ea typeface="Calibri" pitchFamily="34" charset="-122"/>
                <a:cs typeface="Calibri" pitchFamily="34" charset="-120"/>
              </a:rPr>
              <a:t>LR trend + RF seasonality</a:t>
            </a:r>
            <a:endParaRPr lang="en-US" sz="1300" dirty="0"/>
          </a:p>
        </p:txBody>
      </p:sp>
      <p:sp>
        <p:nvSpPr>
          <p:cNvPr id="34" name="Text 27"/>
          <p:cNvSpPr txBox="1"/>
          <p:nvPr/>
        </p:nvSpPr>
        <p:spPr>
          <a:xfrm>
            <a:off x="4572000" y="5212080"/>
            <a:ext cx="2971800" cy="731520"/>
          </a:xfrm>
          <a:prstGeom prst="rect">
            <a:avLst/>
          </a:prstGeom>
          <a:noFill/>
          <a:ln/>
        </p:spPr>
        <p:txBody>
          <a:bodyPr wrap="square" lIns="0" tIns="0" rIns="0" bIns="0" rtlCol="0" anchor="t"/>
          <a:lstStyle/>
          <a:p>
            <a:pPr indent="0" marL="0">
              <a:buNone/>
            </a:pPr>
            <a:r>
              <a:rPr lang="en-US" sz="1500" b="1" dirty="0">
                <a:solidFill>
                  <a:srgbClr val="06B6D4"/>
                </a:solidFill>
                <a:latin typeface="Arial" pitchFamily="34" charset="0"/>
                <a:ea typeface="Arial" pitchFamily="34" charset="-122"/>
                <a:cs typeface="Arial" pitchFamily="34" charset="-120"/>
              </a:rPr>
              <a:t>best daily MAPE 20.78% · weekly 6.78%</a:t>
            </a:r>
            <a:endParaRPr lang="en-US" sz="1500" dirty="0"/>
          </a:p>
        </p:txBody>
      </p:sp>
      <p:sp>
        <p:nvSpPr>
          <p:cNvPr id="35" name="Shape 28"/>
          <p:cNvSpPr/>
          <p:nvPr/>
        </p:nvSpPr>
        <p:spPr>
          <a:xfrm>
            <a:off x="8046720" y="3977640"/>
            <a:ext cx="3474720" cy="2148840"/>
          </a:xfrm>
          <a:prstGeom prst="roundRect">
            <a:avLst>
              <a:gd name="adj" fmla="val 5106"/>
            </a:avLst>
          </a:prstGeom>
          <a:solidFill>
            <a:srgbClr val="151C30"/>
          </a:solidFill>
          <a:ln w="9525">
            <a:solidFill>
              <a:srgbClr val="2A3556"/>
            </a:solidFill>
            <a:prstDash val="solid"/>
          </a:ln>
        </p:spPr>
      </p:sp>
      <p:sp>
        <p:nvSpPr>
          <p:cNvPr id="36" name="Shape 29"/>
          <p:cNvSpPr/>
          <p:nvPr/>
        </p:nvSpPr>
        <p:spPr>
          <a:xfrm>
            <a:off x="8321040" y="4251960"/>
            <a:ext cx="640080" cy="640080"/>
          </a:xfrm>
          <a:prstGeom prst="ellipse">
            <a:avLst/>
          </a:prstGeom>
          <a:solidFill>
            <a:srgbClr val="8B5CF6"/>
          </a:solidFill>
          <a:ln w="12700">
            <a:solidFill>
              <a:srgbClr val="8B5CF6"/>
            </a:solidFill>
            <a:prstDash val="solid"/>
          </a:ln>
        </p:spPr>
      </p:sp>
      <p:pic>
        <p:nvPicPr>
          <p:cNvPr id="37" name="Image 5" descr="preencoded.png">    </p:cNvPr>
          <p:cNvPicPr>
            <a:picLocks noChangeAspect="1"/>
          </p:cNvPicPr>
          <p:nvPr/>
        </p:nvPicPr>
        <p:blipFill>
          <a:blip r:embed="rId6"/>
          <a:stretch>
            <a:fillRect/>
          </a:stretch>
        </p:blipFill>
        <p:spPr>
          <a:xfrm>
            <a:off x="8474659" y="4405579"/>
            <a:ext cx="332842" cy="332842"/>
          </a:xfrm>
          <a:prstGeom prst="rect">
            <a:avLst/>
          </a:prstGeom>
        </p:spPr>
      </p:pic>
      <p:sp>
        <p:nvSpPr>
          <p:cNvPr id="38" name="Text 30"/>
          <p:cNvSpPr txBox="1"/>
          <p:nvPr/>
        </p:nvSpPr>
        <p:spPr>
          <a:xfrm>
            <a:off x="9098280" y="4251960"/>
            <a:ext cx="2331720" cy="36576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Anomaly detection</a:t>
            </a:r>
            <a:endParaRPr lang="en-US" sz="1800" dirty="0"/>
          </a:p>
        </p:txBody>
      </p:sp>
      <p:sp>
        <p:nvSpPr>
          <p:cNvPr id="39" name="Text 31"/>
          <p:cNvSpPr txBox="1"/>
          <p:nvPr/>
        </p:nvSpPr>
        <p:spPr>
          <a:xfrm>
            <a:off x="9098280" y="4617720"/>
            <a:ext cx="2331720" cy="320040"/>
          </a:xfrm>
          <a:prstGeom prst="rect">
            <a:avLst/>
          </a:prstGeom>
          <a:noFill/>
          <a:ln/>
        </p:spPr>
        <p:txBody>
          <a:bodyPr wrap="square" lIns="0" tIns="0" rIns="0" bIns="0" rtlCol="0" anchor="ctr"/>
          <a:lstStyle/>
          <a:p>
            <a:pPr indent="0" marL="0">
              <a:buNone/>
            </a:pPr>
            <a:r>
              <a:rPr lang="en-US" sz="1300" dirty="0">
                <a:solidFill>
                  <a:srgbClr val="A9B3CC"/>
                </a:solidFill>
                <a:latin typeface="Calibri" pitchFamily="34" charset="0"/>
                <a:ea typeface="Calibri" pitchFamily="34" charset="-122"/>
                <a:cs typeface="Calibri" pitchFamily="34" charset="-120"/>
              </a:rPr>
              <a:t>Robust z-score (MAD)</a:t>
            </a:r>
            <a:endParaRPr lang="en-US" sz="1300" dirty="0"/>
          </a:p>
        </p:txBody>
      </p:sp>
      <p:sp>
        <p:nvSpPr>
          <p:cNvPr id="40" name="Text 32"/>
          <p:cNvSpPr txBox="1"/>
          <p:nvPr/>
        </p:nvSpPr>
        <p:spPr>
          <a:xfrm>
            <a:off x="8321040" y="5212080"/>
            <a:ext cx="2971800" cy="731520"/>
          </a:xfrm>
          <a:prstGeom prst="rect">
            <a:avLst/>
          </a:prstGeom>
          <a:noFill/>
          <a:ln/>
        </p:spPr>
        <p:txBody>
          <a:bodyPr wrap="square" lIns="0" tIns="0" rIns="0" bIns="0" rtlCol="0" anchor="t"/>
          <a:lstStyle/>
          <a:p>
            <a:pPr indent="0" marL="0">
              <a:buNone/>
            </a:pPr>
            <a:r>
              <a:rPr lang="en-US" sz="1500" b="1" dirty="0">
                <a:solidFill>
                  <a:srgbClr val="8B5CF6"/>
                </a:solidFill>
                <a:latin typeface="Arial" pitchFamily="34" charset="0"/>
                <a:ea typeface="Arial" pitchFamily="34" charset="-122"/>
                <a:cs typeface="Arial" pitchFamily="34" charset="-120"/>
              </a:rPr>
              <a:t>4/4 planted events · 0 false alarms</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020"/>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200" b="1" spc="300" kern="0" dirty="0">
                <a:solidFill>
                  <a:srgbClr val="06B6D4"/>
                </a:solidFill>
                <a:latin typeface="Calibri" pitchFamily="34" charset="0"/>
                <a:ea typeface="Calibri" pitchFamily="34" charset="-122"/>
                <a:cs typeface="Calibri" pitchFamily="34" charset="-120"/>
              </a:rPr>
              <a:t>RFM + K-MEANS</a:t>
            </a:r>
            <a:endParaRPr lang="en-US" sz="1200" dirty="0"/>
          </a:p>
        </p:txBody>
      </p:sp>
      <p:sp>
        <p:nvSpPr>
          <p:cNvPr id="3" name="Text 1"/>
          <p:cNvSpPr txBox="1"/>
          <p:nvPr/>
        </p:nvSpPr>
        <p:spPr>
          <a:xfrm>
            <a:off x="548640" y="603504"/>
            <a:ext cx="11064240" cy="685800"/>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Customer segmentation: who are our customers?</a:t>
            </a:r>
            <a:endParaRPr lang="en-US" sz="3200" dirty="0"/>
          </a:p>
        </p:txBody>
      </p:sp>
      <p:sp>
        <p:nvSpPr>
          <p:cNvPr id="4" name="Text 2"/>
          <p:cNvSpPr txBox="1"/>
          <p:nvPr/>
        </p:nvSpPr>
        <p:spPr>
          <a:xfrm>
            <a:off x="8412480" y="6446520"/>
            <a:ext cx="3246120" cy="274320"/>
          </a:xfrm>
          <a:prstGeom prst="rect">
            <a:avLst/>
          </a:prstGeom>
          <a:noFill/>
          <a:ln/>
        </p:spPr>
        <p:txBody>
          <a:bodyPr wrap="square" lIns="0" tIns="0" rIns="0" bIns="0" rtlCol="0" anchor="ctr"/>
          <a:lstStyle/>
          <a:p>
            <a:pPr algn="r" indent="0" marL="0">
              <a:buNone/>
            </a:pPr>
            <a:r>
              <a:rPr lang="en-US" sz="1000" dirty="0">
                <a:solidFill>
                  <a:srgbClr val="7D88A6"/>
                </a:solidFill>
                <a:latin typeface="Calibri" pitchFamily="34" charset="0"/>
                <a:ea typeface="Calibri" pitchFamily="34" charset="-122"/>
                <a:cs typeface="Calibri" pitchFamily="34" charset="-120"/>
              </a:rPr>
              <a:t>ShopSense · Big Data Analytics  |  11</a:t>
            </a:r>
            <a:endParaRPr lang="en-US" sz="1000" dirty="0"/>
          </a:p>
        </p:txBody>
      </p:sp>
      <p:sp>
        <p:nvSpPr>
          <p:cNvPr id="5" name="Shape 3"/>
          <p:cNvSpPr/>
          <p:nvPr/>
        </p:nvSpPr>
        <p:spPr>
          <a:xfrm>
            <a:off x="548640" y="1508760"/>
            <a:ext cx="5943600" cy="4663440"/>
          </a:xfrm>
          <a:prstGeom prst="roundRect">
            <a:avLst>
              <a:gd name="adj" fmla="val 2353"/>
            </a:avLst>
          </a:prstGeom>
          <a:solidFill>
            <a:srgbClr val="FFFFFF"/>
          </a:solidFill>
          <a:ln w="9525">
            <a:solidFill>
              <a:srgbClr val="2A3556"/>
            </a:solidFill>
            <a:prstDash val="solid"/>
          </a:ln>
        </p:spPr>
      </p:sp>
      <p:pic>
        <p:nvPicPr>
          <p:cNvPr id="6" name="Image 0" descr="/tmp/claude-0/-home-user-BDA/48a080a6-c4a7-5521-8912-9b4289475339/scratchpad/cards/se_pca.png">    </p:cNvPr>
          <p:cNvPicPr>
            <a:picLocks noChangeAspect="1"/>
          </p:cNvPicPr>
          <p:nvPr/>
        </p:nvPicPr>
        <p:blipFill>
          <a:blip r:embed="rId1"/>
          <a:stretch>
            <a:fillRect/>
          </a:stretch>
        </p:blipFill>
        <p:spPr>
          <a:xfrm>
            <a:off x="830642" y="1600200"/>
            <a:ext cx="5379596" cy="4480560"/>
          </a:xfrm>
          <a:prstGeom prst="rect">
            <a:avLst/>
          </a:prstGeom>
        </p:spPr>
      </p:pic>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766560" y="1508760"/>
          <a:ext cx="4846320" cy="914400"/>
        </p:xfrm>
        <a:graphic>
          <a:graphicData uri="http://schemas.openxmlformats.org/drawingml/2006/table">
            <a:tbl>
              <a:tblPr/>
              <a:tblGrid>
                <a:gridCol w="1737360"/>
                <a:gridCol w="1051560"/>
                <a:gridCol w="1005840"/>
                <a:gridCol w="1051560"/>
              </a:tblGrid>
              <a:tr h="384048">
                <a:tc>
                  <a:txBody>
                    <a:bodyPr/>
                    <a:lstStyle/>
                    <a:p>
                      <a:pPr indent="0" marL="0">
                        <a:buNone/>
                      </a:pPr>
                      <a:r>
                        <a:rPr lang="en-US" sz="1300" b="1" dirty="0">
                          <a:solidFill>
                            <a:srgbClr val="06B6D4"/>
                          </a:solidFill>
                          <a:latin typeface="Calibri" pitchFamily="34" charset="0"/>
                          <a:ea typeface="Calibri" pitchFamily="34" charset="-122"/>
                          <a:cs typeface="Calibri" pitchFamily="34" charset="-120"/>
                        </a:rPr>
                        <a:t>Segment</a:t>
                      </a:r>
                      <a:endParaRPr lang="en-US" sz="1300" dirty="0">
                        <a:latin typeface="Calibri" charset="0"/>
                        <a:ea typeface="Calibri" charset="0"/>
                        <a:cs typeface="Calibri" charset="0"/>
                      </a:endParaRPr>
                    </a:p>
                  </a:txBody>
                  <a:tcPr marL="91440" marR="91440" marT="45720" marB="45720">
                    <a:lnL w="6350" cap="flat" cmpd="sng" algn="ctr">
                      <a:solidFill>
                        <a:srgbClr val="2A3556"/>
                      </a:solidFill>
                      <a:prstDash val="solid"/>
                      <a:round/>
                      <a:headEnd type="none" w="med" len="med"/>
                      <a:tailEnd type="none" w="med" len="med"/>
                    </a:lnL>
                    <a:lnR w="6350" cap="flat" cmpd="sng" algn="ctr">
                      <a:solidFill>
                        <a:srgbClr val="2A3556"/>
                      </a:solidFill>
                      <a:prstDash val="solid"/>
                      <a:round/>
                      <a:headEnd type="none" w="med" len="med"/>
                      <a:tailEnd type="none" w="med" len="med"/>
                    </a:lnR>
                    <a:lnT w="6350" cap="flat" cmpd="sng" algn="ctr">
                      <a:solidFill>
                        <a:srgbClr val="2A3556"/>
                      </a:solidFill>
                      <a:prstDash val="solid"/>
                      <a:round/>
                      <a:headEnd type="none" w="med" len="med"/>
                      <a:tailEnd type="none" w="med" len="med"/>
                    </a:lnT>
                    <a:lnB w="6350" cap="flat" cmpd="sng" algn="ctr">
                      <a:solidFill>
                        <a:srgbClr val="2A3556"/>
                      </a:solidFill>
                      <a:prstDash val="solid"/>
                      <a:round/>
                      <a:headEnd type="none" w="med" len="med"/>
                      <a:tailEnd type="none" w="med" len="med"/>
                    </a:lnB>
                    <a:solidFill>
                      <a:srgbClr val="1C2540"/>
                    </a:solidFill>
                  </a:tcPr>
                </a:tc>
                <a:tc>
                  <a:txBody>
                    <a:bodyPr/>
                    <a:lstStyle/>
                    <a:p>
                      <a:pPr indent="0" marL="0">
                        <a:buNone/>
                      </a:pPr>
                      <a:r>
                        <a:rPr lang="en-US" sz="1300" b="1" dirty="0">
                          <a:solidFill>
                            <a:srgbClr val="06B6D4"/>
                          </a:solidFill>
                          <a:latin typeface="Calibri" pitchFamily="34" charset="0"/>
                          <a:ea typeface="Calibri" pitchFamily="34" charset="-122"/>
                          <a:cs typeface="Calibri" pitchFamily="34" charset="-120"/>
                        </a:rPr>
                        <a:t>Customers</a:t>
                      </a:r>
                      <a:endParaRPr lang="en-US" sz="1300" dirty="0">
                        <a:latin typeface="Calibri" charset="0"/>
                        <a:ea typeface="Calibri" charset="0"/>
                        <a:cs typeface="Calibri" charset="0"/>
                      </a:endParaRPr>
                    </a:p>
                  </a:txBody>
                  <a:tcPr marL="91440" marR="91440" marT="45720" marB="45720">
                    <a:lnL w="6350" cap="flat" cmpd="sng" algn="ctr">
                      <a:solidFill>
                        <a:srgbClr val="2A3556"/>
                      </a:solidFill>
                      <a:prstDash val="solid"/>
                      <a:round/>
                      <a:headEnd type="none" w="med" len="med"/>
                      <a:tailEnd type="none" w="med" len="med"/>
                    </a:lnL>
                    <a:lnR w="6350" cap="flat" cmpd="sng" algn="ctr">
                      <a:solidFill>
                        <a:srgbClr val="2A3556"/>
                      </a:solidFill>
                      <a:prstDash val="solid"/>
                      <a:round/>
                      <a:headEnd type="none" w="med" len="med"/>
                      <a:tailEnd type="none" w="med" len="med"/>
                    </a:lnR>
                    <a:lnT w="6350" cap="flat" cmpd="sng" algn="ctr">
                      <a:solidFill>
                        <a:srgbClr val="2A3556"/>
                      </a:solidFill>
                      <a:prstDash val="solid"/>
                      <a:round/>
                      <a:headEnd type="none" w="med" len="med"/>
                      <a:tailEnd type="none" w="med" len="med"/>
                    </a:lnT>
                    <a:lnB w="6350" cap="flat" cmpd="sng" algn="ctr">
                      <a:solidFill>
                        <a:srgbClr val="2A3556"/>
                      </a:solidFill>
                      <a:prstDash val="solid"/>
                      <a:round/>
                      <a:headEnd type="none" w="med" len="med"/>
                      <a:tailEnd type="none" w="med" len="med"/>
                    </a:lnB>
                    <a:solidFill>
                      <a:srgbClr val="1C2540"/>
                    </a:solidFill>
                  </a:tcPr>
                </a:tc>
                <a:tc>
                  <a:txBody>
                    <a:bodyPr/>
                    <a:lstStyle/>
                    <a:p>
                      <a:pPr indent="0" marL="0">
                        <a:buNone/>
                      </a:pPr>
                      <a:r>
                        <a:rPr lang="en-US" sz="1300" b="1" dirty="0">
                          <a:solidFill>
                            <a:srgbClr val="06B6D4"/>
                          </a:solidFill>
                          <a:latin typeface="Calibri" pitchFamily="34" charset="0"/>
                          <a:ea typeface="Calibri" pitchFamily="34" charset="-122"/>
                          <a:cs typeface="Calibri" pitchFamily="34" charset="-120"/>
                        </a:rPr>
                        <a:t>Avg orders</a:t>
                      </a:r>
                      <a:endParaRPr lang="en-US" sz="1300" dirty="0">
                        <a:latin typeface="Calibri" charset="0"/>
                        <a:ea typeface="Calibri" charset="0"/>
                        <a:cs typeface="Calibri" charset="0"/>
                      </a:endParaRPr>
                    </a:p>
                  </a:txBody>
                  <a:tcPr marL="91440" marR="91440" marT="45720" marB="45720">
                    <a:lnL w="6350" cap="flat" cmpd="sng" algn="ctr">
                      <a:solidFill>
                        <a:srgbClr val="2A3556"/>
                      </a:solidFill>
                      <a:prstDash val="solid"/>
                      <a:round/>
                      <a:headEnd type="none" w="med" len="med"/>
                      <a:tailEnd type="none" w="med" len="med"/>
                    </a:lnL>
                    <a:lnR w="6350" cap="flat" cmpd="sng" algn="ctr">
                      <a:solidFill>
                        <a:srgbClr val="2A3556"/>
                      </a:solidFill>
                      <a:prstDash val="solid"/>
                      <a:round/>
                      <a:headEnd type="none" w="med" len="med"/>
                      <a:tailEnd type="none" w="med" len="med"/>
                    </a:lnR>
                    <a:lnT w="6350" cap="flat" cmpd="sng" algn="ctr">
                      <a:solidFill>
                        <a:srgbClr val="2A3556"/>
                      </a:solidFill>
                      <a:prstDash val="solid"/>
                      <a:round/>
                      <a:headEnd type="none" w="med" len="med"/>
                      <a:tailEnd type="none" w="med" len="med"/>
                    </a:lnT>
                    <a:lnB w="6350" cap="flat" cmpd="sng" algn="ctr">
                      <a:solidFill>
                        <a:srgbClr val="2A3556"/>
                      </a:solidFill>
                      <a:prstDash val="solid"/>
                      <a:round/>
                      <a:headEnd type="none" w="med" len="med"/>
                      <a:tailEnd type="none" w="med" len="med"/>
                    </a:lnB>
                    <a:solidFill>
                      <a:srgbClr val="1C2540"/>
                    </a:solidFill>
                  </a:tcPr>
                </a:tc>
                <a:tc>
                  <a:txBody>
                    <a:bodyPr/>
                    <a:lstStyle/>
                    <a:p>
                      <a:pPr indent="0" marL="0">
                        <a:buNone/>
                      </a:pPr>
                      <a:r>
                        <a:rPr lang="en-US" sz="1300" b="1" dirty="0">
                          <a:solidFill>
                            <a:srgbClr val="06B6D4"/>
                          </a:solidFill>
                          <a:latin typeface="Calibri" pitchFamily="34" charset="0"/>
                          <a:ea typeface="Calibri" pitchFamily="34" charset="-122"/>
                          <a:cs typeface="Calibri" pitchFamily="34" charset="-120"/>
                        </a:rPr>
                        <a:t>Revenue</a:t>
                      </a:r>
                      <a:endParaRPr lang="en-US" sz="1300" dirty="0">
                        <a:latin typeface="Calibri" charset="0"/>
                        <a:ea typeface="Calibri" charset="0"/>
                        <a:cs typeface="Calibri" charset="0"/>
                      </a:endParaRPr>
                    </a:p>
                  </a:txBody>
                  <a:tcPr marL="91440" marR="91440" marT="45720" marB="45720">
                    <a:lnL w="6350" cap="flat" cmpd="sng" algn="ctr">
                      <a:solidFill>
                        <a:srgbClr val="2A3556"/>
                      </a:solidFill>
                      <a:prstDash val="solid"/>
                      <a:round/>
                      <a:headEnd type="none" w="med" len="med"/>
                      <a:tailEnd type="none" w="med" len="med"/>
                    </a:lnL>
                    <a:lnR w="6350" cap="flat" cmpd="sng" algn="ctr">
                      <a:solidFill>
                        <a:srgbClr val="2A3556"/>
                      </a:solidFill>
                      <a:prstDash val="solid"/>
                      <a:round/>
                      <a:headEnd type="none" w="med" len="med"/>
                      <a:tailEnd type="none" w="med" len="med"/>
                    </a:lnR>
                    <a:lnT w="6350" cap="flat" cmpd="sng" algn="ctr">
                      <a:solidFill>
                        <a:srgbClr val="2A3556"/>
                      </a:solidFill>
                      <a:prstDash val="solid"/>
                      <a:round/>
                      <a:headEnd type="none" w="med" len="med"/>
                      <a:tailEnd type="none" w="med" len="med"/>
                    </a:lnT>
                    <a:lnB w="6350" cap="flat" cmpd="sng" algn="ctr">
                      <a:solidFill>
                        <a:srgbClr val="2A3556"/>
                      </a:solidFill>
                      <a:prstDash val="solid"/>
                      <a:round/>
                      <a:headEnd type="none" w="med" len="med"/>
                      <a:tailEnd type="none" w="med" len="med"/>
                    </a:lnB>
                    <a:solidFill>
                      <a:srgbClr val="1C2540"/>
                    </a:solidFill>
                  </a:tcPr>
                </a:tc>
              </a:tr>
              <a:tr h="384048">
                <a:tc>
                  <a:txBody>
                    <a:bodyPr/>
                    <a:lstStyle/>
                    <a:p>
                      <a:pPr indent="0" marL="0">
                        <a:buNone/>
                      </a:pPr>
                      <a:r>
                        <a:rPr lang="en-US" sz="1300" dirty="0">
                          <a:solidFill>
                            <a:srgbClr val="FFFFFF"/>
                          </a:solidFill>
                          <a:latin typeface="Calibri" pitchFamily="34" charset="0"/>
                          <a:ea typeface="Calibri" pitchFamily="34" charset="-122"/>
                          <a:cs typeface="Calibri" pitchFamily="34" charset="-120"/>
                        </a:rPr>
                        <a:t>Champions</a:t>
                      </a:r>
                      <a:endParaRPr lang="en-US" sz="1300" dirty="0">
                        <a:latin typeface="Calibri" charset="0"/>
                        <a:ea typeface="Calibri" charset="0"/>
                        <a:cs typeface="Calibri" charset="0"/>
                      </a:endParaRPr>
                    </a:p>
                  </a:txBody>
                  <a:tcPr marL="91440" marR="91440" marT="45720" marB="45720">
                    <a:lnL w="6350" cap="flat" cmpd="sng" algn="ctr">
                      <a:solidFill>
                        <a:srgbClr val="2A3556"/>
                      </a:solidFill>
                      <a:prstDash val="solid"/>
                      <a:round/>
                      <a:headEnd type="none" w="med" len="med"/>
                      <a:tailEnd type="none" w="med" len="med"/>
                    </a:lnL>
                    <a:lnR w="6350" cap="flat" cmpd="sng" algn="ctr">
                      <a:solidFill>
                        <a:srgbClr val="2A3556"/>
                      </a:solidFill>
                      <a:prstDash val="solid"/>
                      <a:round/>
                      <a:headEnd type="none" w="med" len="med"/>
                      <a:tailEnd type="none" w="med" len="med"/>
                    </a:lnR>
                    <a:lnT w="6350" cap="flat" cmpd="sng" algn="ctr">
                      <a:solidFill>
                        <a:srgbClr val="2A3556"/>
                      </a:solidFill>
                      <a:prstDash val="solid"/>
                      <a:round/>
                      <a:headEnd type="none" w="med" len="med"/>
                      <a:tailEnd type="none" w="med" len="med"/>
                    </a:lnT>
                    <a:lnB w="6350" cap="flat" cmpd="sng" algn="ctr">
                      <a:solidFill>
                        <a:srgbClr val="2A3556"/>
                      </a:solidFill>
                      <a:prstDash val="solid"/>
                      <a:round/>
                      <a:headEnd type="none" w="med" len="med"/>
                      <a:tailEnd type="none" w="med" len="med"/>
                    </a:lnB>
                    <a:solidFill>
                      <a:srgbClr val="151C30"/>
                    </a:solidFill>
                  </a:tcPr>
                </a:tc>
                <a:tc>
                  <a:txBody>
                    <a:bodyPr/>
                    <a:lstStyle/>
                    <a:p>
                      <a:pPr indent="0" marL="0">
                        <a:buNone/>
                      </a:pPr>
                      <a:r>
                        <a:rPr lang="en-US" sz="1300" dirty="0">
                          <a:solidFill>
                            <a:srgbClr val="FFFFFF"/>
                          </a:solidFill>
                          <a:latin typeface="Calibri" pitchFamily="34" charset="0"/>
                          <a:ea typeface="Calibri" pitchFamily="34" charset="-122"/>
                          <a:cs typeface="Calibri" pitchFamily="34" charset="-120"/>
                        </a:rPr>
                        <a:t>1,394</a:t>
                      </a:r>
                      <a:endParaRPr lang="en-US" sz="1300" dirty="0">
                        <a:latin typeface="Calibri" charset="0"/>
                        <a:ea typeface="Calibri" charset="0"/>
                        <a:cs typeface="Calibri" charset="0"/>
                      </a:endParaRPr>
                    </a:p>
                  </a:txBody>
                  <a:tcPr marL="91440" marR="91440" marT="45720" marB="45720">
                    <a:lnL w="6350" cap="flat" cmpd="sng" algn="ctr">
                      <a:solidFill>
                        <a:srgbClr val="2A3556"/>
                      </a:solidFill>
                      <a:prstDash val="solid"/>
                      <a:round/>
                      <a:headEnd type="none" w="med" len="med"/>
                      <a:tailEnd type="none" w="med" len="med"/>
                    </a:lnL>
                    <a:lnR w="6350" cap="flat" cmpd="sng" algn="ctr">
                      <a:solidFill>
                        <a:srgbClr val="2A3556"/>
                      </a:solidFill>
                      <a:prstDash val="solid"/>
                      <a:round/>
                      <a:headEnd type="none" w="med" len="med"/>
                      <a:tailEnd type="none" w="med" len="med"/>
                    </a:lnR>
                    <a:lnT w="6350" cap="flat" cmpd="sng" algn="ctr">
                      <a:solidFill>
                        <a:srgbClr val="2A3556"/>
                      </a:solidFill>
                      <a:prstDash val="solid"/>
                      <a:round/>
                      <a:headEnd type="none" w="med" len="med"/>
                      <a:tailEnd type="none" w="med" len="med"/>
                    </a:lnT>
                    <a:lnB w="6350" cap="flat" cmpd="sng" algn="ctr">
                      <a:solidFill>
                        <a:srgbClr val="2A3556"/>
                      </a:solidFill>
                      <a:prstDash val="solid"/>
                      <a:round/>
                      <a:headEnd type="none" w="med" len="med"/>
                      <a:tailEnd type="none" w="med" len="med"/>
                    </a:lnB>
                    <a:solidFill>
                      <a:srgbClr val="151C30"/>
                    </a:solidFill>
                  </a:tcPr>
                </a:tc>
                <a:tc>
                  <a:txBody>
                    <a:bodyPr/>
                    <a:lstStyle/>
                    <a:p>
                      <a:pPr indent="0" marL="0">
                        <a:buNone/>
                      </a:pPr>
                      <a:r>
                        <a:rPr lang="en-US" sz="1300" dirty="0">
                          <a:solidFill>
                            <a:srgbClr val="FFFFFF"/>
                          </a:solidFill>
                          <a:latin typeface="Calibri" pitchFamily="34" charset="0"/>
                          <a:ea typeface="Calibri" pitchFamily="34" charset="-122"/>
                          <a:cs typeface="Calibri" pitchFamily="34" charset="-120"/>
                        </a:rPr>
                        <a:t>30.1</a:t>
                      </a:r>
                      <a:endParaRPr lang="en-US" sz="1300" dirty="0">
                        <a:latin typeface="Calibri" charset="0"/>
                        <a:ea typeface="Calibri" charset="0"/>
                        <a:cs typeface="Calibri" charset="0"/>
                      </a:endParaRPr>
                    </a:p>
                  </a:txBody>
                  <a:tcPr marL="91440" marR="91440" marT="45720" marB="45720">
                    <a:lnL w="6350" cap="flat" cmpd="sng" algn="ctr">
                      <a:solidFill>
                        <a:srgbClr val="2A3556"/>
                      </a:solidFill>
                      <a:prstDash val="solid"/>
                      <a:round/>
                      <a:headEnd type="none" w="med" len="med"/>
                      <a:tailEnd type="none" w="med" len="med"/>
                    </a:lnL>
                    <a:lnR w="6350" cap="flat" cmpd="sng" algn="ctr">
                      <a:solidFill>
                        <a:srgbClr val="2A3556"/>
                      </a:solidFill>
                      <a:prstDash val="solid"/>
                      <a:round/>
                      <a:headEnd type="none" w="med" len="med"/>
                      <a:tailEnd type="none" w="med" len="med"/>
                    </a:lnR>
                    <a:lnT w="6350" cap="flat" cmpd="sng" algn="ctr">
                      <a:solidFill>
                        <a:srgbClr val="2A3556"/>
                      </a:solidFill>
                      <a:prstDash val="solid"/>
                      <a:round/>
                      <a:headEnd type="none" w="med" len="med"/>
                      <a:tailEnd type="none" w="med" len="med"/>
                    </a:lnT>
                    <a:lnB w="6350" cap="flat" cmpd="sng" algn="ctr">
                      <a:solidFill>
                        <a:srgbClr val="2A3556"/>
                      </a:solidFill>
                      <a:prstDash val="solid"/>
                      <a:round/>
                      <a:headEnd type="none" w="med" len="med"/>
                      <a:tailEnd type="none" w="med" len="med"/>
                    </a:lnB>
                    <a:solidFill>
                      <a:srgbClr val="151C30"/>
                    </a:solidFill>
                  </a:tcPr>
                </a:tc>
                <a:tc>
                  <a:txBody>
                    <a:bodyPr/>
                    <a:lstStyle/>
                    <a:p>
                      <a:pPr indent="0" marL="0">
                        <a:buNone/>
                      </a:pPr>
                      <a:r>
                        <a:rPr lang="en-US" sz="1300" dirty="0">
                          <a:solidFill>
                            <a:srgbClr val="FFFFFF"/>
                          </a:solidFill>
                          <a:latin typeface="Calibri" pitchFamily="34" charset="0"/>
                          <a:ea typeface="Calibri" pitchFamily="34" charset="-122"/>
                          <a:cs typeface="Calibri" pitchFamily="34" charset="-120"/>
                        </a:rPr>
                        <a:t>71.58%</a:t>
                      </a:r>
                      <a:endParaRPr lang="en-US" sz="1300" dirty="0">
                        <a:latin typeface="Calibri" charset="0"/>
                        <a:ea typeface="Calibri" charset="0"/>
                        <a:cs typeface="Calibri" charset="0"/>
                      </a:endParaRPr>
                    </a:p>
                  </a:txBody>
                  <a:tcPr marL="91440" marR="91440" marT="45720" marB="45720">
                    <a:lnL w="6350" cap="flat" cmpd="sng" algn="ctr">
                      <a:solidFill>
                        <a:srgbClr val="2A3556"/>
                      </a:solidFill>
                      <a:prstDash val="solid"/>
                      <a:round/>
                      <a:headEnd type="none" w="med" len="med"/>
                      <a:tailEnd type="none" w="med" len="med"/>
                    </a:lnL>
                    <a:lnR w="6350" cap="flat" cmpd="sng" algn="ctr">
                      <a:solidFill>
                        <a:srgbClr val="2A3556"/>
                      </a:solidFill>
                      <a:prstDash val="solid"/>
                      <a:round/>
                      <a:headEnd type="none" w="med" len="med"/>
                      <a:tailEnd type="none" w="med" len="med"/>
                    </a:lnR>
                    <a:lnT w="6350" cap="flat" cmpd="sng" algn="ctr">
                      <a:solidFill>
                        <a:srgbClr val="2A3556"/>
                      </a:solidFill>
                      <a:prstDash val="solid"/>
                      <a:round/>
                      <a:headEnd type="none" w="med" len="med"/>
                      <a:tailEnd type="none" w="med" len="med"/>
                    </a:lnT>
                    <a:lnB w="6350" cap="flat" cmpd="sng" algn="ctr">
                      <a:solidFill>
                        <a:srgbClr val="2A3556"/>
                      </a:solidFill>
                      <a:prstDash val="solid"/>
                      <a:round/>
                      <a:headEnd type="none" w="med" len="med"/>
                      <a:tailEnd type="none" w="med" len="med"/>
                    </a:lnB>
                    <a:solidFill>
                      <a:srgbClr val="151C30"/>
                    </a:solidFill>
                  </a:tcPr>
                </a:tc>
              </a:tr>
              <a:tr h="384048">
                <a:tc>
                  <a:txBody>
                    <a:bodyPr/>
                    <a:lstStyle/>
                    <a:p>
                      <a:pPr indent="0" marL="0">
                        <a:buNone/>
                      </a:pPr>
                      <a:r>
                        <a:rPr lang="en-US" sz="1300" dirty="0">
                          <a:solidFill>
                            <a:srgbClr val="FFFFFF"/>
                          </a:solidFill>
                          <a:latin typeface="Calibri" pitchFamily="34" charset="0"/>
                          <a:ea typeface="Calibri" pitchFamily="34" charset="-122"/>
                          <a:cs typeface="Calibri" pitchFamily="34" charset="-120"/>
                        </a:rPr>
                        <a:t>Can't Lose Them</a:t>
                      </a:r>
                      <a:endParaRPr lang="en-US" sz="1300" dirty="0">
                        <a:latin typeface="Calibri" charset="0"/>
                        <a:ea typeface="Calibri" charset="0"/>
                        <a:cs typeface="Calibri" charset="0"/>
                      </a:endParaRPr>
                    </a:p>
                  </a:txBody>
                  <a:tcPr marL="91440" marR="91440" marT="45720" marB="45720">
                    <a:lnL w="6350" cap="flat" cmpd="sng" algn="ctr">
                      <a:solidFill>
                        <a:srgbClr val="2A3556"/>
                      </a:solidFill>
                      <a:prstDash val="solid"/>
                      <a:round/>
                      <a:headEnd type="none" w="med" len="med"/>
                      <a:tailEnd type="none" w="med" len="med"/>
                    </a:lnL>
                    <a:lnR w="6350" cap="flat" cmpd="sng" algn="ctr">
                      <a:solidFill>
                        <a:srgbClr val="2A3556"/>
                      </a:solidFill>
                      <a:prstDash val="solid"/>
                      <a:round/>
                      <a:headEnd type="none" w="med" len="med"/>
                      <a:tailEnd type="none" w="med" len="med"/>
                    </a:lnR>
                    <a:lnT w="6350" cap="flat" cmpd="sng" algn="ctr">
                      <a:solidFill>
                        <a:srgbClr val="2A3556"/>
                      </a:solidFill>
                      <a:prstDash val="solid"/>
                      <a:round/>
                      <a:headEnd type="none" w="med" len="med"/>
                      <a:tailEnd type="none" w="med" len="med"/>
                    </a:lnT>
                    <a:lnB w="6350" cap="flat" cmpd="sng" algn="ctr">
                      <a:solidFill>
                        <a:srgbClr val="2A3556"/>
                      </a:solidFill>
                      <a:prstDash val="solid"/>
                      <a:round/>
                      <a:headEnd type="none" w="med" len="med"/>
                      <a:tailEnd type="none" w="med" len="med"/>
                    </a:lnB>
                    <a:solidFill>
                      <a:srgbClr val="151C30"/>
                    </a:solidFill>
                  </a:tcPr>
                </a:tc>
                <a:tc>
                  <a:txBody>
                    <a:bodyPr/>
                    <a:lstStyle/>
                    <a:p>
                      <a:pPr indent="0" marL="0">
                        <a:buNone/>
                      </a:pPr>
                      <a:r>
                        <a:rPr lang="en-US" sz="1300" dirty="0">
                          <a:solidFill>
                            <a:srgbClr val="FFFFFF"/>
                          </a:solidFill>
                          <a:latin typeface="Calibri" pitchFamily="34" charset="0"/>
                          <a:ea typeface="Calibri" pitchFamily="34" charset="-122"/>
                          <a:cs typeface="Calibri" pitchFamily="34" charset="-120"/>
                        </a:rPr>
                        <a:t>1,541</a:t>
                      </a:r>
                      <a:endParaRPr lang="en-US" sz="1300" dirty="0">
                        <a:latin typeface="Calibri" charset="0"/>
                        <a:ea typeface="Calibri" charset="0"/>
                        <a:cs typeface="Calibri" charset="0"/>
                      </a:endParaRPr>
                    </a:p>
                  </a:txBody>
                  <a:tcPr marL="91440" marR="91440" marT="45720" marB="45720">
                    <a:lnL w="6350" cap="flat" cmpd="sng" algn="ctr">
                      <a:solidFill>
                        <a:srgbClr val="2A3556"/>
                      </a:solidFill>
                      <a:prstDash val="solid"/>
                      <a:round/>
                      <a:headEnd type="none" w="med" len="med"/>
                      <a:tailEnd type="none" w="med" len="med"/>
                    </a:lnL>
                    <a:lnR w="6350" cap="flat" cmpd="sng" algn="ctr">
                      <a:solidFill>
                        <a:srgbClr val="2A3556"/>
                      </a:solidFill>
                      <a:prstDash val="solid"/>
                      <a:round/>
                      <a:headEnd type="none" w="med" len="med"/>
                      <a:tailEnd type="none" w="med" len="med"/>
                    </a:lnR>
                    <a:lnT w="6350" cap="flat" cmpd="sng" algn="ctr">
                      <a:solidFill>
                        <a:srgbClr val="2A3556"/>
                      </a:solidFill>
                      <a:prstDash val="solid"/>
                      <a:round/>
                      <a:headEnd type="none" w="med" len="med"/>
                      <a:tailEnd type="none" w="med" len="med"/>
                    </a:lnT>
                    <a:lnB w="6350" cap="flat" cmpd="sng" algn="ctr">
                      <a:solidFill>
                        <a:srgbClr val="2A3556"/>
                      </a:solidFill>
                      <a:prstDash val="solid"/>
                      <a:round/>
                      <a:headEnd type="none" w="med" len="med"/>
                      <a:tailEnd type="none" w="med" len="med"/>
                    </a:lnB>
                    <a:solidFill>
                      <a:srgbClr val="151C30"/>
                    </a:solidFill>
                  </a:tcPr>
                </a:tc>
                <a:tc>
                  <a:txBody>
                    <a:bodyPr/>
                    <a:lstStyle/>
                    <a:p>
                      <a:pPr indent="0" marL="0">
                        <a:buNone/>
                      </a:pPr>
                      <a:r>
                        <a:rPr lang="en-US" sz="1300" dirty="0">
                          <a:solidFill>
                            <a:srgbClr val="FFFFFF"/>
                          </a:solidFill>
                          <a:latin typeface="Calibri" pitchFamily="34" charset="0"/>
                          <a:ea typeface="Calibri" pitchFamily="34" charset="-122"/>
                          <a:cs typeface="Calibri" pitchFamily="34" charset="-120"/>
                        </a:rPr>
                        <a:t>7.9</a:t>
                      </a:r>
                      <a:endParaRPr lang="en-US" sz="1300" dirty="0">
                        <a:latin typeface="Calibri" charset="0"/>
                        <a:ea typeface="Calibri" charset="0"/>
                        <a:cs typeface="Calibri" charset="0"/>
                      </a:endParaRPr>
                    </a:p>
                  </a:txBody>
                  <a:tcPr marL="91440" marR="91440" marT="45720" marB="45720">
                    <a:lnL w="6350" cap="flat" cmpd="sng" algn="ctr">
                      <a:solidFill>
                        <a:srgbClr val="2A3556"/>
                      </a:solidFill>
                      <a:prstDash val="solid"/>
                      <a:round/>
                      <a:headEnd type="none" w="med" len="med"/>
                      <a:tailEnd type="none" w="med" len="med"/>
                    </a:lnL>
                    <a:lnR w="6350" cap="flat" cmpd="sng" algn="ctr">
                      <a:solidFill>
                        <a:srgbClr val="2A3556"/>
                      </a:solidFill>
                      <a:prstDash val="solid"/>
                      <a:round/>
                      <a:headEnd type="none" w="med" len="med"/>
                      <a:tailEnd type="none" w="med" len="med"/>
                    </a:lnR>
                    <a:lnT w="6350" cap="flat" cmpd="sng" algn="ctr">
                      <a:solidFill>
                        <a:srgbClr val="2A3556"/>
                      </a:solidFill>
                      <a:prstDash val="solid"/>
                      <a:round/>
                      <a:headEnd type="none" w="med" len="med"/>
                      <a:tailEnd type="none" w="med" len="med"/>
                    </a:lnT>
                    <a:lnB w="6350" cap="flat" cmpd="sng" algn="ctr">
                      <a:solidFill>
                        <a:srgbClr val="2A3556"/>
                      </a:solidFill>
                      <a:prstDash val="solid"/>
                      <a:round/>
                      <a:headEnd type="none" w="med" len="med"/>
                      <a:tailEnd type="none" w="med" len="med"/>
                    </a:lnB>
                    <a:solidFill>
                      <a:srgbClr val="151C30"/>
                    </a:solidFill>
                  </a:tcPr>
                </a:tc>
                <a:tc>
                  <a:txBody>
                    <a:bodyPr/>
                    <a:lstStyle/>
                    <a:p>
                      <a:pPr indent="0" marL="0">
                        <a:buNone/>
                      </a:pPr>
                      <a:r>
                        <a:rPr lang="en-US" sz="1300" dirty="0">
                          <a:solidFill>
                            <a:srgbClr val="FFFFFF"/>
                          </a:solidFill>
                          <a:latin typeface="Calibri" pitchFamily="34" charset="0"/>
                          <a:ea typeface="Calibri" pitchFamily="34" charset="-122"/>
                          <a:cs typeface="Calibri" pitchFamily="34" charset="-120"/>
                        </a:rPr>
                        <a:t>15.21%</a:t>
                      </a:r>
                      <a:endParaRPr lang="en-US" sz="1300" dirty="0">
                        <a:latin typeface="Calibri" charset="0"/>
                        <a:ea typeface="Calibri" charset="0"/>
                        <a:cs typeface="Calibri" charset="0"/>
                      </a:endParaRPr>
                    </a:p>
                  </a:txBody>
                  <a:tcPr marL="91440" marR="91440" marT="45720" marB="45720">
                    <a:lnL w="6350" cap="flat" cmpd="sng" algn="ctr">
                      <a:solidFill>
                        <a:srgbClr val="2A3556"/>
                      </a:solidFill>
                      <a:prstDash val="solid"/>
                      <a:round/>
                      <a:headEnd type="none" w="med" len="med"/>
                      <a:tailEnd type="none" w="med" len="med"/>
                    </a:lnL>
                    <a:lnR w="6350" cap="flat" cmpd="sng" algn="ctr">
                      <a:solidFill>
                        <a:srgbClr val="2A3556"/>
                      </a:solidFill>
                      <a:prstDash val="solid"/>
                      <a:round/>
                      <a:headEnd type="none" w="med" len="med"/>
                      <a:tailEnd type="none" w="med" len="med"/>
                    </a:lnR>
                    <a:lnT w="6350" cap="flat" cmpd="sng" algn="ctr">
                      <a:solidFill>
                        <a:srgbClr val="2A3556"/>
                      </a:solidFill>
                      <a:prstDash val="solid"/>
                      <a:round/>
                      <a:headEnd type="none" w="med" len="med"/>
                      <a:tailEnd type="none" w="med" len="med"/>
                    </a:lnT>
                    <a:lnB w="6350" cap="flat" cmpd="sng" algn="ctr">
                      <a:solidFill>
                        <a:srgbClr val="2A3556"/>
                      </a:solidFill>
                      <a:prstDash val="solid"/>
                      <a:round/>
                      <a:headEnd type="none" w="med" len="med"/>
                      <a:tailEnd type="none" w="med" len="med"/>
                    </a:lnB>
                    <a:solidFill>
                      <a:srgbClr val="151C30"/>
                    </a:solidFill>
                  </a:tcPr>
                </a:tc>
              </a:tr>
              <a:tr h="384048">
                <a:tc>
                  <a:txBody>
                    <a:bodyPr/>
                    <a:lstStyle/>
                    <a:p>
                      <a:pPr indent="0" marL="0">
                        <a:buNone/>
                      </a:pPr>
                      <a:r>
                        <a:rPr lang="en-US" sz="1300" dirty="0">
                          <a:solidFill>
                            <a:srgbClr val="FFFFFF"/>
                          </a:solidFill>
                          <a:latin typeface="Calibri" pitchFamily="34" charset="0"/>
                          <a:ea typeface="Calibri" pitchFamily="34" charset="-122"/>
                          <a:cs typeface="Calibri" pitchFamily="34" charset="-120"/>
                        </a:rPr>
                        <a:t>Loyal Customers</a:t>
                      </a:r>
                      <a:endParaRPr lang="en-US" sz="1300" dirty="0">
                        <a:latin typeface="Calibri" charset="0"/>
                        <a:ea typeface="Calibri" charset="0"/>
                        <a:cs typeface="Calibri" charset="0"/>
                      </a:endParaRPr>
                    </a:p>
                  </a:txBody>
                  <a:tcPr marL="91440" marR="91440" marT="45720" marB="45720">
                    <a:lnL w="6350" cap="flat" cmpd="sng" algn="ctr">
                      <a:solidFill>
                        <a:srgbClr val="2A3556"/>
                      </a:solidFill>
                      <a:prstDash val="solid"/>
                      <a:round/>
                      <a:headEnd type="none" w="med" len="med"/>
                      <a:tailEnd type="none" w="med" len="med"/>
                    </a:lnL>
                    <a:lnR w="6350" cap="flat" cmpd="sng" algn="ctr">
                      <a:solidFill>
                        <a:srgbClr val="2A3556"/>
                      </a:solidFill>
                      <a:prstDash val="solid"/>
                      <a:round/>
                      <a:headEnd type="none" w="med" len="med"/>
                      <a:tailEnd type="none" w="med" len="med"/>
                    </a:lnR>
                    <a:lnT w="6350" cap="flat" cmpd="sng" algn="ctr">
                      <a:solidFill>
                        <a:srgbClr val="2A3556"/>
                      </a:solidFill>
                      <a:prstDash val="solid"/>
                      <a:round/>
                      <a:headEnd type="none" w="med" len="med"/>
                      <a:tailEnd type="none" w="med" len="med"/>
                    </a:lnT>
                    <a:lnB w="6350" cap="flat" cmpd="sng" algn="ctr">
                      <a:solidFill>
                        <a:srgbClr val="2A3556"/>
                      </a:solidFill>
                      <a:prstDash val="solid"/>
                      <a:round/>
                      <a:headEnd type="none" w="med" len="med"/>
                      <a:tailEnd type="none" w="med" len="med"/>
                    </a:lnB>
                    <a:solidFill>
                      <a:srgbClr val="151C30"/>
                    </a:solidFill>
                  </a:tcPr>
                </a:tc>
                <a:tc>
                  <a:txBody>
                    <a:bodyPr/>
                    <a:lstStyle/>
                    <a:p>
                      <a:pPr indent="0" marL="0">
                        <a:buNone/>
                      </a:pPr>
                      <a:r>
                        <a:rPr lang="en-US" sz="1300" dirty="0">
                          <a:solidFill>
                            <a:srgbClr val="FFFFFF"/>
                          </a:solidFill>
                          <a:latin typeface="Calibri" pitchFamily="34" charset="0"/>
                          <a:ea typeface="Calibri" pitchFamily="34" charset="-122"/>
                          <a:cs typeface="Calibri" pitchFamily="34" charset="-120"/>
                        </a:rPr>
                        <a:t>1,406</a:t>
                      </a:r>
                      <a:endParaRPr lang="en-US" sz="1300" dirty="0">
                        <a:latin typeface="Calibri" charset="0"/>
                        <a:ea typeface="Calibri" charset="0"/>
                        <a:cs typeface="Calibri" charset="0"/>
                      </a:endParaRPr>
                    </a:p>
                  </a:txBody>
                  <a:tcPr marL="91440" marR="91440" marT="45720" marB="45720">
                    <a:lnL w="6350" cap="flat" cmpd="sng" algn="ctr">
                      <a:solidFill>
                        <a:srgbClr val="2A3556"/>
                      </a:solidFill>
                      <a:prstDash val="solid"/>
                      <a:round/>
                      <a:headEnd type="none" w="med" len="med"/>
                      <a:tailEnd type="none" w="med" len="med"/>
                    </a:lnL>
                    <a:lnR w="6350" cap="flat" cmpd="sng" algn="ctr">
                      <a:solidFill>
                        <a:srgbClr val="2A3556"/>
                      </a:solidFill>
                      <a:prstDash val="solid"/>
                      <a:round/>
                      <a:headEnd type="none" w="med" len="med"/>
                      <a:tailEnd type="none" w="med" len="med"/>
                    </a:lnR>
                    <a:lnT w="6350" cap="flat" cmpd="sng" algn="ctr">
                      <a:solidFill>
                        <a:srgbClr val="2A3556"/>
                      </a:solidFill>
                      <a:prstDash val="solid"/>
                      <a:round/>
                      <a:headEnd type="none" w="med" len="med"/>
                      <a:tailEnd type="none" w="med" len="med"/>
                    </a:lnT>
                    <a:lnB w="6350" cap="flat" cmpd="sng" algn="ctr">
                      <a:solidFill>
                        <a:srgbClr val="2A3556"/>
                      </a:solidFill>
                      <a:prstDash val="solid"/>
                      <a:round/>
                      <a:headEnd type="none" w="med" len="med"/>
                      <a:tailEnd type="none" w="med" len="med"/>
                    </a:lnB>
                    <a:solidFill>
                      <a:srgbClr val="151C30"/>
                    </a:solidFill>
                  </a:tcPr>
                </a:tc>
                <a:tc>
                  <a:txBody>
                    <a:bodyPr/>
                    <a:lstStyle/>
                    <a:p>
                      <a:pPr indent="0" marL="0">
                        <a:buNone/>
                      </a:pPr>
                      <a:r>
                        <a:rPr lang="en-US" sz="1300" dirty="0">
                          <a:solidFill>
                            <a:srgbClr val="FFFFFF"/>
                          </a:solidFill>
                          <a:latin typeface="Calibri" pitchFamily="34" charset="0"/>
                          <a:ea typeface="Calibri" pitchFamily="34" charset="-122"/>
                          <a:cs typeface="Calibri" pitchFamily="34" charset="-120"/>
                        </a:rPr>
                        <a:t>6.4</a:t>
                      </a:r>
                      <a:endParaRPr lang="en-US" sz="1300" dirty="0">
                        <a:latin typeface="Calibri" charset="0"/>
                        <a:ea typeface="Calibri" charset="0"/>
                        <a:cs typeface="Calibri" charset="0"/>
                      </a:endParaRPr>
                    </a:p>
                  </a:txBody>
                  <a:tcPr marL="91440" marR="91440" marT="45720" marB="45720">
                    <a:lnL w="6350" cap="flat" cmpd="sng" algn="ctr">
                      <a:solidFill>
                        <a:srgbClr val="2A3556"/>
                      </a:solidFill>
                      <a:prstDash val="solid"/>
                      <a:round/>
                      <a:headEnd type="none" w="med" len="med"/>
                      <a:tailEnd type="none" w="med" len="med"/>
                    </a:lnL>
                    <a:lnR w="6350" cap="flat" cmpd="sng" algn="ctr">
                      <a:solidFill>
                        <a:srgbClr val="2A3556"/>
                      </a:solidFill>
                      <a:prstDash val="solid"/>
                      <a:round/>
                      <a:headEnd type="none" w="med" len="med"/>
                      <a:tailEnd type="none" w="med" len="med"/>
                    </a:lnR>
                    <a:lnT w="6350" cap="flat" cmpd="sng" algn="ctr">
                      <a:solidFill>
                        <a:srgbClr val="2A3556"/>
                      </a:solidFill>
                      <a:prstDash val="solid"/>
                      <a:round/>
                      <a:headEnd type="none" w="med" len="med"/>
                      <a:tailEnd type="none" w="med" len="med"/>
                    </a:lnT>
                    <a:lnB w="6350" cap="flat" cmpd="sng" algn="ctr">
                      <a:solidFill>
                        <a:srgbClr val="2A3556"/>
                      </a:solidFill>
                      <a:prstDash val="solid"/>
                      <a:round/>
                      <a:headEnd type="none" w="med" len="med"/>
                      <a:tailEnd type="none" w="med" len="med"/>
                    </a:lnB>
                    <a:solidFill>
                      <a:srgbClr val="151C30"/>
                    </a:solidFill>
                  </a:tcPr>
                </a:tc>
                <a:tc>
                  <a:txBody>
                    <a:bodyPr/>
                    <a:lstStyle/>
                    <a:p>
                      <a:pPr indent="0" marL="0">
                        <a:buNone/>
                      </a:pPr>
                      <a:r>
                        <a:rPr lang="en-US" sz="1300" dirty="0">
                          <a:solidFill>
                            <a:srgbClr val="FFFFFF"/>
                          </a:solidFill>
                          <a:latin typeface="Calibri" pitchFamily="34" charset="0"/>
                          <a:ea typeface="Calibri" pitchFamily="34" charset="-122"/>
                          <a:cs typeface="Calibri" pitchFamily="34" charset="-120"/>
                        </a:rPr>
                        <a:t>11.97%</a:t>
                      </a:r>
                      <a:endParaRPr lang="en-US" sz="1300" dirty="0">
                        <a:latin typeface="Calibri" charset="0"/>
                        <a:ea typeface="Calibri" charset="0"/>
                        <a:cs typeface="Calibri" charset="0"/>
                      </a:endParaRPr>
                    </a:p>
                  </a:txBody>
                  <a:tcPr marL="91440" marR="91440" marT="45720" marB="45720">
                    <a:lnL w="6350" cap="flat" cmpd="sng" algn="ctr">
                      <a:solidFill>
                        <a:srgbClr val="2A3556"/>
                      </a:solidFill>
                      <a:prstDash val="solid"/>
                      <a:round/>
                      <a:headEnd type="none" w="med" len="med"/>
                      <a:tailEnd type="none" w="med" len="med"/>
                    </a:lnL>
                    <a:lnR w="6350" cap="flat" cmpd="sng" algn="ctr">
                      <a:solidFill>
                        <a:srgbClr val="2A3556"/>
                      </a:solidFill>
                      <a:prstDash val="solid"/>
                      <a:round/>
                      <a:headEnd type="none" w="med" len="med"/>
                      <a:tailEnd type="none" w="med" len="med"/>
                    </a:lnR>
                    <a:lnT w="6350" cap="flat" cmpd="sng" algn="ctr">
                      <a:solidFill>
                        <a:srgbClr val="2A3556"/>
                      </a:solidFill>
                      <a:prstDash val="solid"/>
                      <a:round/>
                      <a:headEnd type="none" w="med" len="med"/>
                      <a:tailEnd type="none" w="med" len="med"/>
                    </a:lnT>
                    <a:lnB w="6350" cap="flat" cmpd="sng" algn="ctr">
                      <a:solidFill>
                        <a:srgbClr val="2A3556"/>
                      </a:solidFill>
                      <a:prstDash val="solid"/>
                      <a:round/>
                      <a:headEnd type="none" w="med" len="med"/>
                      <a:tailEnd type="none" w="med" len="med"/>
                    </a:lnB>
                    <a:solidFill>
                      <a:srgbClr val="151C30"/>
                    </a:solidFill>
                  </a:tcPr>
                </a:tc>
              </a:tr>
              <a:tr h="384048">
                <a:tc>
                  <a:txBody>
                    <a:bodyPr/>
                    <a:lstStyle/>
                    <a:p>
                      <a:pPr indent="0" marL="0">
                        <a:buNone/>
                      </a:pPr>
                      <a:r>
                        <a:rPr lang="en-US" sz="1300" dirty="0">
                          <a:solidFill>
                            <a:srgbClr val="FFFFFF"/>
                          </a:solidFill>
                          <a:latin typeface="Calibri" pitchFamily="34" charset="0"/>
                          <a:ea typeface="Calibri" pitchFamily="34" charset="-122"/>
                          <a:cs typeface="Calibri" pitchFamily="34" charset="-120"/>
                        </a:rPr>
                        <a:t>Lost</a:t>
                      </a:r>
                      <a:endParaRPr lang="en-US" sz="1300" dirty="0">
                        <a:latin typeface="Calibri" charset="0"/>
                        <a:ea typeface="Calibri" charset="0"/>
                        <a:cs typeface="Calibri" charset="0"/>
                      </a:endParaRPr>
                    </a:p>
                  </a:txBody>
                  <a:tcPr marL="91440" marR="91440" marT="45720" marB="45720">
                    <a:lnL w="6350" cap="flat" cmpd="sng" algn="ctr">
                      <a:solidFill>
                        <a:srgbClr val="2A3556"/>
                      </a:solidFill>
                      <a:prstDash val="solid"/>
                      <a:round/>
                      <a:headEnd type="none" w="med" len="med"/>
                      <a:tailEnd type="none" w="med" len="med"/>
                    </a:lnL>
                    <a:lnR w="6350" cap="flat" cmpd="sng" algn="ctr">
                      <a:solidFill>
                        <a:srgbClr val="2A3556"/>
                      </a:solidFill>
                      <a:prstDash val="solid"/>
                      <a:round/>
                      <a:headEnd type="none" w="med" len="med"/>
                      <a:tailEnd type="none" w="med" len="med"/>
                    </a:lnR>
                    <a:lnT w="6350" cap="flat" cmpd="sng" algn="ctr">
                      <a:solidFill>
                        <a:srgbClr val="2A3556"/>
                      </a:solidFill>
                      <a:prstDash val="solid"/>
                      <a:round/>
                      <a:headEnd type="none" w="med" len="med"/>
                      <a:tailEnd type="none" w="med" len="med"/>
                    </a:lnT>
                    <a:lnB w="6350" cap="flat" cmpd="sng" algn="ctr">
                      <a:solidFill>
                        <a:srgbClr val="2A3556"/>
                      </a:solidFill>
                      <a:prstDash val="solid"/>
                      <a:round/>
                      <a:headEnd type="none" w="med" len="med"/>
                      <a:tailEnd type="none" w="med" len="med"/>
                    </a:lnB>
                    <a:solidFill>
                      <a:srgbClr val="151C30"/>
                    </a:solidFill>
                  </a:tcPr>
                </a:tc>
                <a:tc>
                  <a:txBody>
                    <a:bodyPr/>
                    <a:lstStyle/>
                    <a:p>
                      <a:pPr indent="0" marL="0">
                        <a:buNone/>
                      </a:pPr>
                      <a:r>
                        <a:rPr lang="en-US" sz="1300" dirty="0">
                          <a:solidFill>
                            <a:srgbClr val="FFFFFF"/>
                          </a:solidFill>
                          <a:latin typeface="Calibri" pitchFamily="34" charset="0"/>
                          <a:ea typeface="Calibri" pitchFamily="34" charset="-122"/>
                          <a:cs typeface="Calibri" pitchFamily="34" charset="-120"/>
                        </a:rPr>
                        <a:t>1,223</a:t>
                      </a:r>
                      <a:endParaRPr lang="en-US" sz="1300" dirty="0">
                        <a:latin typeface="Calibri" charset="0"/>
                        <a:ea typeface="Calibri" charset="0"/>
                        <a:cs typeface="Calibri" charset="0"/>
                      </a:endParaRPr>
                    </a:p>
                  </a:txBody>
                  <a:tcPr marL="91440" marR="91440" marT="45720" marB="45720">
                    <a:lnL w="6350" cap="flat" cmpd="sng" algn="ctr">
                      <a:solidFill>
                        <a:srgbClr val="2A3556"/>
                      </a:solidFill>
                      <a:prstDash val="solid"/>
                      <a:round/>
                      <a:headEnd type="none" w="med" len="med"/>
                      <a:tailEnd type="none" w="med" len="med"/>
                    </a:lnL>
                    <a:lnR w="6350" cap="flat" cmpd="sng" algn="ctr">
                      <a:solidFill>
                        <a:srgbClr val="2A3556"/>
                      </a:solidFill>
                      <a:prstDash val="solid"/>
                      <a:round/>
                      <a:headEnd type="none" w="med" len="med"/>
                      <a:tailEnd type="none" w="med" len="med"/>
                    </a:lnR>
                    <a:lnT w="6350" cap="flat" cmpd="sng" algn="ctr">
                      <a:solidFill>
                        <a:srgbClr val="2A3556"/>
                      </a:solidFill>
                      <a:prstDash val="solid"/>
                      <a:round/>
                      <a:headEnd type="none" w="med" len="med"/>
                      <a:tailEnd type="none" w="med" len="med"/>
                    </a:lnT>
                    <a:lnB w="6350" cap="flat" cmpd="sng" algn="ctr">
                      <a:solidFill>
                        <a:srgbClr val="2A3556"/>
                      </a:solidFill>
                      <a:prstDash val="solid"/>
                      <a:round/>
                      <a:headEnd type="none" w="med" len="med"/>
                      <a:tailEnd type="none" w="med" len="med"/>
                    </a:lnB>
                    <a:solidFill>
                      <a:srgbClr val="151C30"/>
                    </a:solidFill>
                  </a:tcPr>
                </a:tc>
                <a:tc>
                  <a:txBody>
                    <a:bodyPr/>
                    <a:lstStyle/>
                    <a:p>
                      <a:pPr indent="0" marL="0">
                        <a:buNone/>
                      </a:pPr>
                      <a:r>
                        <a:rPr lang="en-US" sz="1300" dirty="0">
                          <a:solidFill>
                            <a:srgbClr val="FFFFFF"/>
                          </a:solidFill>
                          <a:latin typeface="Calibri" pitchFamily="34" charset="0"/>
                          <a:ea typeface="Calibri" pitchFamily="34" charset="-122"/>
                          <a:cs typeface="Calibri" pitchFamily="34" charset="-120"/>
                        </a:rPr>
                        <a:t>1.7</a:t>
                      </a:r>
                      <a:endParaRPr lang="en-US" sz="1300" dirty="0">
                        <a:latin typeface="Calibri" charset="0"/>
                        <a:ea typeface="Calibri" charset="0"/>
                        <a:cs typeface="Calibri" charset="0"/>
                      </a:endParaRPr>
                    </a:p>
                  </a:txBody>
                  <a:tcPr marL="91440" marR="91440" marT="45720" marB="45720">
                    <a:lnL w="6350" cap="flat" cmpd="sng" algn="ctr">
                      <a:solidFill>
                        <a:srgbClr val="2A3556"/>
                      </a:solidFill>
                      <a:prstDash val="solid"/>
                      <a:round/>
                      <a:headEnd type="none" w="med" len="med"/>
                      <a:tailEnd type="none" w="med" len="med"/>
                    </a:lnL>
                    <a:lnR w="6350" cap="flat" cmpd="sng" algn="ctr">
                      <a:solidFill>
                        <a:srgbClr val="2A3556"/>
                      </a:solidFill>
                      <a:prstDash val="solid"/>
                      <a:round/>
                      <a:headEnd type="none" w="med" len="med"/>
                      <a:tailEnd type="none" w="med" len="med"/>
                    </a:lnR>
                    <a:lnT w="6350" cap="flat" cmpd="sng" algn="ctr">
                      <a:solidFill>
                        <a:srgbClr val="2A3556"/>
                      </a:solidFill>
                      <a:prstDash val="solid"/>
                      <a:round/>
                      <a:headEnd type="none" w="med" len="med"/>
                      <a:tailEnd type="none" w="med" len="med"/>
                    </a:lnT>
                    <a:lnB w="6350" cap="flat" cmpd="sng" algn="ctr">
                      <a:solidFill>
                        <a:srgbClr val="2A3556"/>
                      </a:solidFill>
                      <a:prstDash val="solid"/>
                      <a:round/>
                      <a:headEnd type="none" w="med" len="med"/>
                      <a:tailEnd type="none" w="med" len="med"/>
                    </a:lnB>
                    <a:solidFill>
                      <a:srgbClr val="151C30"/>
                    </a:solidFill>
                  </a:tcPr>
                </a:tc>
                <a:tc>
                  <a:txBody>
                    <a:bodyPr/>
                    <a:lstStyle/>
                    <a:p>
                      <a:pPr indent="0" marL="0">
                        <a:buNone/>
                      </a:pPr>
                      <a:r>
                        <a:rPr lang="en-US" sz="1300" dirty="0">
                          <a:solidFill>
                            <a:srgbClr val="FFFFFF"/>
                          </a:solidFill>
                          <a:latin typeface="Calibri" pitchFamily="34" charset="0"/>
                          <a:ea typeface="Calibri" pitchFamily="34" charset="-122"/>
                          <a:cs typeface="Calibri" pitchFamily="34" charset="-120"/>
                        </a:rPr>
                        <a:t>0.85%</a:t>
                      </a:r>
                      <a:endParaRPr lang="en-US" sz="1300" dirty="0">
                        <a:latin typeface="Calibri" charset="0"/>
                        <a:ea typeface="Calibri" charset="0"/>
                        <a:cs typeface="Calibri" charset="0"/>
                      </a:endParaRPr>
                    </a:p>
                  </a:txBody>
                  <a:tcPr marL="91440" marR="91440" marT="45720" marB="45720">
                    <a:lnL w="6350" cap="flat" cmpd="sng" algn="ctr">
                      <a:solidFill>
                        <a:srgbClr val="2A3556"/>
                      </a:solidFill>
                      <a:prstDash val="solid"/>
                      <a:round/>
                      <a:headEnd type="none" w="med" len="med"/>
                      <a:tailEnd type="none" w="med" len="med"/>
                    </a:lnL>
                    <a:lnR w="6350" cap="flat" cmpd="sng" algn="ctr">
                      <a:solidFill>
                        <a:srgbClr val="2A3556"/>
                      </a:solidFill>
                      <a:prstDash val="solid"/>
                      <a:round/>
                      <a:headEnd type="none" w="med" len="med"/>
                      <a:tailEnd type="none" w="med" len="med"/>
                    </a:lnR>
                    <a:lnT w="6350" cap="flat" cmpd="sng" algn="ctr">
                      <a:solidFill>
                        <a:srgbClr val="2A3556"/>
                      </a:solidFill>
                      <a:prstDash val="solid"/>
                      <a:round/>
                      <a:headEnd type="none" w="med" len="med"/>
                      <a:tailEnd type="none" w="med" len="med"/>
                    </a:lnT>
                    <a:lnB w="6350" cap="flat" cmpd="sng" algn="ctr">
                      <a:solidFill>
                        <a:srgbClr val="2A3556"/>
                      </a:solidFill>
                      <a:prstDash val="solid"/>
                      <a:round/>
                      <a:headEnd type="none" w="med" len="med"/>
                      <a:tailEnd type="none" w="med" len="med"/>
                    </a:lnB>
                    <a:solidFill>
                      <a:srgbClr val="151C30"/>
                    </a:solidFill>
                  </a:tcPr>
                </a:tc>
              </a:tr>
              <a:tr h="384048">
                <a:tc>
                  <a:txBody>
                    <a:bodyPr/>
                    <a:lstStyle/>
                    <a:p>
                      <a:pPr indent="0" marL="0">
                        <a:buNone/>
                      </a:pPr>
                      <a:r>
                        <a:rPr lang="en-US" sz="1300" dirty="0">
                          <a:solidFill>
                            <a:srgbClr val="FFFFFF"/>
                          </a:solidFill>
                          <a:latin typeface="Calibri" pitchFamily="34" charset="0"/>
                          <a:ea typeface="Calibri" pitchFamily="34" charset="-122"/>
                          <a:cs typeface="Calibri" pitchFamily="34" charset="-120"/>
                        </a:rPr>
                        <a:t>Hibernating</a:t>
                      </a:r>
                      <a:endParaRPr lang="en-US" sz="1300" dirty="0">
                        <a:latin typeface="Calibri" charset="0"/>
                        <a:ea typeface="Calibri" charset="0"/>
                        <a:cs typeface="Calibri" charset="0"/>
                      </a:endParaRPr>
                    </a:p>
                  </a:txBody>
                  <a:tcPr marL="91440" marR="91440" marT="45720" marB="45720">
                    <a:lnL w="6350" cap="flat" cmpd="sng" algn="ctr">
                      <a:solidFill>
                        <a:srgbClr val="2A3556"/>
                      </a:solidFill>
                      <a:prstDash val="solid"/>
                      <a:round/>
                      <a:headEnd type="none" w="med" len="med"/>
                      <a:tailEnd type="none" w="med" len="med"/>
                    </a:lnL>
                    <a:lnR w="6350" cap="flat" cmpd="sng" algn="ctr">
                      <a:solidFill>
                        <a:srgbClr val="2A3556"/>
                      </a:solidFill>
                      <a:prstDash val="solid"/>
                      <a:round/>
                      <a:headEnd type="none" w="med" len="med"/>
                      <a:tailEnd type="none" w="med" len="med"/>
                    </a:lnR>
                    <a:lnT w="6350" cap="flat" cmpd="sng" algn="ctr">
                      <a:solidFill>
                        <a:srgbClr val="2A3556"/>
                      </a:solidFill>
                      <a:prstDash val="solid"/>
                      <a:round/>
                      <a:headEnd type="none" w="med" len="med"/>
                      <a:tailEnd type="none" w="med" len="med"/>
                    </a:lnT>
                    <a:lnB w="6350" cap="flat" cmpd="sng" algn="ctr">
                      <a:solidFill>
                        <a:srgbClr val="2A3556"/>
                      </a:solidFill>
                      <a:prstDash val="solid"/>
                      <a:round/>
                      <a:headEnd type="none" w="med" len="med"/>
                      <a:tailEnd type="none" w="med" len="med"/>
                    </a:lnB>
                    <a:solidFill>
                      <a:srgbClr val="151C30"/>
                    </a:solidFill>
                  </a:tcPr>
                </a:tc>
                <a:tc>
                  <a:txBody>
                    <a:bodyPr/>
                    <a:lstStyle/>
                    <a:p>
                      <a:pPr indent="0" marL="0">
                        <a:buNone/>
                      </a:pPr>
                      <a:r>
                        <a:rPr lang="en-US" sz="1300" dirty="0">
                          <a:solidFill>
                            <a:srgbClr val="FFFFFF"/>
                          </a:solidFill>
                          <a:latin typeface="Calibri" pitchFamily="34" charset="0"/>
                          <a:ea typeface="Calibri" pitchFamily="34" charset="-122"/>
                          <a:cs typeface="Calibri" pitchFamily="34" charset="-120"/>
                        </a:rPr>
                        <a:t>473</a:t>
                      </a:r>
                      <a:endParaRPr lang="en-US" sz="1300" dirty="0">
                        <a:latin typeface="Calibri" charset="0"/>
                        <a:ea typeface="Calibri" charset="0"/>
                        <a:cs typeface="Calibri" charset="0"/>
                      </a:endParaRPr>
                    </a:p>
                  </a:txBody>
                  <a:tcPr marL="91440" marR="91440" marT="45720" marB="45720">
                    <a:lnL w="6350" cap="flat" cmpd="sng" algn="ctr">
                      <a:solidFill>
                        <a:srgbClr val="2A3556"/>
                      </a:solidFill>
                      <a:prstDash val="solid"/>
                      <a:round/>
                      <a:headEnd type="none" w="med" len="med"/>
                      <a:tailEnd type="none" w="med" len="med"/>
                    </a:lnL>
                    <a:lnR w="6350" cap="flat" cmpd="sng" algn="ctr">
                      <a:solidFill>
                        <a:srgbClr val="2A3556"/>
                      </a:solidFill>
                      <a:prstDash val="solid"/>
                      <a:round/>
                      <a:headEnd type="none" w="med" len="med"/>
                      <a:tailEnd type="none" w="med" len="med"/>
                    </a:lnR>
                    <a:lnT w="6350" cap="flat" cmpd="sng" algn="ctr">
                      <a:solidFill>
                        <a:srgbClr val="2A3556"/>
                      </a:solidFill>
                      <a:prstDash val="solid"/>
                      <a:round/>
                      <a:headEnd type="none" w="med" len="med"/>
                      <a:tailEnd type="none" w="med" len="med"/>
                    </a:lnT>
                    <a:lnB w="6350" cap="flat" cmpd="sng" algn="ctr">
                      <a:solidFill>
                        <a:srgbClr val="2A3556"/>
                      </a:solidFill>
                      <a:prstDash val="solid"/>
                      <a:round/>
                      <a:headEnd type="none" w="med" len="med"/>
                      <a:tailEnd type="none" w="med" len="med"/>
                    </a:lnB>
                    <a:solidFill>
                      <a:srgbClr val="151C30"/>
                    </a:solidFill>
                  </a:tcPr>
                </a:tc>
                <a:tc>
                  <a:txBody>
                    <a:bodyPr/>
                    <a:lstStyle/>
                    <a:p>
                      <a:pPr indent="0" marL="0">
                        <a:buNone/>
                      </a:pPr>
                      <a:r>
                        <a:rPr lang="en-US" sz="1300" dirty="0">
                          <a:solidFill>
                            <a:srgbClr val="FFFFFF"/>
                          </a:solidFill>
                          <a:latin typeface="Calibri" pitchFamily="34" charset="0"/>
                          <a:ea typeface="Calibri" pitchFamily="34" charset="-122"/>
                          <a:cs typeface="Calibri" pitchFamily="34" charset="-120"/>
                        </a:rPr>
                        <a:t>1.9</a:t>
                      </a:r>
                      <a:endParaRPr lang="en-US" sz="1300" dirty="0">
                        <a:latin typeface="Calibri" charset="0"/>
                        <a:ea typeface="Calibri" charset="0"/>
                        <a:cs typeface="Calibri" charset="0"/>
                      </a:endParaRPr>
                    </a:p>
                  </a:txBody>
                  <a:tcPr marL="91440" marR="91440" marT="45720" marB="45720">
                    <a:lnL w="6350" cap="flat" cmpd="sng" algn="ctr">
                      <a:solidFill>
                        <a:srgbClr val="2A3556"/>
                      </a:solidFill>
                      <a:prstDash val="solid"/>
                      <a:round/>
                      <a:headEnd type="none" w="med" len="med"/>
                      <a:tailEnd type="none" w="med" len="med"/>
                    </a:lnL>
                    <a:lnR w="6350" cap="flat" cmpd="sng" algn="ctr">
                      <a:solidFill>
                        <a:srgbClr val="2A3556"/>
                      </a:solidFill>
                      <a:prstDash val="solid"/>
                      <a:round/>
                      <a:headEnd type="none" w="med" len="med"/>
                      <a:tailEnd type="none" w="med" len="med"/>
                    </a:lnR>
                    <a:lnT w="6350" cap="flat" cmpd="sng" algn="ctr">
                      <a:solidFill>
                        <a:srgbClr val="2A3556"/>
                      </a:solidFill>
                      <a:prstDash val="solid"/>
                      <a:round/>
                      <a:headEnd type="none" w="med" len="med"/>
                      <a:tailEnd type="none" w="med" len="med"/>
                    </a:lnT>
                    <a:lnB w="6350" cap="flat" cmpd="sng" algn="ctr">
                      <a:solidFill>
                        <a:srgbClr val="2A3556"/>
                      </a:solidFill>
                      <a:prstDash val="solid"/>
                      <a:round/>
                      <a:headEnd type="none" w="med" len="med"/>
                      <a:tailEnd type="none" w="med" len="med"/>
                    </a:lnB>
                    <a:solidFill>
                      <a:srgbClr val="151C30"/>
                    </a:solidFill>
                  </a:tcPr>
                </a:tc>
                <a:tc>
                  <a:txBody>
                    <a:bodyPr/>
                    <a:lstStyle/>
                    <a:p>
                      <a:pPr indent="0" marL="0">
                        <a:buNone/>
                      </a:pPr>
                      <a:r>
                        <a:rPr lang="en-US" sz="1300" dirty="0">
                          <a:solidFill>
                            <a:srgbClr val="FFFFFF"/>
                          </a:solidFill>
                          <a:latin typeface="Calibri" pitchFamily="34" charset="0"/>
                          <a:ea typeface="Calibri" pitchFamily="34" charset="-122"/>
                          <a:cs typeface="Calibri" pitchFamily="34" charset="-120"/>
                        </a:rPr>
                        <a:t>0.4%</a:t>
                      </a:r>
                      <a:endParaRPr lang="en-US" sz="1300" dirty="0">
                        <a:latin typeface="Calibri" charset="0"/>
                        <a:ea typeface="Calibri" charset="0"/>
                        <a:cs typeface="Calibri" charset="0"/>
                      </a:endParaRPr>
                    </a:p>
                  </a:txBody>
                  <a:tcPr marL="91440" marR="91440" marT="45720" marB="45720">
                    <a:lnL w="6350" cap="flat" cmpd="sng" algn="ctr">
                      <a:solidFill>
                        <a:srgbClr val="2A3556"/>
                      </a:solidFill>
                      <a:prstDash val="solid"/>
                      <a:round/>
                      <a:headEnd type="none" w="med" len="med"/>
                      <a:tailEnd type="none" w="med" len="med"/>
                    </a:lnL>
                    <a:lnR w="6350" cap="flat" cmpd="sng" algn="ctr">
                      <a:solidFill>
                        <a:srgbClr val="2A3556"/>
                      </a:solidFill>
                      <a:prstDash val="solid"/>
                      <a:round/>
                      <a:headEnd type="none" w="med" len="med"/>
                      <a:tailEnd type="none" w="med" len="med"/>
                    </a:lnR>
                    <a:lnT w="6350" cap="flat" cmpd="sng" algn="ctr">
                      <a:solidFill>
                        <a:srgbClr val="2A3556"/>
                      </a:solidFill>
                      <a:prstDash val="solid"/>
                      <a:round/>
                      <a:headEnd type="none" w="med" len="med"/>
                      <a:tailEnd type="none" w="med" len="med"/>
                    </a:lnT>
                    <a:lnB w="6350" cap="flat" cmpd="sng" algn="ctr">
                      <a:solidFill>
                        <a:srgbClr val="2A3556"/>
                      </a:solidFill>
                      <a:prstDash val="solid"/>
                      <a:round/>
                      <a:headEnd type="none" w="med" len="med"/>
                      <a:tailEnd type="none" w="med" len="med"/>
                    </a:lnB>
                    <a:solidFill>
                      <a:srgbClr val="151C30"/>
                    </a:solidFill>
                  </a:tcPr>
                </a:tc>
              </a:tr>
            </a:tbl>
          </a:graphicData>
        </a:graphic>
      </p:graphicFrame>
      <p:sp>
        <p:nvSpPr>
          <p:cNvPr id="8" name="Shape 4"/>
          <p:cNvSpPr/>
          <p:nvPr/>
        </p:nvSpPr>
        <p:spPr>
          <a:xfrm>
            <a:off x="6766560" y="4069080"/>
            <a:ext cx="4846320" cy="2103120"/>
          </a:xfrm>
          <a:prstGeom prst="roundRect">
            <a:avLst>
              <a:gd name="adj" fmla="val 5217"/>
            </a:avLst>
          </a:prstGeom>
          <a:solidFill>
            <a:srgbClr val="151C30"/>
          </a:solidFill>
          <a:ln w="9525">
            <a:solidFill>
              <a:srgbClr val="2A3556"/>
            </a:solidFill>
            <a:prstDash val="solid"/>
          </a:ln>
        </p:spPr>
      </p:sp>
      <p:sp>
        <p:nvSpPr>
          <p:cNvPr id="9" name="Text 5"/>
          <p:cNvSpPr txBox="1"/>
          <p:nvPr/>
        </p:nvSpPr>
        <p:spPr>
          <a:xfrm>
            <a:off x="6995160" y="4206240"/>
            <a:ext cx="4434840" cy="1828800"/>
          </a:xfrm>
          <a:prstGeom prst="rect">
            <a:avLst/>
          </a:prstGeom>
          <a:noFill/>
          <a:ln/>
        </p:spPr>
        <p:txBody>
          <a:bodyPr wrap="square" lIns="0" tIns="0" rIns="0" bIns="0" rtlCol="0" anchor="t"/>
          <a:lstStyle/>
          <a:p>
            <a:pPr indent="0" marL="0">
              <a:buNone/>
            </a:pPr>
            <a:r>
              <a:rPr lang="en-US" sz="1900" b="1" dirty="0">
                <a:solidFill>
                  <a:srgbClr val="F59E0B"/>
                </a:solidFill>
                <a:latin typeface="Calibri" pitchFamily="34" charset="0"/>
                <a:ea typeface="Calibri" pitchFamily="34" charset="-122"/>
                <a:cs typeface="Calibri" pitchFamily="34" charset="-120"/>
              </a:rPr>
              <a:t>23% of buyers → 72% of revenue</a:t>
            </a:r>
            <a:endParaRPr lang="en-US" sz="1900" dirty="0"/>
          </a:p>
          <a:p>
            <a:pPr indent="0" marL="0">
              <a:buNone/>
            </a:pPr>
            <a:r>
              <a:rPr lang="en-US" sz="1350" dirty="0">
                <a:solidFill>
                  <a:srgbClr val="A9B3CC"/>
                </a:solidFill>
                <a:latin typeface="Calibri" pitchFamily="34" charset="0"/>
                <a:ea typeface="Calibri" pitchFamily="34" charset="-122"/>
                <a:cs typeface="Calibri" pitchFamily="34" charset="-120"/>
              </a:rPr>
              <a:t>Champions dominate revenue; “Can’t Lose Them” (high value, silent ≈1 year) are the prime VIP win-back target. k chosen by silhouette over k = 3…8; clusters named automatically from centroids with a marketing playbook.</a:t>
            </a:r>
            <a:endParaRPr lang="en-US" sz="1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020"/>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200" b="1" spc="300" kern="0" dirty="0">
                <a:solidFill>
                  <a:srgbClr val="06B6D4"/>
                </a:solidFill>
                <a:latin typeface="Calibri" pitchFamily="34" charset="0"/>
                <a:ea typeface="Calibri" pitchFamily="34" charset="-122"/>
                <a:cs typeface="Calibri" pitchFamily="34" charset="-120"/>
              </a:rPr>
              <a:t>LEAK-FREE, TIME-BASED DESIGN</a:t>
            </a:r>
            <a:endParaRPr lang="en-US" sz="1200" dirty="0"/>
          </a:p>
        </p:txBody>
      </p:sp>
      <p:sp>
        <p:nvSpPr>
          <p:cNvPr id="3" name="Text 1"/>
          <p:cNvSpPr txBox="1"/>
          <p:nvPr/>
        </p:nvSpPr>
        <p:spPr>
          <a:xfrm>
            <a:off x="548640" y="603504"/>
            <a:ext cx="11064240" cy="685800"/>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Churn prediction: who will stop buying?</a:t>
            </a:r>
            <a:endParaRPr lang="en-US" sz="3200" dirty="0"/>
          </a:p>
        </p:txBody>
      </p:sp>
      <p:sp>
        <p:nvSpPr>
          <p:cNvPr id="4" name="Text 2"/>
          <p:cNvSpPr txBox="1"/>
          <p:nvPr/>
        </p:nvSpPr>
        <p:spPr>
          <a:xfrm>
            <a:off x="8412480" y="6446520"/>
            <a:ext cx="3246120" cy="274320"/>
          </a:xfrm>
          <a:prstGeom prst="rect">
            <a:avLst/>
          </a:prstGeom>
          <a:noFill/>
          <a:ln/>
        </p:spPr>
        <p:txBody>
          <a:bodyPr wrap="square" lIns="0" tIns="0" rIns="0" bIns="0" rtlCol="0" anchor="ctr"/>
          <a:lstStyle/>
          <a:p>
            <a:pPr algn="r" indent="0" marL="0">
              <a:buNone/>
            </a:pPr>
            <a:r>
              <a:rPr lang="en-US" sz="1000" dirty="0">
                <a:solidFill>
                  <a:srgbClr val="7D88A6"/>
                </a:solidFill>
                <a:latin typeface="Calibri" pitchFamily="34" charset="0"/>
                <a:ea typeface="Calibri" pitchFamily="34" charset="-122"/>
                <a:cs typeface="Calibri" pitchFamily="34" charset="-120"/>
              </a:rPr>
              <a:t>ShopSense · Big Data Analytics  |  12</a:t>
            </a:r>
            <a:endParaRPr lang="en-US" sz="1000" dirty="0"/>
          </a:p>
        </p:txBody>
      </p:sp>
      <p:sp>
        <p:nvSpPr>
          <p:cNvPr id="5" name="Shape 3"/>
          <p:cNvSpPr/>
          <p:nvPr/>
        </p:nvSpPr>
        <p:spPr>
          <a:xfrm>
            <a:off x="548640" y="1508760"/>
            <a:ext cx="11064240" cy="731520"/>
          </a:xfrm>
          <a:prstGeom prst="roundRect">
            <a:avLst>
              <a:gd name="adj" fmla="val 15000"/>
            </a:avLst>
          </a:prstGeom>
          <a:solidFill>
            <a:srgbClr val="1C2540"/>
          </a:solidFill>
          <a:ln w="9525">
            <a:solidFill>
              <a:srgbClr val="2A3556"/>
            </a:solidFill>
            <a:prstDash val="solid"/>
          </a:ln>
        </p:spPr>
      </p:sp>
      <p:sp>
        <p:nvSpPr>
          <p:cNvPr id="6" name="Text 4"/>
          <p:cNvSpPr txBox="1"/>
          <p:nvPr/>
        </p:nvSpPr>
        <p:spPr>
          <a:xfrm>
            <a:off x="777240" y="1508760"/>
            <a:ext cx="10607040" cy="73152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Features: only data before cutoff (2026-04-02)   </a:t>
            </a:r>
            <a:pPr indent="0" marL="0">
              <a:buNone/>
            </a:pPr>
            <a:r>
              <a:rPr lang="en-US" sz="1500" dirty="0">
                <a:solidFill>
                  <a:srgbClr val="A9B3CC"/>
                </a:solidFill>
                <a:latin typeface="Calibri" pitchFamily="34" charset="0"/>
                <a:ea typeface="Calibri" pitchFamily="34" charset="-122"/>
                <a:cs typeface="Calibri" pitchFamily="34" charset="-120"/>
              </a:rPr>
              <a:t>→   Label: no order in the next 90 days   →   </a:t>
            </a:r>
            <a:pPr indent="0" marL="0">
              <a:buNone/>
            </a:pPr>
            <a:r>
              <a:rPr lang="en-US" sz="1500" b="1" dirty="0">
                <a:solidFill>
                  <a:srgbClr val="F59E0B"/>
                </a:solidFill>
                <a:latin typeface="Calibri" pitchFamily="34" charset="0"/>
                <a:ea typeface="Calibri" pitchFamily="34" charset="-122"/>
                <a:cs typeface="Calibri" pitchFamily="34" charset="-120"/>
              </a:rPr>
              <a:t>57.17% churned</a:t>
            </a:r>
            <a:endParaRPr lang="en-US" sz="1500" dirty="0"/>
          </a:p>
        </p:txBody>
      </p:sp>
      <p:graphicFrame>
        <p:nvGraphicFramePr>
          <p:cNvPr id="7" name="Chart 0" descr=""/>
          <p:cNvGraphicFramePr/>
          <p:nvPr/>
        </p:nvGraphicFramePr>
        <p:xfrm>
          <a:off x="548640" y="2468880"/>
          <a:ext cx="5577840" cy="374904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6400800" y="2468880"/>
            <a:ext cx="5212080" cy="3749040"/>
          </a:xfrm>
          <a:prstGeom prst="roundRect">
            <a:avLst>
              <a:gd name="adj" fmla="val 2927"/>
            </a:avLst>
          </a:prstGeom>
          <a:solidFill>
            <a:srgbClr val="151C30"/>
          </a:solidFill>
          <a:ln w="9525">
            <a:solidFill>
              <a:srgbClr val="2A3556"/>
            </a:solidFill>
            <a:prstDash val="solid"/>
          </a:ln>
        </p:spPr>
      </p:sp>
      <p:sp>
        <p:nvSpPr>
          <p:cNvPr id="9" name="Text 6"/>
          <p:cNvSpPr txBox="1"/>
          <p:nvPr/>
        </p:nvSpPr>
        <p:spPr>
          <a:xfrm>
            <a:off x="6675120" y="2606040"/>
            <a:ext cx="4754880" cy="365760"/>
          </a:xfrm>
          <a:prstGeom prst="rect">
            <a:avLst/>
          </a:prstGeom>
          <a:noFill/>
          <a:ln/>
        </p:spPr>
        <p:txBody>
          <a:bodyPr wrap="square" lIns="0" tIns="0" rIns="0" bIns="0" rtlCol="0" anchor="ctr"/>
          <a:lstStyle/>
          <a:p>
            <a:pPr indent="0" marL="0">
              <a:buNone/>
            </a:pPr>
            <a:r>
              <a:rPr lang="en-US" sz="1500" b="1" dirty="0">
                <a:solidFill>
                  <a:srgbClr val="06B6D4"/>
                </a:solidFill>
                <a:latin typeface="Arial" pitchFamily="34" charset="0"/>
                <a:ea typeface="Arial" pitchFamily="34" charset="-122"/>
                <a:cs typeface="Arial" pitchFamily="34" charset="-120"/>
              </a:rPr>
              <a:t>Top churn drivers (Random Forest)</a:t>
            </a:r>
            <a:endParaRPr lang="en-US" sz="1500" dirty="0"/>
          </a:p>
        </p:txBody>
      </p:sp>
      <p:sp>
        <p:nvSpPr>
          <p:cNvPr id="10" name="Text 7"/>
          <p:cNvSpPr txBox="1"/>
          <p:nvPr/>
        </p:nvSpPr>
        <p:spPr>
          <a:xfrm>
            <a:off x="6675120" y="3108960"/>
            <a:ext cx="2377440" cy="36576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Days since last visit</a:t>
            </a:r>
            <a:endParaRPr lang="en-US" sz="1250" dirty="0"/>
          </a:p>
        </p:txBody>
      </p:sp>
      <p:sp>
        <p:nvSpPr>
          <p:cNvPr id="11" name="Shape 8"/>
          <p:cNvSpPr/>
          <p:nvPr/>
        </p:nvSpPr>
        <p:spPr>
          <a:xfrm>
            <a:off x="9098280" y="3200400"/>
            <a:ext cx="1645920" cy="201168"/>
          </a:xfrm>
          <a:prstGeom prst="rect">
            <a:avLst/>
          </a:prstGeom>
          <a:solidFill>
            <a:srgbClr val="6366F1"/>
          </a:solidFill>
          <a:ln w="12700">
            <a:solidFill>
              <a:srgbClr val="6366F1"/>
            </a:solidFill>
            <a:prstDash val="solid"/>
          </a:ln>
        </p:spPr>
      </p:sp>
      <p:sp>
        <p:nvSpPr>
          <p:cNvPr id="12" name="Text 9"/>
          <p:cNvSpPr txBox="1"/>
          <p:nvPr/>
        </p:nvSpPr>
        <p:spPr>
          <a:xfrm>
            <a:off x="10835640" y="3108960"/>
            <a:ext cx="640080" cy="365760"/>
          </a:xfrm>
          <a:prstGeom prst="rect">
            <a:avLst/>
          </a:prstGeom>
          <a:noFill/>
          <a:ln/>
        </p:spPr>
        <p:txBody>
          <a:bodyPr wrap="square" lIns="0" tIns="0" rIns="0" bIns="0" rtlCol="0" anchor="ctr"/>
          <a:lstStyle/>
          <a:p>
            <a:pPr indent="0" marL="0">
              <a:buNone/>
            </a:pPr>
            <a:r>
              <a:rPr lang="en-US" sz="1100" dirty="0">
                <a:solidFill>
                  <a:srgbClr val="A9B3CC"/>
                </a:solidFill>
                <a:latin typeface="Calibri" pitchFamily="34" charset="0"/>
                <a:ea typeface="Calibri" pitchFamily="34" charset="-122"/>
                <a:cs typeface="Calibri" pitchFamily="34" charset="-120"/>
              </a:rPr>
              <a:t>20.5%</a:t>
            </a:r>
            <a:endParaRPr lang="en-US" sz="1100" dirty="0"/>
          </a:p>
        </p:txBody>
      </p:sp>
      <p:sp>
        <p:nvSpPr>
          <p:cNvPr id="13" name="Text 10"/>
          <p:cNvSpPr txBox="1"/>
          <p:nvPr/>
        </p:nvSpPr>
        <p:spPr>
          <a:xfrm>
            <a:off x="6675120" y="3584448"/>
            <a:ext cx="2377440" cy="36576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Sessions in last 30 days</a:t>
            </a:r>
            <a:endParaRPr lang="en-US" sz="1250" dirty="0"/>
          </a:p>
        </p:txBody>
      </p:sp>
      <p:sp>
        <p:nvSpPr>
          <p:cNvPr id="14" name="Shape 11"/>
          <p:cNvSpPr/>
          <p:nvPr/>
        </p:nvSpPr>
        <p:spPr>
          <a:xfrm>
            <a:off x="9098280" y="3675888"/>
            <a:ext cx="1570559" cy="201168"/>
          </a:xfrm>
          <a:prstGeom prst="rect">
            <a:avLst/>
          </a:prstGeom>
          <a:solidFill>
            <a:srgbClr val="6366F1"/>
          </a:solidFill>
          <a:ln w="12700">
            <a:solidFill>
              <a:srgbClr val="6366F1"/>
            </a:solidFill>
            <a:prstDash val="solid"/>
          </a:ln>
        </p:spPr>
      </p:sp>
      <p:sp>
        <p:nvSpPr>
          <p:cNvPr id="15" name="Text 12"/>
          <p:cNvSpPr txBox="1"/>
          <p:nvPr/>
        </p:nvSpPr>
        <p:spPr>
          <a:xfrm>
            <a:off x="10760279" y="3584448"/>
            <a:ext cx="640080" cy="365760"/>
          </a:xfrm>
          <a:prstGeom prst="rect">
            <a:avLst/>
          </a:prstGeom>
          <a:noFill/>
          <a:ln/>
        </p:spPr>
        <p:txBody>
          <a:bodyPr wrap="square" lIns="0" tIns="0" rIns="0" bIns="0" rtlCol="0" anchor="ctr"/>
          <a:lstStyle/>
          <a:p>
            <a:pPr indent="0" marL="0">
              <a:buNone/>
            </a:pPr>
            <a:r>
              <a:rPr lang="en-US" sz="1100" dirty="0">
                <a:solidFill>
                  <a:srgbClr val="A9B3CC"/>
                </a:solidFill>
                <a:latin typeface="Calibri" pitchFamily="34" charset="0"/>
                <a:ea typeface="Calibri" pitchFamily="34" charset="-122"/>
                <a:cs typeface="Calibri" pitchFamily="34" charset="-120"/>
              </a:rPr>
              <a:t>19.6%</a:t>
            </a:r>
            <a:endParaRPr lang="en-US" sz="1100" dirty="0"/>
          </a:p>
        </p:txBody>
      </p:sp>
      <p:sp>
        <p:nvSpPr>
          <p:cNvPr id="16" name="Text 13"/>
          <p:cNvSpPr txBox="1"/>
          <p:nvPr/>
        </p:nvSpPr>
        <p:spPr>
          <a:xfrm>
            <a:off x="6675120" y="4059936"/>
            <a:ext cx="2377440" cy="36576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Sessions in last 90 days</a:t>
            </a:r>
            <a:endParaRPr lang="en-US" sz="1250" dirty="0"/>
          </a:p>
        </p:txBody>
      </p:sp>
      <p:sp>
        <p:nvSpPr>
          <p:cNvPr id="17" name="Shape 14"/>
          <p:cNvSpPr/>
          <p:nvPr/>
        </p:nvSpPr>
        <p:spPr>
          <a:xfrm>
            <a:off x="9098280" y="4151376"/>
            <a:ext cx="1140038" cy="201168"/>
          </a:xfrm>
          <a:prstGeom prst="rect">
            <a:avLst/>
          </a:prstGeom>
          <a:solidFill>
            <a:srgbClr val="6366F1"/>
          </a:solidFill>
          <a:ln w="12700">
            <a:solidFill>
              <a:srgbClr val="6366F1"/>
            </a:solidFill>
            <a:prstDash val="solid"/>
          </a:ln>
        </p:spPr>
      </p:sp>
      <p:sp>
        <p:nvSpPr>
          <p:cNvPr id="18" name="Text 15"/>
          <p:cNvSpPr txBox="1"/>
          <p:nvPr/>
        </p:nvSpPr>
        <p:spPr>
          <a:xfrm>
            <a:off x="10329758" y="4059936"/>
            <a:ext cx="640080" cy="365760"/>
          </a:xfrm>
          <a:prstGeom prst="rect">
            <a:avLst/>
          </a:prstGeom>
          <a:noFill/>
          <a:ln/>
        </p:spPr>
        <p:txBody>
          <a:bodyPr wrap="square" lIns="0" tIns="0" rIns="0" bIns="0" rtlCol="0" anchor="ctr"/>
          <a:lstStyle/>
          <a:p>
            <a:pPr indent="0" marL="0">
              <a:buNone/>
            </a:pPr>
            <a:r>
              <a:rPr lang="en-US" sz="1100" dirty="0">
                <a:solidFill>
                  <a:srgbClr val="A9B3CC"/>
                </a:solidFill>
                <a:latin typeface="Calibri" pitchFamily="34" charset="0"/>
                <a:ea typeface="Calibri" pitchFamily="34" charset="-122"/>
                <a:cs typeface="Calibri" pitchFamily="34" charset="-120"/>
              </a:rPr>
              <a:t>14.2%</a:t>
            </a:r>
            <a:endParaRPr lang="en-US" sz="1100" dirty="0"/>
          </a:p>
        </p:txBody>
      </p:sp>
      <p:sp>
        <p:nvSpPr>
          <p:cNvPr id="19" name="Text 16"/>
          <p:cNvSpPr txBox="1"/>
          <p:nvPr/>
        </p:nvSpPr>
        <p:spPr>
          <a:xfrm>
            <a:off x="6675120" y="4535424"/>
            <a:ext cx="2377440" cy="36576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Days since last order</a:t>
            </a:r>
            <a:endParaRPr lang="en-US" sz="1250" dirty="0"/>
          </a:p>
        </p:txBody>
      </p:sp>
      <p:sp>
        <p:nvSpPr>
          <p:cNvPr id="20" name="Shape 17"/>
          <p:cNvSpPr/>
          <p:nvPr/>
        </p:nvSpPr>
        <p:spPr>
          <a:xfrm>
            <a:off x="9098280" y="4626864"/>
            <a:ext cx="758422" cy="201168"/>
          </a:xfrm>
          <a:prstGeom prst="rect">
            <a:avLst/>
          </a:prstGeom>
          <a:solidFill>
            <a:srgbClr val="6366F1"/>
          </a:solidFill>
          <a:ln w="12700">
            <a:solidFill>
              <a:srgbClr val="6366F1"/>
            </a:solidFill>
            <a:prstDash val="solid"/>
          </a:ln>
        </p:spPr>
      </p:sp>
      <p:sp>
        <p:nvSpPr>
          <p:cNvPr id="21" name="Text 18"/>
          <p:cNvSpPr txBox="1"/>
          <p:nvPr/>
        </p:nvSpPr>
        <p:spPr>
          <a:xfrm>
            <a:off x="9948142" y="4535424"/>
            <a:ext cx="640080" cy="365760"/>
          </a:xfrm>
          <a:prstGeom prst="rect">
            <a:avLst/>
          </a:prstGeom>
          <a:noFill/>
          <a:ln/>
        </p:spPr>
        <p:txBody>
          <a:bodyPr wrap="square" lIns="0" tIns="0" rIns="0" bIns="0" rtlCol="0" anchor="ctr"/>
          <a:lstStyle/>
          <a:p>
            <a:pPr indent="0" marL="0">
              <a:buNone/>
            </a:pPr>
            <a:r>
              <a:rPr lang="en-US" sz="1100" dirty="0">
                <a:solidFill>
                  <a:srgbClr val="A9B3CC"/>
                </a:solidFill>
                <a:latin typeface="Calibri" pitchFamily="34" charset="0"/>
                <a:ea typeface="Calibri" pitchFamily="34" charset="-122"/>
                <a:cs typeface="Calibri" pitchFamily="34" charset="-120"/>
              </a:rPr>
              <a:t>9.5%</a:t>
            </a:r>
            <a:endParaRPr lang="en-US" sz="1100" dirty="0"/>
          </a:p>
        </p:txBody>
      </p:sp>
      <p:sp>
        <p:nvSpPr>
          <p:cNvPr id="22" name="Text 19"/>
          <p:cNvSpPr txBox="1"/>
          <p:nvPr/>
        </p:nvSpPr>
        <p:spPr>
          <a:xfrm>
            <a:off x="6675120" y="5010912"/>
            <a:ext cx="2377440" cy="36576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Spend in last 90 days</a:t>
            </a:r>
            <a:endParaRPr lang="en-US" sz="1250" dirty="0"/>
          </a:p>
        </p:txBody>
      </p:sp>
      <p:sp>
        <p:nvSpPr>
          <p:cNvPr id="23" name="Shape 20"/>
          <p:cNvSpPr/>
          <p:nvPr/>
        </p:nvSpPr>
        <p:spPr>
          <a:xfrm>
            <a:off x="9098280" y="5102352"/>
            <a:ext cx="713526" cy="201168"/>
          </a:xfrm>
          <a:prstGeom prst="rect">
            <a:avLst/>
          </a:prstGeom>
          <a:solidFill>
            <a:srgbClr val="6366F1"/>
          </a:solidFill>
          <a:ln w="12700">
            <a:solidFill>
              <a:srgbClr val="6366F1"/>
            </a:solidFill>
            <a:prstDash val="solid"/>
          </a:ln>
        </p:spPr>
      </p:sp>
      <p:sp>
        <p:nvSpPr>
          <p:cNvPr id="24" name="Text 21"/>
          <p:cNvSpPr txBox="1"/>
          <p:nvPr/>
        </p:nvSpPr>
        <p:spPr>
          <a:xfrm>
            <a:off x="9903246" y="5010912"/>
            <a:ext cx="640080" cy="365760"/>
          </a:xfrm>
          <a:prstGeom prst="rect">
            <a:avLst/>
          </a:prstGeom>
          <a:noFill/>
          <a:ln/>
        </p:spPr>
        <p:txBody>
          <a:bodyPr wrap="square" lIns="0" tIns="0" rIns="0" bIns="0" rtlCol="0" anchor="ctr"/>
          <a:lstStyle/>
          <a:p>
            <a:pPr indent="0" marL="0">
              <a:buNone/>
            </a:pPr>
            <a:r>
              <a:rPr lang="en-US" sz="1100" dirty="0">
                <a:solidFill>
                  <a:srgbClr val="A9B3CC"/>
                </a:solidFill>
                <a:latin typeface="Calibri" pitchFamily="34" charset="0"/>
                <a:ea typeface="Calibri" pitchFamily="34" charset="-122"/>
                <a:cs typeface="Calibri" pitchFamily="34" charset="-120"/>
              </a:rPr>
              <a:t>8.9%</a:t>
            </a:r>
            <a:endParaRPr lang="en-US" sz="1100" dirty="0"/>
          </a:p>
        </p:txBody>
      </p:sp>
      <p:sp>
        <p:nvSpPr>
          <p:cNvPr id="25" name="Text 22"/>
          <p:cNvSpPr txBox="1"/>
          <p:nvPr/>
        </p:nvSpPr>
        <p:spPr>
          <a:xfrm>
            <a:off x="6675120" y="5486400"/>
            <a:ext cx="2377440" cy="36576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Orders in last 90 days</a:t>
            </a:r>
            <a:endParaRPr lang="en-US" sz="1250" dirty="0"/>
          </a:p>
        </p:txBody>
      </p:sp>
      <p:sp>
        <p:nvSpPr>
          <p:cNvPr id="26" name="Shape 23"/>
          <p:cNvSpPr/>
          <p:nvPr/>
        </p:nvSpPr>
        <p:spPr>
          <a:xfrm>
            <a:off x="9098280" y="5577840"/>
            <a:ext cx="667828" cy="201168"/>
          </a:xfrm>
          <a:prstGeom prst="rect">
            <a:avLst/>
          </a:prstGeom>
          <a:solidFill>
            <a:srgbClr val="6366F1"/>
          </a:solidFill>
          <a:ln w="12700">
            <a:solidFill>
              <a:srgbClr val="6366F1"/>
            </a:solidFill>
            <a:prstDash val="solid"/>
          </a:ln>
        </p:spPr>
      </p:sp>
      <p:sp>
        <p:nvSpPr>
          <p:cNvPr id="27" name="Text 24"/>
          <p:cNvSpPr txBox="1"/>
          <p:nvPr/>
        </p:nvSpPr>
        <p:spPr>
          <a:xfrm>
            <a:off x="9857548" y="5486400"/>
            <a:ext cx="640080" cy="365760"/>
          </a:xfrm>
          <a:prstGeom prst="rect">
            <a:avLst/>
          </a:prstGeom>
          <a:noFill/>
          <a:ln/>
        </p:spPr>
        <p:txBody>
          <a:bodyPr wrap="square" lIns="0" tIns="0" rIns="0" bIns="0" rtlCol="0" anchor="ctr"/>
          <a:lstStyle/>
          <a:p>
            <a:pPr indent="0" marL="0">
              <a:buNone/>
            </a:pPr>
            <a:r>
              <a:rPr lang="en-US" sz="1100" dirty="0">
                <a:solidFill>
                  <a:srgbClr val="A9B3CC"/>
                </a:solidFill>
                <a:latin typeface="Calibri" pitchFamily="34" charset="0"/>
                <a:ea typeface="Calibri" pitchFamily="34" charset="-122"/>
                <a:cs typeface="Calibri" pitchFamily="34" charset="-120"/>
              </a:rPr>
              <a:t>8.3%</a:t>
            </a:r>
            <a:endParaRPr lang="en-US" sz="1100" dirty="0"/>
          </a:p>
        </p:txBody>
      </p:sp>
      <p:sp>
        <p:nvSpPr>
          <p:cNvPr id="28" name="Text 25"/>
          <p:cNvSpPr txBox="1"/>
          <p:nvPr/>
        </p:nvSpPr>
        <p:spPr>
          <a:xfrm>
            <a:off x="6675120" y="5806440"/>
            <a:ext cx="4754880" cy="320040"/>
          </a:xfrm>
          <a:prstGeom prst="rect">
            <a:avLst/>
          </a:prstGeom>
          <a:noFill/>
          <a:ln/>
        </p:spPr>
        <p:txBody>
          <a:bodyPr wrap="square" lIns="0" tIns="0" rIns="0" bIns="0" rtlCol="0" anchor="ctr"/>
          <a:lstStyle/>
          <a:p>
            <a:pPr indent="0" marL="0">
              <a:buNone/>
            </a:pPr>
            <a:r>
              <a:rPr lang="en-US" sz="1250" b="1" dirty="0">
                <a:solidFill>
                  <a:srgbClr val="F59E0B"/>
                </a:solidFill>
                <a:latin typeface="Calibri" pitchFamily="34" charset="0"/>
                <a:ea typeface="Calibri" pitchFamily="34" charset="-122"/>
                <a:cs typeface="Calibri" pitchFamily="34" charset="-120"/>
              </a:rPr>
              <a:t>2,956 high-risk customers · ₹8.37 Cr annual revenue at risk</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020"/>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200" b="1" spc="300" kern="0" dirty="0">
                <a:solidFill>
                  <a:srgbClr val="06B6D4"/>
                </a:solidFill>
                <a:latin typeface="Calibri" pitchFamily="34" charset="0"/>
                <a:ea typeface="Calibri" pitchFamily="34" charset="-122"/>
                <a:cs typeface="Calibri" pitchFamily="34" charset="-120"/>
              </a:rPr>
              <a:t>EXPLAINABLE &amp; ACTIONABLE: FROM PREDICTION TO DECISION</a:t>
            </a:r>
            <a:endParaRPr lang="en-US" sz="1200" dirty="0"/>
          </a:p>
        </p:txBody>
      </p:sp>
      <p:sp>
        <p:nvSpPr>
          <p:cNvPr id="3" name="Text 1"/>
          <p:cNvSpPr txBox="1"/>
          <p:nvPr/>
        </p:nvSpPr>
        <p:spPr>
          <a:xfrm>
            <a:off x="548640" y="603504"/>
            <a:ext cx="11064240" cy="685800"/>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What-if simulator &amp; Customer 360</a:t>
            </a:r>
            <a:endParaRPr lang="en-US" sz="3200" dirty="0"/>
          </a:p>
        </p:txBody>
      </p:sp>
      <p:sp>
        <p:nvSpPr>
          <p:cNvPr id="4" name="Text 2"/>
          <p:cNvSpPr txBox="1"/>
          <p:nvPr/>
        </p:nvSpPr>
        <p:spPr>
          <a:xfrm>
            <a:off x="8412480" y="6446520"/>
            <a:ext cx="3246120" cy="274320"/>
          </a:xfrm>
          <a:prstGeom prst="rect">
            <a:avLst/>
          </a:prstGeom>
          <a:noFill/>
          <a:ln/>
        </p:spPr>
        <p:txBody>
          <a:bodyPr wrap="square" lIns="0" tIns="0" rIns="0" bIns="0" rtlCol="0" anchor="ctr"/>
          <a:lstStyle/>
          <a:p>
            <a:pPr algn="r" indent="0" marL="0">
              <a:buNone/>
            </a:pPr>
            <a:r>
              <a:rPr lang="en-US" sz="1000" dirty="0">
                <a:solidFill>
                  <a:srgbClr val="7D88A6"/>
                </a:solidFill>
                <a:latin typeface="Calibri" pitchFamily="34" charset="0"/>
                <a:ea typeface="Calibri" pitchFamily="34" charset="-122"/>
                <a:cs typeface="Calibri" pitchFamily="34" charset="-120"/>
              </a:rPr>
              <a:t>ShopSense · Big Data Analytics  |  13</a:t>
            </a:r>
            <a:endParaRPr lang="en-US" sz="1000" dirty="0"/>
          </a:p>
        </p:txBody>
      </p:sp>
      <p:sp>
        <p:nvSpPr>
          <p:cNvPr id="5" name="Shape 3"/>
          <p:cNvSpPr/>
          <p:nvPr/>
        </p:nvSpPr>
        <p:spPr>
          <a:xfrm>
            <a:off x="548640" y="1508760"/>
            <a:ext cx="3291840" cy="4663440"/>
          </a:xfrm>
          <a:prstGeom prst="roundRect">
            <a:avLst>
              <a:gd name="adj" fmla="val 3333"/>
            </a:avLst>
          </a:prstGeom>
          <a:solidFill>
            <a:srgbClr val="FFFFFF"/>
          </a:solidFill>
          <a:ln w="9525">
            <a:solidFill>
              <a:srgbClr val="2A3556"/>
            </a:solidFill>
            <a:prstDash val="solid"/>
          </a:ln>
        </p:spPr>
      </p:sp>
      <p:pic>
        <p:nvPicPr>
          <p:cNvPr id="6" name="Image 0" descr="/tmp/claude-0/-home-user-BDA/48a080a6-c4a7-5521-8912-9b4289475339/scratchpad/cards/ch_sim.png">    </p:cNvPr>
          <p:cNvPicPr>
            <a:picLocks noChangeAspect="1"/>
          </p:cNvPicPr>
          <p:nvPr/>
        </p:nvPicPr>
        <p:blipFill>
          <a:blip r:embed="rId1"/>
          <a:stretch>
            <a:fillRect/>
          </a:stretch>
        </p:blipFill>
        <p:spPr>
          <a:xfrm>
            <a:off x="1338461" y="1600200"/>
            <a:ext cx="1712197" cy="4480560"/>
          </a:xfrm>
          <a:prstGeom prst="rect">
            <a:avLst/>
          </a:prstGeom>
        </p:spPr>
      </p:pic>
      <p:pic>
        <p:nvPicPr>
          <p:cNvPr id="7" name="Image 1" descr="/home/user/BDA/docs/screenshots/10_customer360.png">    </p:cNvPr>
          <p:cNvPicPr>
            <a:picLocks noChangeAspect="1"/>
          </p:cNvPicPr>
          <p:nvPr/>
        </p:nvPicPr>
        <p:blipFill>
          <a:blip r:embed="rId2"/>
          <a:stretch>
            <a:fillRect/>
          </a:stretch>
        </p:blipFill>
        <p:spPr>
          <a:xfrm>
            <a:off x="4864608" y="1508760"/>
            <a:ext cx="5998464" cy="3749040"/>
          </a:xfrm>
          <a:prstGeom prst="rect">
            <a:avLst/>
          </a:prstGeom>
          <a:effectLst>
            <a:outerShdw sx="100000" sy="100000" kx="0" ky="0" algn="bl" rotWithShape="0" blurRad="152400" dist="50800" dir="5400000">
              <a:srgbClr val="000000">
                <a:alpha val="45000"/>
              </a:srgbClr>
            </a:outerShdw>
          </a:effectLst>
        </p:spPr>
      </p:pic>
      <p:sp>
        <p:nvSpPr>
          <p:cNvPr id="8" name="Text 4"/>
          <p:cNvSpPr txBox="1"/>
          <p:nvPr/>
        </p:nvSpPr>
        <p:spPr>
          <a:xfrm>
            <a:off x="4206240" y="5440680"/>
            <a:ext cx="7406640" cy="822960"/>
          </a:xfrm>
          <a:prstGeom prst="rect">
            <a:avLst/>
          </a:prstGeom>
          <a:noFill/>
          <a:ln/>
        </p:spPr>
        <p:txBody>
          <a:bodyPr wrap="square" lIns="0" tIns="0" rIns="0" bIns="0" rtlCol="0" anchor="t"/>
          <a:lstStyle/>
          <a:p>
            <a:pPr marL="228600" indent="-228600">
              <a:spcAft>
                <a:spcPts val="800"/>
              </a:spcAft>
              <a:buSzPct val="100000"/>
              <a:buChar char="•"/>
            </a:pPr>
            <a:r>
              <a:rPr lang="en-US" sz="1350" dirty="0">
                <a:solidFill>
                  <a:srgbClr val="FFFFFF"/>
                </a:solidFill>
                <a:latin typeface="Calibri" pitchFamily="34" charset="0"/>
                <a:ea typeface="Calibri" pitchFamily="34" charset="-122"/>
                <a:cs typeface="Calibri" pitchFamily="34" charset="-120"/>
              </a:rPr>
              <a:t>Logistic model exported to MongoDB → API scores in ~1 ms without Spark</a:t>
            </a:r>
            <a:endParaRPr lang="en-US" sz="1350" dirty="0"/>
          </a:p>
          <a:p>
            <a:pPr marL="228600" indent="-228600">
              <a:spcAft>
                <a:spcPts val="800"/>
              </a:spcAft>
              <a:buSzPct val="100000"/>
              <a:buChar char="•"/>
            </a:pPr>
            <a:r>
              <a:rPr lang="en-US" sz="1350" dirty="0">
                <a:solidFill>
                  <a:srgbClr val="FFFFFF"/>
                </a:solidFill>
                <a:latin typeface="Calibri" pitchFamily="34" charset="0"/>
                <a:ea typeface="Calibri" pitchFamily="34" charset="-122"/>
                <a:cs typeface="Calibri" pitchFamily="34" charset="-120"/>
              </a:rPr>
              <a:t>Per-feature log-odds contributions explain every score</a:t>
            </a:r>
            <a:endParaRPr lang="en-US" sz="1350" dirty="0"/>
          </a:p>
          <a:p>
            <a:pPr marL="228600" indent="-228600">
              <a:spcAft>
                <a:spcPts val="800"/>
              </a:spcAft>
              <a:buSzPct val="100000"/>
              <a:buChar char="•"/>
            </a:pPr>
            <a:r>
              <a:rPr lang="en-US" sz="1350" dirty="0">
                <a:solidFill>
                  <a:srgbClr val="FFFFFF"/>
                </a:solidFill>
                <a:latin typeface="Calibri" pitchFamily="34" charset="0"/>
                <a:ea typeface="Calibri" pitchFamily="34" charset="-122"/>
                <a:cs typeface="Calibri" pitchFamily="34" charset="-120"/>
              </a:rPr>
              <a:t>Win-back list sorted by predicted 12-month value, exported as CSV</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020"/>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200" b="1" spc="300" kern="0" dirty="0">
                <a:solidFill>
                  <a:srgbClr val="06B6D4"/>
                </a:solidFill>
                <a:latin typeface="Calibri" pitchFamily="34" charset="0"/>
                <a:ea typeface="Calibri" pitchFamily="34" charset="-122"/>
                <a:cs typeface="Calibri" pitchFamily="34" charset="-120"/>
              </a:rPr>
              <a:t>ALS COLLABORATIVE FILTERING · FP-GROWTH</a:t>
            </a:r>
            <a:endParaRPr lang="en-US" sz="1200" dirty="0"/>
          </a:p>
        </p:txBody>
      </p:sp>
      <p:sp>
        <p:nvSpPr>
          <p:cNvPr id="3" name="Text 1"/>
          <p:cNvSpPr txBox="1"/>
          <p:nvPr/>
        </p:nvSpPr>
        <p:spPr>
          <a:xfrm>
            <a:off x="548640" y="603504"/>
            <a:ext cx="11064240" cy="685800"/>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Recommendations &amp; market-basket analysis</a:t>
            </a:r>
            <a:endParaRPr lang="en-US" sz="3200" dirty="0"/>
          </a:p>
        </p:txBody>
      </p:sp>
      <p:sp>
        <p:nvSpPr>
          <p:cNvPr id="4" name="Text 2"/>
          <p:cNvSpPr txBox="1"/>
          <p:nvPr/>
        </p:nvSpPr>
        <p:spPr>
          <a:xfrm>
            <a:off x="8412480" y="6446520"/>
            <a:ext cx="3246120" cy="274320"/>
          </a:xfrm>
          <a:prstGeom prst="rect">
            <a:avLst/>
          </a:prstGeom>
          <a:noFill/>
          <a:ln/>
        </p:spPr>
        <p:txBody>
          <a:bodyPr wrap="square" lIns="0" tIns="0" rIns="0" bIns="0" rtlCol="0" anchor="ctr"/>
          <a:lstStyle/>
          <a:p>
            <a:pPr algn="r" indent="0" marL="0">
              <a:buNone/>
            </a:pPr>
            <a:r>
              <a:rPr lang="en-US" sz="1000" dirty="0">
                <a:solidFill>
                  <a:srgbClr val="7D88A6"/>
                </a:solidFill>
                <a:latin typeface="Calibri" pitchFamily="34" charset="0"/>
                <a:ea typeface="Calibri" pitchFamily="34" charset="-122"/>
                <a:cs typeface="Calibri" pitchFamily="34" charset="-120"/>
              </a:rPr>
              <a:t>ShopSense · Big Data Analytics  |  14</a:t>
            </a:r>
            <a:endParaRPr lang="en-US" sz="1000" dirty="0"/>
          </a:p>
        </p:txBody>
      </p:sp>
      <p:graphicFrame>
        <p:nvGraphicFramePr>
          <p:cNvPr id="5" name="Chart 0" descr=""/>
          <p:cNvGraphicFramePr/>
          <p:nvPr/>
        </p:nvGraphicFramePr>
        <p:xfrm>
          <a:off x="548640" y="1508760"/>
          <a:ext cx="5120640" cy="356616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548640" y="5212080"/>
            <a:ext cx="5120640" cy="822960"/>
          </a:xfrm>
          <a:prstGeom prst="rect">
            <a:avLst/>
          </a:prstGeom>
          <a:noFill/>
          <a:ln/>
        </p:spPr>
        <p:txBody>
          <a:bodyPr wrap="square" lIns="0" tIns="0" rIns="0" bIns="0" rtlCol="0" anchor="ctr"/>
          <a:lstStyle/>
          <a:p>
            <a:pPr indent="0" marL="0">
              <a:buNone/>
            </a:pPr>
            <a:r>
              <a:rPr lang="en-US" sz="1400" b="1" dirty="0">
                <a:solidFill>
                  <a:srgbClr val="F59E0B"/>
                </a:solidFill>
                <a:latin typeface="Calibri" pitchFamily="34" charset="0"/>
                <a:ea typeface="Calibri" pitchFamily="34" charset="-122"/>
                <a:cs typeface="Calibri" pitchFamily="34" charset="-120"/>
              </a:rPr>
              <a:t>1.8× more hits than recommending best-sellers (rank 64, λ=1, α=5, grid-searched)</a:t>
            </a:r>
            <a:endParaRPr lang="en-US" sz="1400" dirty="0"/>
          </a:p>
        </p:txBody>
      </p:sp>
      <p:sp>
        <p:nvSpPr>
          <p:cNvPr id="7" name="Shape 4"/>
          <p:cNvSpPr/>
          <p:nvPr/>
        </p:nvSpPr>
        <p:spPr>
          <a:xfrm>
            <a:off x="5943600" y="1508760"/>
            <a:ext cx="5669280" cy="4663440"/>
          </a:xfrm>
          <a:prstGeom prst="roundRect">
            <a:avLst>
              <a:gd name="adj" fmla="val 2353"/>
            </a:avLst>
          </a:prstGeom>
          <a:solidFill>
            <a:srgbClr val="FFFFFF"/>
          </a:solidFill>
          <a:ln w="9525">
            <a:solidFill>
              <a:srgbClr val="2A3556"/>
            </a:solidFill>
            <a:prstDash val="solid"/>
          </a:ln>
        </p:spPr>
      </p:sp>
      <p:pic>
        <p:nvPicPr>
          <p:cNvPr id="8" name="Image 0" descr="/tmp/claude-0/-home-user-BDA/48a080a6-c4a7-5521-8912-9b4289475339/scratchpad/cards/ba_net.png">    </p:cNvPr>
          <p:cNvPicPr>
            <a:picLocks noChangeAspect="1"/>
          </p:cNvPicPr>
          <p:nvPr/>
        </p:nvPicPr>
        <p:blipFill>
          <a:blip r:embed="rId2"/>
          <a:stretch>
            <a:fillRect/>
          </a:stretch>
        </p:blipFill>
        <p:spPr>
          <a:xfrm>
            <a:off x="7807020" y="1600200"/>
            <a:ext cx="1942440" cy="3108960"/>
          </a:xfrm>
          <a:prstGeom prst="rect">
            <a:avLst/>
          </a:prstGeom>
        </p:spPr>
      </p:pic>
      <p:sp>
        <p:nvSpPr>
          <p:cNvPr id="9" name="Text 5"/>
          <p:cNvSpPr txBox="1"/>
          <p:nvPr/>
        </p:nvSpPr>
        <p:spPr>
          <a:xfrm>
            <a:off x="6217920" y="4846320"/>
            <a:ext cx="5212080" cy="1188720"/>
          </a:xfrm>
          <a:prstGeom prst="rect">
            <a:avLst/>
          </a:prstGeom>
          <a:noFill/>
          <a:ln/>
        </p:spPr>
        <p:txBody>
          <a:bodyPr wrap="square" lIns="0" tIns="0" rIns="0" bIns="0" rtlCol="0" anchor="t"/>
          <a:lstStyle/>
          <a:p>
            <a:pPr marL="342900" indent="-342900">
              <a:buSzPct val="100000"/>
              <a:buChar char="•"/>
            </a:pPr>
            <a:r>
              <a:rPr lang="en-US" sz="1300" dirty="0">
                <a:solidFill>
                  <a:srgbClr val="1F2937"/>
                </a:solidFill>
                <a:latin typeface="Calibri" pitchFamily="34" charset="0"/>
                <a:ea typeface="Calibri" pitchFamily="34" charset="-122"/>
                <a:cs typeface="Calibri" pitchFamily="34" charset="-120"/>
              </a:rPr>
              <a:t>Cookware → Kitchen Appliances   lift 10.5 · conf 41%</a:t>
            </a:r>
            <a:endParaRPr lang="en-US" sz="1300" dirty="0"/>
          </a:p>
          <a:p>
            <a:pPr marL="342900" indent="-342900">
              <a:buSzPct val="100000"/>
              <a:buChar char="•"/>
            </a:pPr>
            <a:r>
              <a:rPr lang="en-US" sz="1300" dirty="0">
                <a:solidFill>
                  <a:srgbClr val="1F2937"/>
                </a:solidFill>
                <a:latin typeface="Calibri" pitchFamily="34" charset="0"/>
                <a:ea typeface="Calibri" pitchFamily="34" charset="-122"/>
                <a:cs typeface="Calibri" pitchFamily="34" charset="-120"/>
              </a:rPr>
              <a:t>Non-Fiction → Fiction   lift 8.5 · conf 26%</a:t>
            </a:r>
            <a:endParaRPr lang="en-US" sz="1300" dirty="0"/>
          </a:p>
          <a:p>
            <a:pPr marL="342900" indent="-342900">
              <a:buSzPct val="100000"/>
              <a:buChar char="•"/>
            </a:pPr>
            <a:r>
              <a:rPr lang="en-US" sz="1300" dirty="0">
                <a:solidFill>
                  <a:srgbClr val="1F2937"/>
                </a:solidFill>
                <a:latin typeface="Calibri" pitchFamily="34" charset="0"/>
                <a:ea typeface="Calibri" pitchFamily="34" charset="-122"/>
                <a:cs typeface="Calibri" pitchFamily="34" charset="-120"/>
              </a:rPr>
              <a:t>Toys → Baby Care   lift 7.9 · conf 30%</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020"/>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200" b="1" spc="300" kern="0" dirty="0">
                <a:solidFill>
                  <a:srgbClr val="06B6D4"/>
                </a:solidFill>
                <a:latin typeface="Calibri" pitchFamily="34" charset="0"/>
                <a:ea typeface="Calibri" pitchFamily="34" charset="-122"/>
                <a:cs typeface="Calibri" pitchFamily="34" charset="-120"/>
              </a:rPr>
              <a:t>WHAT COMES NEXT · WHAT WAS UNUSUAL</a:t>
            </a:r>
            <a:endParaRPr lang="en-US" sz="1200" dirty="0"/>
          </a:p>
        </p:txBody>
      </p:sp>
      <p:sp>
        <p:nvSpPr>
          <p:cNvPr id="3" name="Text 1"/>
          <p:cNvSpPr txBox="1"/>
          <p:nvPr/>
        </p:nvSpPr>
        <p:spPr>
          <a:xfrm>
            <a:off x="548640" y="603504"/>
            <a:ext cx="11064240" cy="685800"/>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Forecasting &amp; anomaly detection</a:t>
            </a:r>
            <a:endParaRPr lang="en-US" sz="3200" dirty="0"/>
          </a:p>
        </p:txBody>
      </p:sp>
      <p:sp>
        <p:nvSpPr>
          <p:cNvPr id="4" name="Text 2"/>
          <p:cNvSpPr txBox="1"/>
          <p:nvPr/>
        </p:nvSpPr>
        <p:spPr>
          <a:xfrm>
            <a:off x="8412480" y="6446520"/>
            <a:ext cx="3246120" cy="274320"/>
          </a:xfrm>
          <a:prstGeom prst="rect">
            <a:avLst/>
          </a:prstGeom>
          <a:noFill/>
          <a:ln/>
        </p:spPr>
        <p:txBody>
          <a:bodyPr wrap="square" lIns="0" tIns="0" rIns="0" bIns="0" rtlCol="0" anchor="ctr"/>
          <a:lstStyle/>
          <a:p>
            <a:pPr algn="r" indent="0" marL="0">
              <a:buNone/>
            </a:pPr>
            <a:r>
              <a:rPr lang="en-US" sz="1000" dirty="0">
                <a:solidFill>
                  <a:srgbClr val="7D88A6"/>
                </a:solidFill>
                <a:latin typeface="Calibri" pitchFamily="34" charset="0"/>
                <a:ea typeface="Calibri" pitchFamily="34" charset="-122"/>
                <a:cs typeface="Calibri" pitchFamily="34" charset="-120"/>
              </a:rPr>
              <a:t>ShopSense · Big Data Analytics  |  15</a:t>
            </a:r>
            <a:endParaRPr lang="en-US" sz="1000" dirty="0"/>
          </a:p>
        </p:txBody>
      </p:sp>
      <p:sp>
        <p:nvSpPr>
          <p:cNvPr id="5" name="Shape 3"/>
          <p:cNvSpPr/>
          <p:nvPr/>
        </p:nvSpPr>
        <p:spPr>
          <a:xfrm>
            <a:off x="548640" y="1508760"/>
            <a:ext cx="6949440" cy="2926080"/>
          </a:xfrm>
          <a:prstGeom prst="roundRect">
            <a:avLst>
              <a:gd name="adj" fmla="val 3750"/>
            </a:avLst>
          </a:prstGeom>
          <a:solidFill>
            <a:srgbClr val="FFFFFF"/>
          </a:solidFill>
          <a:ln w="9525">
            <a:solidFill>
              <a:srgbClr val="2A3556"/>
            </a:solidFill>
            <a:prstDash val="solid"/>
          </a:ln>
        </p:spPr>
      </p:sp>
      <p:pic>
        <p:nvPicPr>
          <p:cNvPr id="6" name="Image 0" descr="/tmp/claude-0/-home-user-BDA/48a080a6-c4a7-5521-8912-9b4289475339/scratchpad/cards/fc_main.png">    </p:cNvPr>
          <p:cNvPicPr>
            <a:picLocks noChangeAspect="1"/>
          </p:cNvPicPr>
          <p:nvPr/>
        </p:nvPicPr>
        <p:blipFill>
          <a:blip r:embed="rId1"/>
          <a:stretch>
            <a:fillRect/>
          </a:stretch>
        </p:blipFill>
        <p:spPr>
          <a:xfrm>
            <a:off x="1125468" y="1600200"/>
            <a:ext cx="5795783" cy="2743200"/>
          </a:xfrm>
          <a:prstGeom prst="rect">
            <a:avLst/>
          </a:prstGeom>
        </p:spPr>
      </p:pic>
      <p:sp>
        <p:nvSpPr>
          <p:cNvPr id="7" name="Shape 4"/>
          <p:cNvSpPr/>
          <p:nvPr/>
        </p:nvSpPr>
        <p:spPr>
          <a:xfrm>
            <a:off x="548640" y="4617720"/>
            <a:ext cx="6949440" cy="1554480"/>
          </a:xfrm>
          <a:prstGeom prst="roundRect">
            <a:avLst>
              <a:gd name="adj" fmla="val 7059"/>
            </a:avLst>
          </a:prstGeom>
          <a:solidFill>
            <a:srgbClr val="FFFFFF"/>
          </a:solidFill>
          <a:ln w="9525">
            <a:solidFill>
              <a:srgbClr val="2A3556"/>
            </a:solidFill>
            <a:prstDash val="solid"/>
          </a:ln>
        </p:spPr>
      </p:sp>
      <p:pic>
        <p:nvPicPr>
          <p:cNvPr id="8" name="Image 1" descr="/tmp/claude-0/-home-user-BDA/48a080a6-c4a7-5521-8912-9b4289475339/scratchpad/cards/fc_anom.png">    </p:cNvPr>
          <p:cNvPicPr>
            <a:picLocks noChangeAspect="1"/>
          </p:cNvPicPr>
          <p:nvPr/>
        </p:nvPicPr>
        <p:blipFill>
          <a:blip r:embed="rId2"/>
          <a:stretch>
            <a:fillRect/>
          </a:stretch>
        </p:blipFill>
        <p:spPr>
          <a:xfrm>
            <a:off x="2882685" y="4663440"/>
            <a:ext cx="2281351" cy="1463040"/>
          </a:xfrm>
          <a:prstGeom prst="rect">
            <a:avLst/>
          </a:prstGeom>
        </p:spPr>
      </p:pic>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7772400" y="1508760"/>
          <a:ext cx="3840480" cy="914400"/>
        </p:xfrm>
        <a:graphic>
          <a:graphicData uri="http://schemas.openxmlformats.org/drawingml/2006/table">
            <a:tbl>
              <a:tblPr/>
              <a:tblGrid>
                <a:gridCol w="2011680"/>
                <a:gridCol w="914400"/>
                <a:gridCol w="914400"/>
              </a:tblGrid>
              <a:tr h="365760">
                <a:tc>
                  <a:txBody>
                    <a:bodyPr/>
                    <a:lstStyle/>
                    <a:p>
                      <a:pPr indent="0" marL="0">
                        <a:buNone/>
                      </a:pPr>
                      <a:r>
                        <a:rPr lang="en-US" sz="1200" b="1" dirty="0">
                          <a:solidFill>
                            <a:srgbClr val="06B6D4"/>
                          </a:solidFill>
                          <a:latin typeface="Calibri" pitchFamily="34" charset="0"/>
                          <a:ea typeface="Calibri" pitchFamily="34" charset="-122"/>
                          <a:cs typeface="Calibri" pitchFamily="34" charset="-120"/>
                        </a:rPr>
                        <a:t>Model</a:t>
                      </a:r>
                      <a:endParaRPr lang="en-US" sz="1200" dirty="0">
                        <a:latin typeface="Calibri" charset="0"/>
                        <a:ea typeface="Calibri" charset="0"/>
                        <a:cs typeface="Calibri" charset="0"/>
                      </a:endParaRPr>
                    </a:p>
                  </a:txBody>
                  <a:tcPr marL="91440" marR="91440" marT="45720" marB="45720">
                    <a:lnL w="6350" cap="flat" cmpd="sng" algn="ctr">
                      <a:solidFill>
                        <a:srgbClr val="2A3556"/>
                      </a:solidFill>
                      <a:prstDash val="solid"/>
                      <a:round/>
                      <a:headEnd type="none" w="med" len="med"/>
                      <a:tailEnd type="none" w="med" len="med"/>
                    </a:lnL>
                    <a:lnR w="6350" cap="flat" cmpd="sng" algn="ctr">
                      <a:solidFill>
                        <a:srgbClr val="2A3556"/>
                      </a:solidFill>
                      <a:prstDash val="solid"/>
                      <a:round/>
                      <a:headEnd type="none" w="med" len="med"/>
                      <a:tailEnd type="none" w="med" len="med"/>
                    </a:lnR>
                    <a:lnT w="6350" cap="flat" cmpd="sng" algn="ctr">
                      <a:solidFill>
                        <a:srgbClr val="2A3556"/>
                      </a:solidFill>
                      <a:prstDash val="solid"/>
                      <a:round/>
                      <a:headEnd type="none" w="med" len="med"/>
                      <a:tailEnd type="none" w="med" len="med"/>
                    </a:lnT>
                    <a:lnB w="6350" cap="flat" cmpd="sng" algn="ctr">
                      <a:solidFill>
                        <a:srgbClr val="2A3556"/>
                      </a:solidFill>
                      <a:prstDash val="solid"/>
                      <a:round/>
                      <a:headEnd type="none" w="med" len="med"/>
                      <a:tailEnd type="none" w="med" len="med"/>
                    </a:lnB>
                    <a:solidFill>
                      <a:srgbClr val="1C2540"/>
                    </a:solidFill>
                  </a:tcPr>
                </a:tc>
                <a:tc>
                  <a:txBody>
                    <a:bodyPr/>
                    <a:lstStyle/>
                    <a:p>
                      <a:pPr indent="0" marL="0">
                        <a:buNone/>
                      </a:pPr>
                      <a:r>
                        <a:rPr lang="en-US" sz="1200" b="1" dirty="0">
                          <a:solidFill>
                            <a:srgbClr val="06B6D4"/>
                          </a:solidFill>
                          <a:latin typeface="Calibri" pitchFamily="34" charset="0"/>
                          <a:ea typeface="Calibri" pitchFamily="34" charset="-122"/>
                          <a:cs typeface="Calibri" pitchFamily="34" charset="-120"/>
                        </a:rPr>
                        <a:t>Daily MAPE</a:t>
                      </a:r>
                      <a:endParaRPr lang="en-US" sz="1200" dirty="0">
                        <a:latin typeface="Calibri" charset="0"/>
                        <a:ea typeface="Calibri" charset="0"/>
                        <a:cs typeface="Calibri" charset="0"/>
                      </a:endParaRPr>
                    </a:p>
                  </a:txBody>
                  <a:tcPr marL="91440" marR="91440" marT="45720" marB="45720">
                    <a:lnL w="6350" cap="flat" cmpd="sng" algn="ctr">
                      <a:solidFill>
                        <a:srgbClr val="2A3556"/>
                      </a:solidFill>
                      <a:prstDash val="solid"/>
                      <a:round/>
                      <a:headEnd type="none" w="med" len="med"/>
                      <a:tailEnd type="none" w="med" len="med"/>
                    </a:lnL>
                    <a:lnR w="6350" cap="flat" cmpd="sng" algn="ctr">
                      <a:solidFill>
                        <a:srgbClr val="2A3556"/>
                      </a:solidFill>
                      <a:prstDash val="solid"/>
                      <a:round/>
                      <a:headEnd type="none" w="med" len="med"/>
                      <a:tailEnd type="none" w="med" len="med"/>
                    </a:lnR>
                    <a:lnT w="6350" cap="flat" cmpd="sng" algn="ctr">
                      <a:solidFill>
                        <a:srgbClr val="2A3556"/>
                      </a:solidFill>
                      <a:prstDash val="solid"/>
                      <a:round/>
                      <a:headEnd type="none" w="med" len="med"/>
                      <a:tailEnd type="none" w="med" len="med"/>
                    </a:lnT>
                    <a:lnB w="6350" cap="flat" cmpd="sng" algn="ctr">
                      <a:solidFill>
                        <a:srgbClr val="2A3556"/>
                      </a:solidFill>
                      <a:prstDash val="solid"/>
                      <a:round/>
                      <a:headEnd type="none" w="med" len="med"/>
                      <a:tailEnd type="none" w="med" len="med"/>
                    </a:lnB>
                    <a:solidFill>
                      <a:srgbClr val="1C2540"/>
                    </a:solidFill>
                  </a:tcPr>
                </a:tc>
                <a:tc>
                  <a:txBody>
                    <a:bodyPr/>
                    <a:lstStyle/>
                    <a:p>
                      <a:pPr indent="0" marL="0">
                        <a:buNone/>
                      </a:pPr>
                      <a:r>
                        <a:rPr lang="en-US" sz="1200" b="1" dirty="0">
                          <a:solidFill>
                            <a:srgbClr val="06B6D4"/>
                          </a:solidFill>
                          <a:latin typeface="Calibri" pitchFamily="34" charset="0"/>
                          <a:ea typeface="Calibri" pitchFamily="34" charset="-122"/>
                          <a:cs typeface="Calibri" pitchFamily="34" charset="-120"/>
                        </a:rPr>
                        <a:t>Weekly</a:t>
                      </a:r>
                      <a:endParaRPr lang="en-US" sz="1200" dirty="0">
                        <a:latin typeface="Calibri" charset="0"/>
                        <a:ea typeface="Calibri" charset="0"/>
                        <a:cs typeface="Calibri" charset="0"/>
                      </a:endParaRPr>
                    </a:p>
                  </a:txBody>
                  <a:tcPr marL="91440" marR="91440" marT="45720" marB="45720">
                    <a:lnL w="6350" cap="flat" cmpd="sng" algn="ctr">
                      <a:solidFill>
                        <a:srgbClr val="2A3556"/>
                      </a:solidFill>
                      <a:prstDash val="solid"/>
                      <a:round/>
                      <a:headEnd type="none" w="med" len="med"/>
                      <a:tailEnd type="none" w="med" len="med"/>
                    </a:lnL>
                    <a:lnR w="6350" cap="flat" cmpd="sng" algn="ctr">
                      <a:solidFill>
                        <a:srgbClr val="2A3556"/>
                      </a:solidFill>
                      <a:prstDash val="solid"/>
                      <a:round/>
                      <a:headEnd type="none" w="med" len="med"/>
                      <a:tailEnd type="none" w="med" len="med"/>
                    </a:lnR>
                    <a:lnT w="6350" cap="flat" cmpd="sng" algn="ctr">
                      <a:solidFill>
                        <a:srgbClr val="2A3556"/>
                      </a:solidFill>
                      <a:prstDash val="solid"/>
                      <a:round/>
                      <a:headEnd type="none" w="med" len="med"/>
                      <a:tailEnd type="none" w="med" len="med"/>
                    </a:lnT>
                    <a:lnB w="6350" cap="flat" cmpd="sng" algn="ctr">
                      <a:solidFill>
                        <a:srgbClr val="2A3556"/>
                      </a:solidFill>
                      <a:prstDash val="solid"/>
                      <a:round/>
                      <a:headEnd type="none" w="med" len="med"/>
                      <a:tailEnd type="none" w="med" len="med"/>
                    </a:lnB>
                    <a:solidFill>
                      <a:srgbClr val="1C2540"/>
                    </a:solidFill>
                  </a:tcPr>
                </a:tc>
              </a:tr>
              <a:tr h="36576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Hybrid (ours)</a:t>
                      </a:r>
                      <a:endParaRPr lang="en-US" sz="1200" dirty="0">
                        <a:latin typeface="Calibri" charset="0"/>
                        <a:ea typeface="Calibri" charset="0"/>
                        <a:cs typeface="Calibri" charset="0"/>
                      </a:endParaRPr>
                    </a:p>
                  </a:txBody>
                  <a:tcPr marL="91440" marR="91440" marT="45720" marB="45720">
                    <a:lnL w="6350" cap="flat" cmpd="sng" algn="ctr">
                      <a:solidFill>
                        <a:srgbClr val="2A3556"/>
                      </a:solidFill>
                      <a:prstDash val="solid"/>
                      <a:round/>
                      <a:headEnd type="none" w="med" len="med"/>
                      <a:tailEnd type="none" w="med" len="med"/>
                    </a:lnL>
                    <a:lnR w="6350" cap="flat" cmpd="sng" algn="ctr">
                      <a:solidFill>
                        <a:srgbClr val="2A3556"/>
                      </a:solidFill>
                      <a:prstDash val="solid"/>
                      <a:round/>
                      <a:headEnd type="none" w="med" len="med"/>
                      <a:tailEnd type="none" w="med" len="med"/>
                    </a:lnR>
                    <a:lnT w="6350" cap="flat" cmpd="sng" algn="ctr">
                      <a:solidFill>
                        <a:srgbClr val="2A3556"/>
                      </a:solidFill>
                      <a:prstDash val="solid"/>
                      <a:round/>
                      <a:headEnd type="none" w="med" len="med"/>
                      <a:tailEnd type="none" w="med" len="med"/>
                    </a:lnT>
                    <a:lnB w="6350" cap="flat" cmpd="sng" algn="ctr">
                      <a:solidFill>
                        <a:srgbClr val="2A3556"/>
                      </a:solidFill>
                      <a:prstDash val="solid"/>
                      <a:round/>
                      <a:headEnd type="none" w="med" len="med"/>
                      <a:tailEnd type="none" w="med" len="med"/>
                    </a:lnB>
                    <a:solidFill>
                      <a:srgbClr val="151C3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20.78%</a:t>
                      </a:r>
                      <a:endParaRPr lang="en-US" sz="1200" dirty="0">
                        <a:latin typeface="Calibri" charset="0"/>
                        <a:ea typeface="Calibri" charset="0"/>
                        <a:cs typeface="Calibri" charset="0"/>
                      </a:endParaRPr>
                    </a:p>
                  </a:txBody>
                  <a:tcPr marL="91440" marR="91440" marT="45720" marB="45720">
                    <a:lnL w="6350" cap="flat" cmpd="sng" algn="ctr">
                      <a:solidFill>
                        <a:srgbClr val="2A3556"/>
                      </a:solidFill>
                      <a:prstDash val="solid"/>
                      <a:round/>
                      <a:headEnd type="none" w="med" len="med"/>
                      <a:tailEnd type="none" w="med" len="med"/>
                    </a:lnL>
                    <a:lnR w="6350" cap="flat" cmpd="sng" algn="ctr">
                      <a:solidFill>
                        <a:srgbClr val="2A3556"/>
                      </a:solidFill>
                      <a:prstDash val="solid"/>
                      <a:round/>
                      <a:headEnd type="none" w="med" len="med"/>
                      <a:tailEnd type="none" w="med" len="med"/>
                    </a:lnR>
                    <a:lnT w="6350" cap="flat" cmpd="sng" algn="ctr">
                      <a:solidFill>
                        <a:srgbClr val="2A3556"/>
                      </a:solidFill>
                      <a:prstDash val="solid"/>
                      <a:round/>
                      <a:headEnd type="none" w="med" len="med"/>
                      <a:tailEnd type="none" w="med" len="med"/>
                    </a:lnT>
                    <a:lnB w="6350" cap="flat" cmpd="sng" algn="ctr">
                      <a:solidFill>
                        <a:srgbClr val="2A3556"/>
                      </a:solidFill>
                      <a:prstDash val="solid"/>
                      <a:round/>
                      <a:headEnd type="none" w="med" len="med"/>
                      <a:tailEnd type="none" w="med" len="med"/>
                    </a:lnB>
                    <a:solidFill>
                      <a:srgbClr val="151C3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6.78%</a:t>
                      </a:r>
                      <a:endParaRPr lang="en-US" sz="1200" dirty="0">
                        <a:latin typeface="Calibri" charset="0"/>
                        <a:ea typeface="Calibri" charset="0"/>
                        <a:cs typeface="Calibri" charset="0"/>
                      </a:endParaRPr>
                    </a:p>
                  </a:txBody>
                  <a:tcPr marL="91440" marR="91440" marT="45720" marB="45720">
                    <a:lnL w="6350" cap="flat" cmpd="sng" algn="ctr">
                      <a:solidFill>
                        <a:srgbClr val="2A3556"/>
                      </a:solidFill>
                      <a:prstDash val="solid"/>
                      <a:round/>
                      <a:headEnd type="none" w="med" len="med"/>
                      <a:tailEnd type="none" w="med" len="med"/>
                    </a:lnL>
                    <a:lnR w="6350" cap="flat" cmpd="sng" algn="ctr">
                      <a:solidFill>
                        <a:srgbClr val="2A3556"/>
                      </a:solidFill>
                      <a:prstDash val="solid"/>
                      <a:round/>
                      <a:headEnd type="none" w="med" len="med"/>
                      <a:tailEnd type="none" w="med" len="med"/>
                    </a:lnR>
                    <a:lnT w="6350" cap="flat" cmpd="sng" algn="ctr">
                      <a:solidFill>
                        <a:srgbClr val="2A3556"/>
                      </a:solidFill>
                      <a:prstDash val="solid"/>
                      <a:round/>
                      <a:headEnd type="none" w="med" len="med"/>
                      <a:tailEnd type="none" w="med" len="med"/>
                    </a:lnT>
                    <a:lnB w="6350" cap="flat" cmpd="sng" algn="ctr">
                      <a:solidFill>
                        <a:srgbClr val="2A3556"/>
                      </a:solidFill>
                      <a:prstDash val="solid"/>
                      <a:round/>
                      <a:headEnd type="none" w="med" len="med"/>
                      <a:tailEnd type="none" w="med" len="med"/>
                    </a:lnB>
                    <a:solidFill>
                      <a:srgbClr val="151C30"/>
                    </a:solidFill>
                  </a:tcPr>
                </a:tc>
              </a:tr>
              <a:tr h="365760">
                <a:tc>
                  <a:txBody>
                    <a:bodyPr/>
                    <a:lstStyle/>
                    <a:p>
                      <a:pPr indent="0" marL="0">
                        <a:buNone/>
                      </a:pPr>
                      <a:r>
                        <a:rPr lang="en-US" sz="1200" dirty="0">
                          <a:solidFill>
                            <a:srgbClr val="FFFFFF"/>
                          </a:solidFill>
                          <a:latin typeface="Calibri" pitchFamily="34" charset="0"/>
                          <a:ea typeface="Calibri" pitchFamily="34" charset="-122"/>
                          <a:cs typeface="Calibri" pitchFamily="34" charset="-120"/>
                        </a:rPr>
                        <a:t>Calendar Linear Regression</a:t>
                      </a:r>
                      <a:endParaRPr lang="en-US" sz="1200" dirty="0">
                        <a:latin typeface="Calibri" charset="0"/>
                        <a:ea typeface="Calibri" charset="0"/>
                        <a:cs typeface="Calibri" charset="0"/>
                      </a:endParaRPr>
                    </a:p>
                  </a:txBody>
                  <a:tcPr marL="91440" marR="91440" marT="45720" marB="45720">
                    <a:lnL w="6350" cap="flat" cmpd="sng" algn="ctr">
                      <a:solidFill>
                        <a:srgbClr val="2A3556"/>
                      </a:solidFill>
                      <a:prstDash val="solid"/>
                      <a:round/>
                      <a:headEnd type="none" w="med" len="med"/>
                      <a:tailEnd type="none" w="med" len="med"/>
                    </a:lnL>
                    <a:lnR w="6350" cap="flat" cmpd="sng" algn="ctr">
                      <a:solidFill>
                        <a:srgbClr val="2A3556"/>
                      </a:solidFill>
                      <a:prstDash val="solid"/>
                      <a:round/>
                      <a:headEnd type="none" w="med" len="med"/>
                      <a:tailEnd type="none" w="med" len="med"/>
                    </a:lnR>
                    <a:lnT w="6350" cap="flat" cmpd="sng" algn="ctr">
                      <a:solidFill>
                        <a:srgbClr val="2A3556"/>
                      </a:solidFill>
                      <a:prstDash val="solid"/>
                      <a:round/>
                      <a:headEnd type="none" w="med" len="med"/>
                      <a:tailEnd type="none" w="med" len="med"/>
                    </a:lnT>
                    <a:lnB w="6350" cap="flat" cmpd="sng" algn="ctr">
                      <a:solidFill>
                        <a:srgbClr val="2A3556"/>
                      </a:solidFill>
                      <a:prstDash val="solid"/>
                      <a:round/>
                      <a:headEnd type="none" w="med" len="med"/>
                      <a:tailEnd type="none" w="med" len="med"/>
                    </a:lnB>
                    <a:solidFill>
                      <a:srgbClr val="151C30"/>
                    </a:solidFill>
                  </a:tcPr>
                </a:tc>
                <a:tc>
                  <a:txBody>
                    <a:bodyPr/>
                    <a:lstStyle/>
                    <a:p>
                      <a:pPr indent="0" marL="0">
                        <a:buNone/>
                      </a:pPr>
                      <a:r>
                        <a:rPr lang="en-US" sz="1200" dirty="0">
                          <a:solidFill>
                            <a:srgbClr val="FFFFFF"/>
                          </a:solidFill>
                          <a:latin typeface="Calibri" pitchFamily="34" charset="0"/>
                          <a:ea typeface="Calibri" pitchFamily="34" charset="-122"/>
                          <a:cs typeface="Calibri" pitchFamily="34" charset="-120"/>
                        </a:rPr>
                        <a:t>22.72%</a:t>
                      </a:r>
                      <a:endParaRPr lang="en-US" sz="1200" dirty="0">
                        <a:latin typeface="Calibri" charset="0"/>
                        <a:ea typeface="Calibri" charset="0"/>
                        <a:cs typeface="Calibri" charset="0"/>
                      </a:endParaRPr>
                    </a:p>
                  </a:txBody>
                  <a:tcPr marL="91440" marR="91440" marT="45720" marB="45720">
                    <a:lnL w="6350" cap="flat" cmpd="sng" algn="ctr">
                      <a:solidFill>
                        <a:srgbClr val="2A3556"/>
                      </a:solidFill>
                      <a:prstDash val="solid"/>
                      <a:round/>
                      <a:headEnd type="none" w="med" len="med"/>
                      <a:tailEnd type="none" w="med" len="med"/>
                    </a:lnL>
                    <a:lnR w="6350" cap="flat" cmpd="sng" algn="ctr">
                      <a:solidFill>
                        <a:srgbClr val="2A3556"/>
                      </a:solidFill>
                      <a:prstDash val="solid"/>
                      <a:round/>
                      <a:headEnd type="none" w="med" len="med"/>
                      <a:tailEnd type="none" w="med" len="med"/>
                    </a:lnR>
                    <a:lnT w="6350" cap="flat" cmpd="sng" algn="ctr">
                      <a:solidFill>
                        <a:srgbClr val="2A3556"/>
                      </a:solidFill>
                      <a:prstDash val="solid"/>
                      <a:round/>
                      <a:headEnd type="none" w="med" len="med"/>
                      <a:tailEnd type="none" w="med" len="med"/>
                    </a:lnT>
                    <a:lnB w="6350" cap="flat" cmpd="sng" algn="ctr">
                      <a:solidFill>
                        <a:srgbClr val="2A3556"/>
                      </a:solidFill>
                      <a:prstDash val="solid"/>
                      <a:round/>
                      <a:headEnd type="none" w="med" len="med"/>
                      <a:tailEnd type="none" w="med" len="med"/>
                    </a:lnB>
                    <a:solidFill>
                      <a:srgbClr val="151C30"/>
                    </a:solidFill>
                  </a:tcPr>
                </a:tc>
                <a:tc>
                  <a:txBody>
                    <a:bodyPr/>
                    <a:lstStyle/>
                    <a:p>
                      <a:pPr indent="0" marL="0">
                        <a:buNone/>
                      </a:pPr>
                      <a:r>
                        <a:rPr lang="en-US" sz="1200" dirty="0">
                          <a:solidFill>
                            <a:srgbClr val="FFFFFF"/>
                          </a:solidFill>
                          <a:latin typeface="Calibri" pitchFamily="34" charset="0"/>
                          <a:ea typeface="Calibri" pitchFamily="34" charset="-122"/>
                          <a:cs typeface="Calibri" pitchFamily="34" charset="-120"/>
                        </a:rPr>
                        <a:t>7.56%</a:t>
                      </a:r>
                      <a:endParaRPr lang="en-US" sz="1200" dirty="0">
                        <a:latin typeface="Calibri" charset="0"/>
                        <a:ea typeface="Calibri" charset="0"/>
                        <a:cs typeface="Calibri" charset="0"/>
                      </a:endParaRPr>
                    </a:p>
                  </a:txBody>
                  <a:tcPr marL="91440" marR="91440" marT="45720" marB="45720">
                    <a:lnL w="6350" cap="flat" cmpd="sng" algn="ctr">
                      <a:solidFill>
                        <a:srgbClr val="2A3556"/>
                      </a:solidFill>
                      <a:prstDash val="solid"/>
                      <a:round/>
                      <a:headEnd type="none" w="med" len="med"/>
                      <a:tailEnd type="none" w="med" len="med"/>
                    </a:lnL>
                    <a:lnR w="6350" cap="flat" cmpd="sng" algn="ctr">
                      <a:solidFill>
                        <a:srgbClr val="2A3556"/>
                      </a:solidFill>
                      <a:prstDash val="solid"/>
                      <a:round/>
                      <a:headEnd type="none" w="med" len="med"/>
                      <a:tailEnd type="none" w="med" len="med"/>
                    </a:lnR>
                    <a:lnT w="6350" cap="flat" cmpd="sng" algn="ctr">
                      <a:solidFill>
                        <a:srgbClr val="2A3556"/>
                      </a:solidFill>
                      <a:prstDash val="solid"/>
                      <a:round/>
                      <a:headEnd type="none" w="med" len="med"/>
                      <a:tailEnd type="none" w="med" len="med"/>
                    </a:lnT>
                    <a:lnB w="6350" cap="flat" cmpd="sng" algn="ctr">
                      <a:solidFill>
                        <a:srgbClr val="2A3556"/>
                      </a:solidFill>
                      <a:prstDash val="solid"/>
                      <a:round/>
                      <a:headEnd type="none" w="med" len="med"/>
                      <a:tailEnd type="none" w="med" len="med"/>
                    </a:lnB>
                    <a:solidFill>
                      <a:srgbClr val="151C30"/>
                    </a:solidFill>
                  </a:tcPr>
                </a:tc>
              </a:tr>
              <a:tr h="365760">
                <a:tc>
                  <a:txBody>
                    <a:bodyPr/>
                    <a:lstStyle/>
                    <a:p>
                      <a:pPr indent="0" marL="0">
                        <a:buNone/>
                      </a:pPr>
                      <a:r>
                        <a:rPr lang="en-US" sz="1200" dirty="0">
                          <a:solidFill>
                            <a:srgbClr val="FFFFFF"/>
                          </a:solidFill>
                          <a:latin typeface="Calibri" pitchFamily="34" charset="0"/>
                          <a:ea typeface="Calibri" pitchFamily="34" charset="-122"/>
                          <a:cs typeface="Calibri" pitchFamily="34" charset="-120"/>
                        </a:rPr>
                        <a:t>Seasonal Naive</a:t>
                      </a:r>
                      <a:endParaRPr lang="en-US" sz="1200" dirty="0">
                        <a:latin typeface="Calibri" charset="0"/>
                        <a:ea typeface="Calibri" charset="0"/>
                        <a:cs typeface="Calibri" charset="0"/>
                      </a:endParaRPr>
                    </a:p>
                  </a:txBody>
                  <a:tcPr marL="91440" marR="91440" marT="45720" marB="45720">
                    <a:lnL w="6350" cap="flat" cmpd="sng" algn="ctr">
                      <a:solidFill>
                        <a:srgbClr val="2A3556"/>
                      </a:solidFill>
                      <a:prstDash val="solid"/>
                      <a:round/>
                      <a:headEnd type="none" w="med" len="med"/>
                      <a:tailEnd type="none" w="med" len="med"/>
                    </a:lnL>
                    <a:lnR w="6350" cap="flat" cmpd="sng" algn="ctr">
                      <a:solidFill>
                        <a:srgbClr val="2A3556"/>
                      </a:solidFill>
                      <a:prstDash val="solid"/>
                      <a:round/>
                      <a:headEnd type="none" w="med" len="med"/>
                      <a:tailEnd type="none" w="med" len="med"/>
                    </a:lnR>
                    <a:lnT w="6350" cap="flat" cmpd="sng" algn="ctr">
                      <a:solidFill>
                        <a:srgbClr val="2A3556"/>
                      </a:solidFill>
                      <a:prstDash val="solid"/>
                      <a:round/>
                      <a:headEnd type="none" w="med" len="med"/>
                      <a:tailEnd type="none" w="med" len="med"/>
                    </a:lnT>
                    <a:lnB w="6350" cap="flat" cmpd="sng" algn="ctr">
                      <a:solidFill>
                        <a:srgbClr val="2A3556"/>
                      </a:solidFill>
                      <a:prstDash val="solid"/>
                      <a:round/>
                      <a:headEnd type="none" w="med" len="med"/>
                      <a:tailEnd type="none" w="med" len="med"/>
                    </a:lnB>
                    <a:solidFill>
                      <a:srgbClr val="151C30"/>
                    </a:solidFill>
                  </a:tcPr>
                </a:tc>
                <a:tc>
                  <a:txBody>
                    <a:bodyPr/>
                    <a:lstStyle/>
                    <a:p>
                      <a:pPr indent="0" marL="0">
                        <a:buNone/>
                      </a:pPr>
                      <a:r>
                        <a:rPr lang="en-US" sz="1200" dirty="0">
                          <a:solidFill>
                            <a:srgbClr val="FFFFFF"/>
                          </a:solidFill>
                          <a:latin typeface="Calibri" pitchFamily="34" charset="0"/>
                          <a:ea typeface="Calibri" pitchFamily="34" charset="-122"/>
                          <a:cs typeface="Calibri" pitchFamily="34" charset="-120"/>
                        </a:rPr>
                        <a:t>24.72%</a:t>
                      </a:r>
                      <a:endParaRPr lang="en-US" sz="1200" dirty="0">
                        <a:latin typeface="Calibri" charset="0"/>
                        <a:ea typeface="Calibri" charset="0"/>
                        <a:cs typeface="Calibri" charset="0"/>
                      </a:endParaRPr>
                    </a:p>
                  </a:txBody>
                  <a:tcPr marL="91440" marR="91440" marT="45720" marB="45720">
                    <a:lnL w="6350" cap="flat" cmpd="sng" algn="ctr">
                      <a:solidFill>
                        <a:srgbClr val="2A3556"/>
                      </a:solidFill>
                      <a:prstDash val="solid"/>
                      <a:round/>
                      <a:headEnd type="none" w="med" len="med"/>
                      <a:tailEnd type="none" w="med" len="med"/>
                    </a:lnL>
                    <a:lnR w="6350" cap="flat" cmpd="sng" algn="ctr">
                      <a:solidFill>
                        <a:srgbClr val="2A3556"/>
                      </a:solidFill>
                      <a:prstDash val="solid"/>
                      <a:round/>
                      <a:headEnd type="none" w="med" len="med"/>
                      <a:tailEnd type="none" w="med" len="med"/>
                    </a:lnR>
                    <a:lnT w="6350" cap="flat" cmpd="sng" algn="ctr">
                      <a:solidFill>
                        <a:srgbClr val="2A3556"/>
                      </a:solidFill>
                      <a:prstDash val="solid"/>
                      <a:round/>
                      <a:headEnd type="none" w="med" len="med"/>
                      <a:tailEnd type="none" w="med" len="med"/>
                    </a:lnT>
                    <a:lnB w="6350" cap="flat" cmpd="sng" algn="ctr">
                      <a:solidFill>
                        <a:srgbClr val="2A3556"/>
                      </a:solidFill>
                      <a:prstDash val="solid"/>
                      <a:round/>
                      <a:headEnd type="none" w="med" len="med"/>
                      <a:tailEnd type="none" w="med" len="med"/>
                    </a:lnB>
                    <a:solidFill>
                      <a:srgbClr val="151C30"/>
                    </a:solidFill>
                  </a:tcPr>
                </a:tc>
                <a:tc>
                  <a:txBody>
                    <a:bodyPr/>
                    <a:lstStyle/>
                    <a:p>
                      <a:pPr indent="0" marL="0">
                        <a:buNone/>
                      </a:pPr>
                      <a:r>
                        <a:rPr lang="en-US" sz="1200" dirty="0">
                          <a:solidFill>
                            <a:srgbClr val="FFFFFF"/>
                          </a:solidFill>
                          <a:latin typeface="Calibri" pitchFamily="34" charset="0"/>
                          <a:ea typeface="Calibri" pitchFamily="34" charset="-122"/>
                          <a:cs typeface="Calibri" pitchFamily="34" charset="-120"/>
                        </a:rPr>
                        <a:t>6.31%</a:t>
                      </a:r>
                      <a:endParaRPr lang="en-US" sz="1200" dirty="0">
                        <a:latin typeface="Calibri" charset="0"/>
                        <a:ea typeface="Calibri" charset="0"/>
                        <a:cs typeface="Calibri" charset="0"/>
                      </a:endParaRPr>
                    </a:p>
                  </a:txBody>
                  <a:tcPr marL="91440" marR="91440" marT="45720" marB="45720">
                    <a:lnL w="6350" cap="flat" cmpd="sng" algn="ctr">
                      <a:solidFill>
                        <a:srgbClr val="2A3556"/>
                      </a:solidFill>
                      <a:prstDash val="solid"/>
                      <a:round/>
                      <a:headEnd type="none" w="med" len="med"/>
                      <a:tailEnd type="none" w="med" len="med"/>
                    </a:lnL>
                    <a:lnR w="6350" cap="flat" cmpd="sng" algn="ctr">
                      <a:solidFill>
                        <a:srgbClr val="2A3556"/>
                      </a:solidFill>
                      <a:prstDash val="solid"/>
                      <a:round/>
                      <a:headEnd type="none" w="med" len="med"/>
                      <a:tailEnd type="none" w="med" len="med"/>
                    </a:lnR>
                    <a:lnT w="6350" cap="flat" cmpd="sng" algn="ctr">
                      <a:solidFill>
                        <a:srgbClr val="2A3556"/>
                      </a:solidFill>
                      <a:prstDash val="solid"/>
                      <a:round/>
                      <a:headEnd type="none" w="med" len="med"/>
                      <a:tailEnd type="none" w="med" len="med"/>
                    </a:lnT>
                    <a:lnB w="6350" cap="flat" cmpd="sng" algn="ctr">
                      <a:solidFill>
                        <a:srgbClr val="2A3556"/>
                      </a:solidFill>
                      <a:prstDash val="solid"/>
                      <a:round/>
                      <a:headEnd type="none" w="med" len="med"/>
                      <a:tailEnd type="none" w="med" len="med"/>
                    </a:lnB>
                    <a:solidFill>
                      <a:srgbClr val="151C30"/>
                    </a:solidFill>
                  </a:tcPr>
                </a:tc>
              </a:tr>
              <a:tr h="365760">
                <a:tc>
                  <a:txBody>
                    <a:bodyPr/>
                    <a:lstStyle/>
                    <a:p>
                      <a:pPr indent="0" marL="0">
                        <a:buNone/>
                      </a:pPr>
                      <a:r>
                        <a:rPr lang="en-US" sz="1200" dirty="0">
                          <a:solidFill>
                            <a:srgbClr val="FFFFFF"/>
                          </a:solidFill>
                          <a:latin typeface="Calibri" pitchFamily="34" charset="0"/>
                          <a:ea typeface="Calibri" pitchFamily="34" charset="-122"/>
                          <a:cs typeface="Calibri" pitchFamily="34" charset="-120"/>
                        </a:rPr>
                        <a:t>28-day Moving Average</a:t>
                      </a:r>
                      <a:endParaRPr lang="en-US" sz="1200" dirty="0">
                        <a:latin typeface="Calibri" charset="0"/>
                        <a:ea typeface="Calibri" charset="0"/>
                        <a:cs typeface="Calibri" charset="0"/>
                      </a:endParaRPr>
                    </a:p>
                  </a:txBody>
                  <a:tcPr marL="91440" marR="91440" marT="45720" marB="45720">
                    <a:lnL w="6350" cap="flat" cmpd="sng" algn="ctr">
                      <a:solidFill>
                        <a:srgbClr val="2A3556"/>
                      </a:solidFill>
                      <a:prstDash val="solid"/>
                      <a:round/>
                      <a:headEnd type="none" w="med" len="med"/>
                      <a:tailEnd type="none" w="med" len="med"/>
                    </a:lnL>
                    <a:lnR w="6350" cap="flat" cmpd="sng" algn="ctr">
                      <a:solidFill>
                        <a:srgbClr val="2A3556"/>
                      </a:solidFill>
                      <a:prstDash val="solid"/>
                      <a:round/>
                      <a:headEnd type="none" w="med" len="med"/>
                      <a:tailEnd type="none" w="med" len="med"/>
                    </a:lnR>
                    <a:lnT w="6350" cap="flat" cmpd="sng" algn="ctr">
                      <a:solidFill>
                        <a:srgbClr val="2A3556"/>
                      </a:solidFill>
                      <a:prstDash val="solid"/>
                      <a:round/>
                      <a:headEnd type="none" w="med" len="med"/>
                      <a:tailEnd type="none" w="med" len="med"/>
                    </a:lnT>
                    <a:lnB w="6350" cap="flat" cmpd="sng" algn="ctr">
                      <a:solidFill>
                        <a:srgbClr val="2A3556"/>
                      </a:solidFill>
                      <a:prstDash val="solid"/>
                      <a:round/>
                      <a:headEnd type="none" w="med" len="med"/>
                      <a:tailEnd type="none" w="med" len="med"/>
                    </a:lnB>
                    <a:solidFill>
                      <a:srgbClr val="151C30"/>
                    </a:solidFill>
                  </a:tcPr>
                </a:tc>
                <a:tc>
                  <a:txBody>
                    <a:bodyPr/>
                    <a:lstStyle/>
                    <a:p>
                      <a:pPr indent="0" marL="0">
                        <a:buNone/>
                      </a:pPr>
                      <a:r>
                        <a:rPr lang="en-US" sz="1200" dirty="0">
                          <a:solidFill>
                            <a:srgbClr val="FFFFFF"/>
                          </a:solidFill>
                          <a:latin typeface="Calibri" pitchFamily="34" charset="0"/>
                          <a:ea typeface="Calibri" pitchFamily="34" charset="-122"/>
                          <a:cs typeface="Calibri" pitchFamily="34" charset="-120"/>
                        </a:rPr>
                        <a:t>21.91%</a:t>
                      </a:r>
                      <a:endParaRPr lang="en-US" sz="1200" dirty="0">
                        <a:latin typeface="Calibri" charset="0"/>
                        <a:ea typeface="Calibri" charset="0"/>
                        <a:cs typeface="Calibri" charset="0"/>
                      </a:endParaRPr>
                    </a:p>
                  </a:txBody>
                  <a:tcPr marL="91440" marR="91440" marT="45720" marB="45720">
                    <a:lnL w="6350" cap="flat" cmpd="sng" algn="ctr">
                      <a:solidFill>
                        <a:srgbClr val="2A3556"/>
                      </a:solidFill>
                      <a:prstDash val="solid"/>
                      <a:round/>
                      <a:headEnd type="none" w="med" len="med"/>
                      <a:tailEnd type="none" w="med" len="med"/>
                    </a:lnL>
                    <a:lnR w="6350" cap="flat" cmpd="sng" algn="ctr">
                      <a:solidFill>
                        <a:srgbClr val="2A3556"/>
                      </a:solidFill>
                      <a:prstDash val="solid"/>
                      <a:round/>
                      <a:headEnd type="none" w="med" len="med"/>
                      <a:tailEnd type="none" w="med" len="med"/>
                    </a:lnR>
                    <a:lnT w="6350" cap="flat" cmpd="sng" algn="ctr">
                      <a:solidFill>
                        <a:srgbClr val="2A3556"/>
                      </a:solidFill>
                      <a:prstDash val="solid"/>
                      <a:round/>
                      <a:headEnd type="none" w="med" len="med"/>
                      <a:tailEnd type="none" w="med" len="med"/>
                    </a:lnT>
                    <a:lnB w="6350" cap="flat" cmpd="sng" algn="ctr">
                      <a:solidFill>
                        <a:srgbClr val="2A3556"/>
                      </a:solidFill>
                      <a:prstDash val="solid"/>
                      <a:round/>
                      <a:headEnd type="none" w="med" len="med"/>
                      <a:tailEnd type="none" w="med" len="med"/>
                    </a:lnB>
                    <a:solidFill>
                      <a:srgbClr val="151C30"/>
                    </a:solidFill>
                  </a:tcPr>
                </a:tc>
                <a:tc>
                  <a:txBody>
                    <a:bodyPr/>
                    <a:lstStyle/>
                    <a:p>
                      <a:pPr indent="0" marL="0">
                        <a:buNone/>
                      </a:pPr>
                      <a:r>
                        <a:rPr lang="en-US" sz="1200" dirty="0">
                          <a:solidFill>
                            <a:srgbClr val="FFFFFF"/>
                          </a:solidFill>
                          <a:latin typeface="Calibri" pitchFamily="34" charset="0"/>
                          <a:ea typeface="Calibri" pitchFamily="34" charset="-122"/>
                          <a:cs typeface="Calibri" pitchFamily="34" charset="-120"/>
                        </a:rPr>
                        <a:t>14.42%</a:t>
                      </a:r>
                      <a:endParaRPr lang="en-US" sz="1200" dirty="0">
                        <a:latin typeface="Calibri" charset="0"/>
                        <a:ea typeface="Calibri" charset="0"/>
                        <a:cs typeface="Calibri" charset="0"/>
                      </a:endParaRPr>
                    </a:p>
                  </a:txBody>
                  <a:tcPr marL="91440" marR="91440" marT="45720" marB="45720">
                    <a:lnL w="6350" cap="flat" cmpd="sng" algn="ctr">
                      <a:solidFill>
                        <a:srgbClr val="2A3556"/>
                      </a:solidFill>
                      <a:prstDash val="solid"/>
                      <a:round/>
                      <a:headEnd type="none" w="med" len="med"/>
                      <a:tailEnd type="none" w="med" len="med"/>
                    </a:lnL>
                    <a:lnR w="6350" cap="flat" cmpd="sng" algn="ctr">
                      <a:solidFill>
                        <a:srgbClr val="2A3556"/>
                      </a:solidFill>
                      <a:prstDash val="solid"/>
                      <a:round/>
                      <a:headEnd type="none" w="med" len="med"/>
                      <a:tailEnd type="none" w="med" len="med"/>
                    </a:lnR>
                    <a:lnT w="6350" cap="flat" cmpd="sng" algn="ctr">
                      <a:solidFill>
                        <a:srgbClr val="2A3556"/>
                      </a:solidFill>
                      <a:prstDash val="solid"/>
                      <a:round/>
                      <a:headEnd type="none" w="med" len="med"/>
                      <a:tailEnd type="none" w="med" len="med"/>
                    </a:lnT>
                    <a:lnB w="6350" cap="flat" cmpd="sng" algn="ctr">
                      <a:solidFill>
                        <a:srgbClr val="2A3556"/>
                      </a:solidFill>
                      <a:prstDash val="solid"/>
                      <a:round/>
                      <a:headEnd type="none" w="med" len="med"/>
                      <a:tailEnd type="none" w="med" len="med"/>
                    </a:lnB>
                    <a:solidFill>
                      <a:srgbClr val="151C30"/>
                    </a:solidFill>
                  </a:tcPr>
                </a:tc>
              </a:tr>
            </a:tbl>
          </a:graphicData>
        </a:graphic>
      </p:graphicFrame>
      <p:sp>
        <p:nvSpPr>
          <p:cNvPr id="10" name="Shape 5"/>
          <p:cNvSpPr/>
          <p:nvPr/>
        </p:nvSpPr>
        <p:spPr>
          <a:xfrm>
            <a:off x="7772400" y="3566160"/>
            <a:ext cx="3840480" cy="2606040"/>
          </a:xfrm>
          <a:prstGeom prst="roundRect">
            <a:avLst>
              <a:gd name="adj" fmla="val 4211"/>
            </a:avLst>
          </a:prstGeom>
          <a:solidFill>
            <a:srgbClr val="151C30"/>
          </a:solidFill>
          <a:ln w="9525">
            <a:solidFill>
              <a:srgbClr val="2A3556"/>
            </a:solidFill>
            <a:prstDash val="solid"/>
          </a:ln>
        </p:spPr>
      </p:sp>
      <p:sp>
        <p:nvSpPr>
          <p:cNvPr id="11" name="Text 6"/>
          <p:cNvSpPr txBox="1"/>
          <p:nvPr/>
        </p:nvSpPr>
        <p:spPr>
          <a:xfrm>
            <a:off x="8001000" y="3657600"/>
            <a:ext cx="3474720" cy="2423160"/>
          </a:xfrm>
          <a:prstGeom prst="rect">
            <a:avLst/>
          </a:prstGeom>
          <a:noFill/>
          <a:ln/>
        </p:spPr>
        <p:txBody>
          <a:bodyPr wrap="square" lIns="0" tIns="0" rIns="0" bIns="0" rtlCol="0" anchor="t"/>
          <a:lstStyle/>
          <a:p>
            <a:pPr indent="0" marL="0">
              <a:buNone/>
            </a:pPr>
            <a:r>
              <a:rPr lang="en-US" sz="4000" b="1" dirty="0">
                <a:solidFill>
                  <a:srgbClr val="22C55E"/>
                </a:solidFill>
                <a:latin typeface="Calibri" pitchFamily="34" charset="0"/>
                <a:ea typeface="Calibri" pitchFamily="34" charset="-122"/>
                <a:cs typeface="Calibri" pitchFamily="34" charset="-120"/>
              </a:rPr>
              <a:t>4 / 4</a:t>
            </a:r>
            <a:endParaRPr lang="en-US" sz="4000" dirty="0"/>
          </a:p>
          <a:p>
            <a:pPr indent="0" marL="0">
              <a:buNone/>
            </a:pPr>
            <a:r>
              <a:rPr lang="en-US" sz="1400" dirty="0">
                <a:solidFill>
                  <a:srgbClr val="FFFFFF"/>
                </a:solidFill>
                <a:latin typeface="Calibri" pitchFamily="34" charset="0"/>
                <a:ea typeface="Calibri" pitchFamily="34" charset="-122"/>
                <a:cs typeface="Calibri" pitchFamily="34" charset="-120"/>
              </a:rPr>
              <a:t>planted anomalies found, 0 false alarms</a:t>
            </a:r>
            <a:endParaRPr lang="en-US" sz="4000" dirty="0"/>
          </a:p>
          <a:p>
            <a:pPr indent="0" marL="0">
              <a:buNone/>
            </a:pPr>
            <a:r>
              <a:rPr lang="en-US" sz="1200" dirty="0">
                <a:solidFill>
                  <a:srgbClr val="A9B3CC"/>
                </a:solidFill>
                <a:latin typeface="Calibri" pitchFamily="34" charset="0"/>
                <a:ea typeface="Calibri" pitchFamily="34" charset="-122"/>
                <a:cs typeface="Calibri" pitchFamily="34" charset="-120"/>
              </a:rPr>
              <a:t>Gateway outage · viral flash sale · downtime · bulk order. Residual robust z-score ignores festivals that the model already expects.</a:t>
            </a:r>
            <a:endParaRPr lang="en-US" sz="4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020"/>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200" b="1" spc="300" kern="0" dirty="0">
                <a:solidFill>
                  <a:srgbClr val="06B6D4"/>
                </a:solidFill>
                <a:latin typeface="Calibri" pitchFamily="34" charset="0"/>
                <a:ea typeface="Calibri" pitchFamily="34" charset="-122"/>
                <a:cs typeface="Calibri" pitchFamily="34" charset="-120"/>
              </a:rPr>
              <a:t>DEMO</a:t>
            </a:r>
            <a:endParaRPr lang="en-US" sz="1200" dirty="0"/>
          </a:p>
        </p:txBody>
      </p:sp>
      <p:sp>
        <p:nvSpPr>
          <p:cNvPr id="3" name="Text 1"/>
          <p:cNvSpPr txBox="1"/>
          <p:nvPr/>
        </p:nvSpPr>
        <p:spPr>
          <a:xfrm>
            <a:off x="548640" y="603504"/>
            <a:ext cx="11064240" cy="685800"/>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Live dashboard: 11 interactive pages</a:t>
            </a:r>
            <a:endParaRPr lang="en-US" sz="3200" dirty="0"/>
          </a:p>
        </p:txBody>
      </p:sp>
      <p:sp>
        <p:nvSpPr>
          <p:cNvPr id="4" name="Text 2"/>
          <p:cNvSpPr txBox="1"/>
          <p:nvPr/>
        </p:nvSpPr>
        <p:spPr>
          <a:xfrm>
            <a:off x="8412480" y="6446520"/>
            <a:ext cx="3246120" cy="274320"/>
          </a:xfrm>
          <a:prstGeom prst="rect">
            <a:avLst/>
          </a:prstGeom>
          <a:noFill/>
          <a:ln/>
        </p:spPr>
        <p:txBody>
          <a:bodyPr wrap="square" lIns="0" tIns="0" rIns="0" bIns="0" rtlCol="0" anchor="ctr"/>
          <a:lstStyle/>
          <a:p>
            <a:pPr algn="r" indent="0" marL="0">
              <a:buNone/>
            </a:pPr>
            <a:r>
              <a:rPr lang="en-US" sz="1000" dirty="0">
                <a:solidFill>
                  <a:srgbClr val="7D88A6"/>
                </a:solidFill>
                <a:latin typeface="Calibri" pitchFamily="34" charset="0"/>
                <a:ea typeface="Calibri" pitchFamily="34" charset="-122"/>
                <a:cs typeface="Calibri" pitchFamily="34" charset="-120"/>
              </a:rPr>
              <a:t>ShopSense · Big Data Analytics  |  16</a:t>
            </a:r>
            <a:endParaRPr lang="en-US" sz="1000" dirty="0"/>
          </a:p>
        </p:txBody>
      </p:sp>
      <p:pic>
        <p:nvPicPr>
          <p:cNvPr id="5" name="Image 0" descr="/home/user/BDA/docs/screenshots/02_sales.png">    </p:cNvPr>
          <p:cNvPicPr>
            <a:picLocks noChangeAspect="1"/>
          </p:cNvPicPr>
          <p:nvPr/>
        </p:nvPicPr>
        <p:blipFill>
          <a:blip r:embed="rId1"/>
          <a:stretch>
            <a:fillRect/>
          </a:stretch>
        </p:blipFill>
        <p:spPr>
          <a:xfrm>
            <a:off x="676656" y="1508760"/>
            <a:ext cx="3218688" cy="2011680"/>
          </a:xfrm>
          <a:prstGeom prst="rect">
            <a:avLst/>
          </a:prstGeom>
          <a:effectLst>
            <a:outerShdw sx="100000" sy="100000" kx="0" ky="0" algn="bl" rotWithShape="0" blurRad="152400" dist="50800" dir="5400000">
              <a:srgbClr val="000000">
                <a:alpha val="45000"/>
              </a:srgbClr>
            </a:outerShdw>
          </a:effectLst>
        </p:spPr>
      </p:pic>
      <p:sp>
        <p:nvSpPr>
          <p:cNvPr id="6" name="Text 3"/>
          <p:cNvSpPr txBox="1"/>
          <p:nvPr/>
        </p:nvSpPr>
        <p:spPr>
          <a:xfrm>
            <a:off x="548640" y="3593592"/>
            <a:ext cx="3474720" cy="274320"/>
          </a:xfrm>
          <a:prstGeom prst="rect">
            <a:avLst/>
          </a:prstGeom>
          <a:noFill/>
          <a:ln/>
        </p:spPr>
        <p:txBody>
          <a:bodyPr wrap="square" lIns="0" tIns="0" rIns="0" bIns="0" rtlCol="0" anchor="ctr"/>
          <a:lstStyle/>
          <a:p>
            <a:pPr indent="0" marL="0">
              <a:buNone/>
            </a:pPr>
            <a:r>
              <a:rPr lang="en-US" sz="1300" b="1" dirty="0">
                <a:solidFill>
                  <a:srgbClr val="A9B3CC"/>
                </a:solidFill>
                <a:latin typeface="Calibri" pitchFamily="34" charset="0"/>
                <a:ea typeface="Calibri" pitchFamily="34" charset="-122"/>
                <a:cs typeface="Calibri" pitchFamily="34" charset="-120"/>
              </a:rPr>
              <a:t>Sales analytics</a:t>
            </a:r>
            <a:endParaRPr lang="en-US" sz="1300" dirty="0"/>
          </a:p>
        </p:txBody>
      </p:sp>
      <p:pic>
        <p:nvPicPr>
          <p:cNvPr id="7" name="Image 1" descr="/home/user/BDA/docs/screenshots/04_behaviour.png">    </p:cNvPr>
          <p:cNvPicPr>
            <a:picLocks noChangeAspect="1"/>
          </p:cNvPicPr>
          <p:nvPr/>
        </p:nvPicPr>
        <p:blipFill>
          <a:blip r:embed="rId2"/>
          <a:stretch>
            <a:fillRect/>
          </a:stretch>
        </p:blipFill>
        <p:spPr>
          <a:xfrm>
            <a:off x="4425696" y="1508760"/>
            <a:ext cx="3218688" cy="2011680"/>
          </a:xfrm>
          <a:prstGeom prst="rect">
            <a:avLst/>
          </a:prstGeom>
          <a:effectLst>
            <a:outerShdw sx="100000" sy="100000" kx="0" ky="0" algn="bl" rotWithShape="0" blurRad="152400" dist="50800" dir="5400000">
              <a:srgbClr val="000000">
                <a:alpha val="45000"/>
              </a:srgbClr>
            </a:outerShdw>
          </a:effectLst>
        </p:spPr>
      </p:pic>
      <p:sp>
        <p:nvSpPr>
          <p:cNvPr id="8" name="Text 4"/>
          <p:cNvSpPr txBox="1"/>
          <p:nvPr/>
        </p:nvSpPr>
        <p:spPr>
          <a:xfrm>
            <a:off x="4297680" y="3593592"/>
            <a:ext cx="3474720" cy="274320"/>
          </a:xfrm>
          <a:prstGeom prst="rect">
            <a:avLst/>
          </a:prstGeom>
          <a:noFill/>
          <a:ln/>
        </p:spPr>
        <p:txBody>
          <a:bodyPr wrap="square" lIns="0" tIns="0" rIns="0" bIns="0" rtlCol="0" anchor="ctr"/>
          <a:lstStyle/>
          <a:p>
            <a:pPr indent="0" marL="0">
              <a:buNone/>
            </a:pPr>
            <a:r>
              <a:rPr lang="en-US" sz="1300" b="1" dirty="0">
                <a:solidFill>
                  <a:srgbClr val="A9B3CC"/>
                </a:solidFill>
                <a:latin typeface="Calibri" pitchFamily="34" charset="0"/>
                <a:ea typeface="Calibri" pitchFamily="34" charset="-122"/>
                <a:cs typeface="Calibri" pitchFamily="34" charset="-120"/>
              </a:rPr>
              <a:t>Customer behaviour</a:t>
            </a:r>
            <a:endParaRPr lang="en-US" sz="1300" dirty="0"/>
          </a:p>
        </p:txBody>
      </p:sp>
      <p:pic>
        <p:nvPicPr>
          <p:cNvPr id="9" name="Image 2" descr="/home/user/BDA/docs/screenshots/05_segmentation.png">    </p:cNvPr>
          <p:cNvPicPr>
            <a:picLocks noChangeAspect="1"/>
          </p:cNvPicPr>
          <p:nvPr/>
        </p:nvPicPr>
        <p:blipFill>
          <a:blip r:embed="rId3"/>
          <a:stretch>
            <a:fillRect/>
          </a:stretch>
        </p:blipFill>
        <p:spPr>
          <a:xfrm>
            <a:off x="8174736" y="1508760"/>
            <a:ext cx="3218688" cy="2011680"/>
          </a:xfrm>
          <a:prstGeom prst="rect">
            <a:avLst/>
          </a:prstGeom>
          <a:effectLst>
            <a:outerShdw sx="100000" sy="100000" kx="0" ky="0" algn="bl" rotWithShape="0" blurRad="152400" dist="50800" dir="5400000">
              <a:srgbClr val="000000">
                <a:alpha val="45000"/>
              </a:srgbClr>
            </a:outerShdw>
          </a:effectLst>
        </p:spPr>
      </p:pic>
      <p:sp>
        <p:nvSpPr>
          <p:cNvPr id="10" name="Text 5"/>
          <p:cNvSpPr txBox="1"/>
          <p:nvPr/>
        </p:nvSpPr>
        <p:spPr>
          <a:xfrm>
            <a:off x="8046720" y="3593592"/>
            <a:ext cx="3474720" cy="274320"/>
          </a:xfrm>
          <a:prstGeom prst="rect">
            <a:avLst/>
          </a:prstGeom>
          <a:noFill/>
          <a:ln/>
        </p:spPr>
        <p:txBody>
          <a:bodyPr wrap="square" lIns="0" tIns="0" rIns="0" bIns="0" rtlCol="0" anchor="ctr"/>
          <a:lstStyle/>
          <a:p>
            <a:pPr indent="0" marL="0">
              <a:buNone/>
            </a:pPr>
            <a:r>
              <a:rPr lang="en-US" sz="1300" b="1" dirty="0">
                <a:solidFill>
                  <a:srgbClr val="A9B3CC"/>
                </a:solidFill>
                <a:latin typeface="Calibri" pitchFamily="34" charset="0"/>
                <a:ea typeface="Calibri" pitchFamily="34" charset="-122"/>
                <a:cs typeface="Calibri" pitchFamily="34" charset="-120"/>
              </a:rPr>
              <a:t>Segmentation</a:t>
            </a:r>
            <a:endParaRPr lang="en-US" sz="1300" dirty="0"/>
          </a:p>
        </p:txBody>
      </p:sp>
      <p:pic>
        <p:nvPicPr>
          <p:cNvPr id="11" name="Image 3" descr="/home/user/BDA/docs/screenshots/07_recommendations.png">    </p:cNvPr>
          <p:cNvPicPr>
            <a:picLocks noChangeAspect="1"/>
          </p:cNvPicPr>
          <p:nvPr/>
        </p:nvPicPr>
        <p:blipFill>
          <a:blip r:embed="rId4"/>
          <a:stretch>
            <a:fillRect/>
          </a:stretch>
        </p:blipFill>
        <p:spPr>
          <a:xfrm>
            <a:off x="676656" y="3931920"/>
            <a:ext cx="3218688" cy="2011680"/>
          </a:xfrm>
          <a:prstGeom prst="rect">
            <a:avLst/>
          </a:prstGeom>
          <a:effectLst>
            <a:outerShdw sx="100000" sy="100000" kx="0" ky="0" algn="bl" rotWithShape="0" blurRad="152400" dist="50800" dir="5400000">
              <a:srgbClr val="000000">
                <a:alpha val="45000"/>
              </a:srgbClr>
            </a:outerShdw>
          </a:effectLst>
        </p:spPr>
      </p:pic>
      <p:sp>
        <p:nvSpPr>
          <p:cNvPr id="12" name="Text 6"/>
          <p:cNvSpPr txBox="1"/>
          <p:nvPr/>
        </p:nvSpPr>
        <p:spPr>
          <a:xfrm>
            <a:off x="548640" y="6016752"/>
            <a:ext cx="3474720" cy="274320"/>
          </a:xfrm>
          <a:prstGeom prst="rect">
            <a:avLst/>
          </a:prstGeom>
          <a:noFill/>
          <a:ln/>
        </p:spPr>
        <p:txBody>
          <a:bodyPr wrap="square" lIns="0" tIns="0" rIns="0" bIns="0" rtlCol="0" anchor="ctr"/>
          <a:lstStyle/>
          <a:p>
            <a:pPr indent="0" marL="0">
              <a:buNone/>
            </a:pPr>
            <a:r>
              <a:rPr lang="en-US" sz="1300" b="1" dirty="0">
                <a:solidFill>
                  <a:srgbClr val="A9B3CC"/>
                </a:solidFill>
                <a:latin typeface="Calibri" pitchFamily="34" charset="0"/>
                <a:ea typeface="Calibri" pitchFamily="34" charset="-122"/>
                <a:cs typeface="Calibri" pitchFamily="34" charset="-120"/>
              </a:rPr>
              <a:t>Recommendations</a:t>
            </a:r>
            <a:endParaRPr lang="en-US" sz="1300" dirty="0"/>
          </a:p>
        </p:txBody>
      </p:sp>
      <p:pic>
        <p:nvPicPr>
          <p:cNvPr id="13" name="Image 4" descr="/home/user/BDA/docs/screenshots/08_market_basket.png">    </p:cNvPr>
          <p:cNvPicPr>
            <a:picLocks noChangeAspect="1"/>
          </p:cNvPicPr>
          <p:nvPr/>
        </p:nvPicPr>
        <p:blipFill>
          <a:blip r:embed="rId5"/>
          <a:stretch>
            <a:fillRect/>
          </a:stretch>
        </p:blipFill>
        <p:spPr>
          <a:xfrm>
            <a:off x="4425696" y="3931920"/>
            <a:ext cx="3218688" cy="2011680"/>
          </a:xfrm>
          <a:prstGeom prst="rect">
            <a:avLst/>
          </a:prstGeom>
          <a:effectLst>
            <a:outerShdw sx="100000" sy="100000" kx="0" ky="0" algn="bl" rotWithShape="0" blurRad="152400" dist="50800" dir="5400000">
              <a:srgbClr val="000000">
                <a:alpha val="45000"/>
              </a:srgbClr>
            </a:outerShdw>
          </a:effectLst>
        </p:spPr>
      </p:pic>
      <p:sp>
        <p:nvSpPr>
          <p:cNvPr id="14" name="Text 7"/>
          <p:cNvSpPr txBox="1"/>
          <p:nvPr/>
        </p:nvSpPr>
        <p:spPr>
          <a:xfrm>
            <a:off x="4297680" y="6016752"/>
            <a:ext cx="3474720" cy="274320"/>
          </a:xfrm>
          <a:prstGeom prst="rect">
            <a:avLst/>
          </a:prstGeom>
          <a:noFill/>
          <a:ln/>
        </p:spPr>
        <p:txBody>
          <a:bodyPr wrap="square" lIns="0" tIns="0" rIns="0" bIns="0" rtlCol="0" anchor="ctr"/>
          <a:lstStyle/>
          <a:p>
            <a:pPr indent="0" marL="0">
              <a:buNone/>
            </a:pPr>
            <a:r>
              <a:rPr lang="en-US" sz="1300" b="1" dirty="0">
                <a:solidFill>
                  <a:srgbClr val="A9B3CC"/>
                </a:solidFill>
                <a:latin typeface="Calibri" pitchFamily="34" charset="0"/>
                <a:ea typeface="Calibri" pitchFamily="34" charset="-122"/>
                <a:cs typeface="Calibri" pitchFamily="34" charset="-120"/>
              </a:rPr>
              <a:t>Market basket</a:t>
            </a:r>
            <a:endParaRPr lang="en-US" sz="1300" dirty="0"/>
          </a:p>
        </p:txBody>
      </p:sp>
      <p:pic>
        <p:nvPicPr>
          <p:cNvPr id="15" name="Image 5" descr="/home/user/BDA/docs/screenshots/11_pipeline.png">    </p:cNvPr>
          <p:cNvPicPr>
            <a:picLocks noChangeAspect="1"/>
          </p:cNvPicPr>
          <p:nvPr/>
        </p:nvPicPr>
        <p:blipFill>
          <a:blip r:embed="rId6"/>
          <a:stretch>
            <a:fillRect/>
          </a:stretch>
        </p:blipFill>
        <p:spPr>
          <a:xfrm>
            <a:off x="8174736" y="3931920"/>
            <a:ext cx="3218688" cy="2011680"/>
          </a:xfrm>
          <a:prstGeom prst="rect">
            <a:avLst/>
          </a:prstGeom>
          <a:effectLst>
            <a:outerShdw sx="100000" sy="100000" kx="0" ky="0" algn="bl" rotWithShape="0" blurRad="152400" dist="50800" dir="5400000">
              <a:srgbClr val="000000">
                <a:alpha val="45000"/>
              </a:srgbClr>
            </a:outerShdw>
          </a:effectLst>
        </p:spPr>
      </p:pic>
      <p:sp>
        <p:nvSpPr>
          <p:cNvPr id="16" name="Text 8"/>
          <p:cNvSpPr txBox="1"/>
          <p:nvPr/>
        </p:nvSpPr>
        <p:spPr>
          <a:xfrm>
            <a:off x="8046720" y="6016752"/>
            <a:ext cx="3474720" cy="274320"/>
          </a:xfrm>
          <a:prstGeom prst="rect">
            <a:avLst/>
          </a:prstGeom>
          <a:noFill/>
          <a:ln/>
        </p:spPr>
        <p:txBody>
          <a:bodyPr wrap="square" lIns="0" tIns="0" rIns="0" bIns="0" rtlCol="0" anchor="ctr"/>
          <a:lstStyle/>
          <a:p>
            <a:pPr indent="0" marL="0">
              <a:buNone/>
            </a:pPr>
            <a:r>
              <a:rPr lang="en-US" sz="1300" b="1" dirty="0">
                <a:solidFill>
                  <a:srgbClr val="A9B3CC"/>
                </a:solidFill>
                <a:latin typeface="Calibri" pitchFamily="34" charset="0"/>
                <a:ea typeface="Calibri" pitchFamily="34" charset="-122"/>
                <a:cs typeface="Calibri" pitchFamily="34" charset="-120"/>
              </a:rPr>
              <a:t>Pipeline &amp; models</a:t>
            </a:r>
            <a:endParaRPr lang="en-US" sz="1300" dirty="0"/>
          </a:p>
        </p:txBody>
      </p:sp>
      <p:sp>
        <p:nvSpPr>
          <p:cNvPr id="17" name="Text 9"/>
          <p:cNvSpPr txBox="1"/>
          <p:nvPr/>
        </p:nvSpPr>
        <p:spPr>
          <a:xfrm>
            <a:off x="548640" y="6355080"/>
            <a:ext cx="7772400" cy="320040"/>
          </a:xfrm>
          <a:prstGeom prst="rect">
            <a:avLst/>
          </a:prstGeom>
          <a:noFill/>
          <a:ln/>
        </p:spPr>
        <p:txBody>
          <a:bodyPr wrap="square" lIns="0" tIns="0" rIns="0" bIns="0" rtlCol="0" anchor="ctr"/>
          <a:lstStyle/>
          <a:p>
            <a:pPr indent="0" marL="0">
              <a:buNone/>
            </a:pPr>
            <a:r>
              <a:rPr lang="en-US" sz="1200" dirty="0">
                <a:solidFill>
                  <a:srgbClr val="06B6D4"/>
                </a:solidFill>
                <a:latin typeface="Courier New" pitchFamily="34" charset="0"/>
                <a:ea typeface="Courier New" pitchFamily="34" charset="-122"/>
                <a:cs typeface="Courier New" pitchFamily="34" charset="-120"/>
              </a:rPr>
              <a:t>python run_dashboard.py  →  http://127.0.0.1:8000     ·     Swagger API docs at /docs</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1020"/>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200" b="1" spc="300" kern="0" dirty="0">
                <a:solidFill>
                  <a:srgbClr val="06B6D4"/>
                </a:solidFill>
                <a:latin typeface="Calibri" pitchFamily="34" charset="0"/>
                <a:ea typeface="Calibri" pitchFamily="34" charset="-122"/>
                <a:cs typeface="Calibri" pitchFamily="34" charset="-120"/>
              </a:rPr>
              <a:t>DATA → DECISIONS</a:t>
            </a:r>
            <a:endParaRPr lang="en-US" sz="1200" dirty="0"/>
          </a:p>
        </p:txBody>
      </p:sp>
      <p:sp>
        <p:nvSpPr>
          <p:cNvPr id="3" name="Text 1"/>
          <p:cNvSpPr txBox="1"/>
          <p:nvPr/>
        </p:nvSpPr>
        <p:spPr>
          <a:xfrm>
            <a:off x="548640" y="603504"/>
            <a:ext cx="11064240" cy="685800"/>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Business insights discovered</a:t>
            </a:r>
            <a:endParaRPr lang="en-US" sz="3200" dirty="0"/>
          </a:p>
        </p:txBody>
      </p:sp>
      <p:sp>
        <p:nvSpPr>
          <p:cNvPr id="4" name="Text 2"/>
          <p:cNvSpPr txBox="1"/>
          <p:nvPr/>
        </p:nvSpPr>
        <p:spPr>
          <a:xfrm>
            <a:off x="8412480" y="6446520"/>
            <a:ext cx="3246120" cy="274320"/>
          </a:xfrm>
          <a:prstGeom prst="rect">
            <a:avLst/>
          </a:prstGeom>
          <a:noFill/>
          <a:ln/>
        </p:spPr>
        <p:txBody>
          <a:bodyPr wrap="square" lIns="0" tIns="0" rIns="0" bIns="0" rtlCol="0" anchor="ctr"/>
          <a:lstStyle/>
          <a:p>
            <a:pPr algn="r" indent="0" marL="0">
              <a:buNone/>
            </a:pPr>
            <a:r>
              <a:rPr lang="en-US" sz="1000" dirty="0">
                <a:solidFill>
                  <a:srgbClr val="7D88A6"/>
                </a:solidFill>
                <a:latin typeface="Calibri" pitchFamily="34" charset="0"/>
                <a:ea typeface="Calibri" pitchFamily="34" charset="-122"/>
                <a:cs typeface="Calibri" pitchFamily="34" charset="-120"/>
              </a:rPr>
              <a:t>ShopSense · Big Data Analytics  |  17</a:t>
            </a:r>
            <a:endParaRPr lang="en-US" sz="1000" dirty="0"/>
          </a:p>
        </p:txBody>
      </p:sp>
      <p:sp>
        <p:nvSpPr>
          <p:cNvPr id="5" name="Shape 3"/>
          <p:cNvSpPr/>
          <p:nvPr/>
        </p:nvSpPr>
        <p:spPr>
          <a:xfrm>
            <a:off x="548640" y="1554480"/>
            <a:ext cx="3474720" cy="2148840"/>
          </a:xfrm>
          <a:prstGeom prst="roundRect">
            <a:avLst>
              <a:gd name="adj" fmla="val 5106"/>
            </a:avLst>
          </a:prstGeom>
          <a:solidFill>
            <a:srgbClr val="151C30"/>
          </a:solidFill>
          <a:ln w="9525">
            <a:solidFill>
              <a:srgbClr val="2A3556"/>
            </a:solidFill>
            <a:prstDash val="solid"/>
          </a:ln>
        </p:spPr>
      </p:sp>
      <p:sp>
        <p:nvSpPr>
          <p:cNvPr id="6" name="Text 4"/>
          <p:cNvSpPr txBox="1"/>
          <p:nvPr/>
        </p:nvSpPr>
        <p:spPr>
          <a:xfrm>
            <a:off x="822960" y="1737360"/>
            <a:ext cx="3017520" cy="685800"/>
          </a:xfrm>
          <a:prstGeom prst="rect">
            <a:avLst/>
          </a:prstGeom>
          <a:noFill/>
          <a:ln/>
        </p:spPr>
        <p:txBody>
          <a:bodyPr wrap="square" lIns="0" tIns="0" rIns="0" bIns="0" rtlCol="0" anchor="ctr"/>
          <a:lstStyle/>
          <a:p>
            <a:pPr indent="0" marL="0">
              <a:buNone/>
            </a:pPr>
            <a:r>
              <a:rPr lang="en-US" sz="3200" b="1" dirty="0">
                <a:solidFill>
                  <a:srgbClr val="06B6D4"/>
                </a:solidFill>
                <a:latin typeface="Arial" pitchFamily="34" charset="0"/>
                <a:ea typeface="Arial" pitchFamily="34" charset="-122"/>
                <a:cs typeface="Arial" pitchFamily="34" charset="-120"/>
              </a:rPr>
              <a:t>+117%</a:t>
            </a:r>
            <a:endParaRPr lang="en-US" sz="3200" dirty="0"/>
          </a:p>
        </p:txBody>
      </p:sp>
      <p:sp>
        <p:nvSpPr>
          <p:cNvPr id="7" name="Text 5"/>
          <p:cNvSpPr txBox="1"/>
          <p:nvPr/>
        </p:nvSpPr>
        <p:spPr>
          <a:xfrm>
            <a:off x="822960" y="2423160"/>
            <a:ext cx="3017520" cy="41148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orders during Big Festive Sale</a:t>
            </a:r>
            <a:endParaRPr lang="en-US" sz="1400" dirty="0"/>
          </a:p>
        </p:txBody>
      </p:sp>
      <p:sp>
        <p:nvSpPr>
          <p:cNvPr id="8" name="Text 6"/>
          <p:cNvSpPr txBox="1"/>
          <p:nvPr/>
        </p:nvSpPr>
        <p:spPr>
          <a:xfrm>
            <a:off x="822960" y="2834640"/>
            <a:ext cx="3017520" cy="731520"/>
          </a:xfrm>
          <a:prstGeom prst="rect">
            <a:avLst/>
          </a:prstGeom>
          <a:noFill/>
          <a:ln/>
        </p:spPr>
        <p:txBody>
          <a:bodyPr wrap="square" lIns="0" tIns="0" rIns="0" bIns="0" rtlCol="0" anchor="t"/>
          <a:lstStyle/>
          <a:p>
            <a:pPr indent="0" marL="0">
              <a:buNone/>
            </a:pPr>
            <a:r>
              <a:rPr lang="en-US" sz="1250" dirty="0">
                <a:solidFill>
                  <a:srgbClr val="A9B3CC"/>
                </a:solidFill>
                <a:latin typeface="Calibri" pitchFamily="34" charset="0"/>
                <a:ea typeface="Calibri" pitchFamily="34" charset="-122"/>
                <a:cs typeface="Calibri" pitchFamily="34" charset="-120"/>
              </a:rPr>
              <a:t>but only +22–30% revenue: discounts eat the uplift</a:t>
            </a:r>
            <a:endParaRPr lang="en-US" sz="1250" dirty="0"/>
          </a:p>
        </p:txBody>
      </p:sp>
      <p:sp>
        <p:nvSpPr>
          <p:cNvPr id="9" name="Shape 7"/>
          <p:cNvSpPr/>
          <p:nvPr/>
        </p:nvSpPr>
        <p:spPr>
          <a:xfrm>
            <a:off x="4297680" y="1554480"/>
            <a:ext cx="3474720" cy="2148840"/>
          </a:xfrm>
          <a:prstGeom prst="roundRect">
            <a:avLst>
              <a:gd name="adj" fmla="val 5106"/>
            </a:avLst>
          </a:prstGeom>
          <a:solidFill>
            <a:srgbClr val="151C30"/>
          </a:solidFill>
          <a:ln w="9525">
            <a:solidFill>
              <a:srgbClr val="2A3556"/>
            </a:solidFill>
            <a:prstDash val="solid"/>
          </a:ln>
        </p:spPr>
      </p:sp>
      <p:sp>
        <p:nvSpPr>
          <p:cNvPr id="10" name="Text 8"/>
          <p:cNvSpPr txBox="1"/>
          <p:nvPr/>
        </p:nvSpPr>
        <p:spPr>
          <a:xfrm>
            <a:off x="4572000" y="1737360"/>
            <a:ext cx="3017520" cy="685800"/>
          </a:xfrm>
          <a:prstGeom prst="rect">
            <a:avLst/>
          </a:prstGeom>
          <a:noFill/>
          <a:ln/>
        </p:spPr>
        <p:txBody>
          <a:bodyPr wrap="square" lIns="0" tIns="0" rIns="0" bIns="0" rtlCol="0" anchor="ctr"/>
          <a:lstStyle/>
          <a:p>
            <a:pPr indent="0" marL="0">
              <a:buNone/>
            </a:pPr>
            <a:r>
              <a:rPr lang="en-US" sz="3200" b="1" dirty="0">
                <a:solidFill>
                  <a:srgbClr val="EF4444"/>
                </a:solidFill>
                <a:latin typeface="Arial" pitchFamily="34" charset="0"/>
                <a:ea typeface="Arial" pitchFamily="34" charset="-122"/>
                <a:cs typeface="Arial" pitchFamily="34" charset="-120"/>
              </a:rPr>
              <a:t>7.37%</a:t>
            </a:r>
            <a:endParaRPr lang="en-US" sz="3200" dirty="0"/>
          </a:p>
        </p:txBody>
      </p:sp>
      <p:sp>
        <p:nvSpPr>
          <p:cNvPr id="11" name="Text 9"/>
          <p:cNvSpPr txBox="1"/>
          <p:nvPr/>
        </p:nvSpPr>
        <p:spPr>
          <a:xfrm>
            <a:off x="4572000" y="2423160"/>
            <a:ext cx="3017520" cy="41148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Cash-on-Delivery cancellation rate</a:t>
            </a:r>
            <a:endParaRPr lang="en-US" sz="1400" dirty="0"/>
          </a:p>
        </p:txBody>
      </p:sp>
      <p:sp>
        <p:nvSpPr>
          <p:cNvPr id="12" name="Text 10"/>
          <p:cNvSpPr txBox="1"/>
          <p:nvPr/>
        </p:nvSpPr>
        <p:spPr>
          <a:xfrm>
            <a:off x="4572000" y="2834640"/>
            <a:ext cx="3017520" cy="731520"/>
          </a:xfrm>
          <a:prstGeom prst="rect">
            <a:avLst/>
          </a:prstGeom>
          <a:noFill/>
          <a:ln/>
        </p:spPr>
        <p:txBody>
          <a:bodyPr wrap="square" lIns="0" tIns="0" rIns="0" bIns="0" rtlCol="0" anchor="t"/>
          <a:lstStyle/>
          <a:p>
            <a:pPr indent="0" marL="0">
              <a:buNone/>
            </a:pPr>
            <a:r>
              <a:rPr lang="en-US" sz="1250" dirty="0">
                <a:solidFill>
                  <a:srgbClr val="A9B3CC"/>
                </a:solidFill>
                <a:latin typeface="Calibri" pitchFamily="34" charset="0"/>
                <a:ea typeface="Calibri" pitchFamily="34" charset="-122"/>
                <a:cs typeface="Calibri" pitchFamily="34" charset="-120"/>
              </a:rPr>
              <a:t>≈2× prepaid methods: nudge COD users to UPI</a:t>
            </a:r>
            <a:endParaRPr lang="en-US" sz="1250" dirty="0"/>
          </a:p>
        </p:txBody>
      </p:sp>
      <p:sp>
        <p:nvSpPr>
          <p:cNvPr id="13" name="Shape 11"/>
          <p:cNvSpPr/>
          <p:nvPr/>
        </p:nvSpPr>
        <p:spPr>
          <a:xfrm>
            <a:off x="8046720" y="1554480"/>
            <a:ext cx="3474720" cy="2148840"/>
          </a:xfrm>
          <a:prstGeom prst="roundRect">
            <a:avLst>
              <a:gd name="adj" fmla="val 5106"/>
            </a:avLst>
          </a:prstGeom>
          <a:solidFill>
            <a:srgbClr val="151C30"/>
          </a:solidFill>
          <a:ln w="9525">
            <a:solidFill>
              <a:srgbClr val="2A3556"/>
            </a:solidFill>
            <a:prstDash val="solid"/>
          </a:ln>
        </p:spPr>
      </p:sp>
      <p:sp>
        <p:nvSpPr>
          <p:cNvPr id="14" name="Text 12"/>
          <p:cNvSpPr txBox="1"/>
          <p:nvPr/>
        </p:nvSpPr>
        <p:spPr>
          <a:xfrm>
            <a:off x="8321040" y="1737360"/>
            <a:ext cx="3017520" cy="685800"/>
          </a:xfrm>
          <a:prstGeom prst="rect">
            <a:avLst/>
          </a:prstGeom>
          <a:noFill/>
          <a:ln/>
        </p:spPr>
        <p:txBody>
          <a:bodyPr wrap="square" lIns="0" tIns="0" rIns="0" bIns="0" rtlCol="0" anchor="ctr"/>
          <a:lstStyle/>
          <a:p>
            <a:pPr indent="0" marL="0">
              <a:buNone/>
            </a:pPr>
            <a:r>
              <a:rPr lang="en-US" sz="3200" b="1" dirty="0">
                <a:solidFill>
                  <a:srgbClr val="F59E0B"/>
                </a:solidFill>
                <a:latin typeface="Arial" pitchFamily="34" charset="0"/>
                <a:ea typeface="Arial" pitchFamily="34" charset="-122"/>
                <a:cs typeface="Arial" pitchFamily="34" charset="-120"/>
              </a:rPr>
              <a:t>60%</a:t>
            </a:r>
            <a:endParaRPr lang="en-US" sz="3200" dirty="0"/>
          </a:p>
        </p:txBody>
      </p:sp>
      <p:sp>
        <p:nvSpPr>
          <p:cNvPr id="15" name="Text 13"/>
          <p:cNvSpPr txBox="1"/>
          <p:nvPr/>
        </p:nvSpPr>
        <p:spPr>
          <a:xfrm>
            <a:off x="8321040" y="2423160"/>
            <a:ext cx="3017520" cy="41148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of revenue from Electronics</a:t>
            </a:r>
            <a:endParaRPr lang="en-US" sz="1400" dirty="0"/>
          </a:p>
        </p:txBody>
      </p:sp>
      <p:sp>
        <p:nvSpPr>
          <p:cNvPr id="16" name="Text 14"/>
          <p:cNvSpPr txBox="1"/>
          <p:nvPr/>
        </p:nvSpPr>
        <p:spPr>
          <a:xfrm>
            <a:off x="8321040" y="2834640"/>
            <a:ext cx="3017520" cy="731520"/>
          </a:xfrm>
          <a:prstGeom prst="rect">
            <a:avLst/>
          </a:prstGeom>
          <a:noFill/>
          <a:ln/>
        </p:spPr>
        <p:txBody>
          <a:bodyPr wrap="square" lIns="0" tIns="0" rIns="0" bIns="0" rtlCol="0" anchor="t"/>
          <a:lstStyle/>
          <a:p>
            <a:pPr indent="0" marL="0">
              <a:buNone/>
            </a:pPr>
            <a:r>
              <a:rPr lang="en-US" sz="1250" dirty="0">
                <a:solidFill>
                  <a:srgbClr val="A9B3CC"/>
                </a:solidFill>
                <a:latin typeface="Calibri" pitchFamily="34" charset="0"/>
                <a:ea typeface="Calibri" pitchFamily="34" charset="-122"/>
                <a:cs typeface="Calibri" pitchFamily="34" charset="-120"/>
              </a:rPr>
              <a:t>at only 7% margin: cross-sell Fashion &amp; Beauty (36–40%)</a:t>
            </a:r>
            <a:endParaRPr lang="en-US" sz="1250" dirty="0"/>
          </a:p>
        </p:txBody>
      </p:sp>
      <p:sp>
        <p:nvSpPr>
          <p:cNvPr id="17" name="Shape 15"/>
          <p:cNvSpPr/>
          <p:nvPr/>
        </p:nvSpPr>
        <p:spPr>
          <a:xfrm>
            <a:off x="548640" y="3931920"/>
            <a:ext cx="3474720" cy="2148840"/>
          </a:xfrm>
          <a:prstGeom prst="roundRect">
            <a:avLst>
              <a:gd name="adj" fmla="val 5106"/>
            </a:avLst>
          </a:prstGeom>
          <a:solidFill>
            <a:srgbClr val="151C30"/>
          </a:solidFill>
          <a:ln w="9525">
            <a:solidFill>
              <a:srgbClr val="2A3556"/>
            </a:solidFill>
            <a:prstDash val="solid"/>
          </a:ln>
        </p:spPr>
      </p:sp>
      <p:sp>
        <p:nvSpPr>
          <p:cNvPr id="18" name="Text 16"/>
          <p:cNvSpPr txBox="1"/>
          <p:nvPr/>
        </p:nvSpPr>
        <p:spPr>
          <a:xfrm>
            <a:off x="822960" y="4114800"/>
            <a:ext cx="3017520" cy="685800"/>
          </a:xfrm>
          <a:prstGeom prst="rect">
            <a:avLst/>
          </a:prstGeom>
          <a:noFill/>
          <a:ln/>
        </p:spPr>
        <p:txBody>
          <a:bodyPr wrap="square" lIns="0" tIns="0" rIns="0" bIns="0" rtlCol="0" anchor="ctr"/>
          <a:lstStyle/>
          <a:p>
            <a:pPr indent="0" marL="0">
              <a:buNone/>
            </a:pPr>
            <a:r>
              <a:rPr lang="en-US" sz="3200" b="1" dirty="0">
                <a:solidFill>
                  <a:srgbClr val="8B5CF6"/>
                </a:solidFill>
                <a:latin typeface="Arial" pitchFamily="34" charset="0"/>
                <a:ea typeface="Arial" pitchFamily="34" charset="-122"/>
                <a:cs typeface="Arial" pitchFamily="34" charset="-120"/>
              </a:rPr>
              <a:t>34.56%</a:t>
            </a:r>
            <a:endParaRPr lang="en-US" sz="3200" dirty="0"/>
          </a:p>
        </p:txBody>
      </p:sp>
      <p:sp>
        <p:nvSpPr>
          <p:cNvPr id="19" name="Text 17"/>
          <p:cNvSpPr txBox="1"/>
          <p:nvPr/>
        </p:nvSpPr>
        <p:spPr>
          <a:xfrm>
            <a:off x="822960" y="4800600"/>
            <a:ext cx="3017520" cy="41148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cart abandonment</a:t>
            </a:r>
            <a:endParaRPr lang="en-US" sz="1400" dirty="0"/>
          </a:p>
        </p:txBody>
      </p:sp>
      <p:sp>
        <p:nvSpPr>
          <p:cNvPr id="20" name="Text 18"/>
          <p:cNvSpPr txBox="1"/>
          <p:nvPr/>
        </p:nvSpPr>
        <p:spPr>
          <a:xfrm>
            <a:off x="822960" y="5212080"/>
            <a:ext cx="3017520" cy="731520"/>
          </a:xfrm>
          <a:prstGeom prst="rect">
            <a:avLst/>
          </a:prstGeom>
          <a:noFill/>
          <a:ln/>
        </p:spPr>
        <p:txBody>
          <a:bodyPr wrap="square" lIns="0" tIns="0" rIns="0" bIns="0" rtlCol="0" anchor="t"/>
          <a:lstStyle/>
          <a:p>
            <a:pPr indent="0" marL="0">
              <a:buNone/>
            </a:pPr>
            <a:r>
              <a:rPr lang="en-US" sz="1250" dirty="0">
                <a:solidFill>
                  <a:srgbClr val="A9B3CC"/>
                </a:solidFill>
                <a:latin typeface="Calibri" pitchFamily="34" charset="0"/>
                <a:ea typeface="Calibri" pitchFamily="34" charset="-122"/>
                <a:cs typeface="Calibri" pitchFamily="34" charset="-120"/>
              </a:rPr>
              <a:t>largest funnel drop is view → cart: recommendations matter</a:t>
            </a:r>
            <a:endParaRPr lang="en-US" sz="1250" dirty="0"/>
          </a:p>
        </p:txBody>
      </p:sp>
      <p:sp>
        <p:nvSpPr>
          <p:cNvPr id="21" name="Shape 19"/>
          <p:cNvSpPr/>
          <p:nvPr/>
        </p:nvSpPr>
        <p:spPr>
          <a:xfrm>
            <a:off x="4297680" y="3931920"/>
            <a:ext cx="3474720" cy="2148840"/>
          </a:xfrm>
          <a:prstGeom prst="roundRect">
            <a:avLst>
              <a:gd name="adj" fmla="val 5106"/>
            </a:avLst>
          </a:prstGeom>
          <a:solidFill>
            <a:srgbClr val="151C30"/>
          </a:solidFill>
          <a:ln w="9525">
            <a:solidFill>
              <a:srgbClr val="2A3556"/>
            </a:solidFill>
            <a:prstDash val="solid"/>
          </a:ln>
        </p:spPr>
      </p:sp>
      <p:sp>
        <p:nvSpPr>
          <p:cNvPr id="22" name="Text 20"/>
          <p:cNvSpPr txBox="1"/>
          <p:nvPr/>
        </p:nvSpPr>
        <p:spPr>
          <a:xfrm>
            <a:off x="4572000" y="4114800"/>
            <a:ext cx="3017520" cy="685800"/>
          </a:xfrm>
          <a:prstGeom prst="rect">
            <a:avLst/>
          </a:prstGeom>
          <a:noFill/>
          <a:ln/>
        </p:spPr>
        <p:txBody>
          <a:bodyPr wrap="square" lIns="0" tIns="0" rIns="0" bIns="0" rtlCol="0" anchor="ctr"/>
          <a:lstStyle/>
          <a:p>
            <a:pPr indent="0" marL="0">
              <a:buNone/>
            </a:pPr>
            <a:r>
              <a:rPr lang="en-US" sz="3200" b="1" dirty="0">
                <a:solidFill>
                  <a:srgbClr val="22C55E"/>
                </a:solidFill>
                <a:latin typeface="Arial" pitchFamily="34" charset="0"/>
                <a:ea typeface="Arial" pitchFamily="34" charset="-122"/>
                <a:cs typeface="Arial" pitchFamily="34" charset="-120"/>
              </a:rPr>
              <a:t>#1</a:t>
            </a:r>
            <a:endParaRPr lang="en-US" sz="3200" dirty="0"/>
          </a:p>
        </p:txBody>
      </p:sp>
      <p:sp>
        <p:nvSpPr>
          <p:cNvPr id="23" name="Text 21"/>
          <p:cNvSpPr txBox="1"/>
          <p:nvPr/>
        </p:nvSpPr>
        <p:spPr>
          <a:xfrm>
            <a:off x="4572000" y="4800600"/>
            <a:ext cx="3017520" cy="41148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churn signal = days since last visit</a:t>
            </a:r>
            <a:endParaRPr lang="en-US" sz="1400" dirty="0"/>
          </a:p>
        </p:txBody>
      </p:sp>
      <p:sp>
        <p:nvSpPr>
          <p:cNvPr id="24" name="Text 22"/>
          <p:cNvSpPr txBox="1"/>
          <p:nvPr/>
        </p:nvSpPr>
        <p:spPr>
          <a:xfrm>
            <a:off x="4572000" y="5212080"/>
            <a:ext cx="3017520" cy="731520"/>
          </a:xfrm>
          <a:prstGeom prst="rect">
            <a:avLst/>
          </a:prstGeom>
          <a:noFill/>
          <a:ln/>
        </p:spPr>
        <p:txBody>
          <a:bodyPr wrap="square" lIns="0" tIns="0" rIns="0" bIns="0" rtlCol="0" anchor="t"/>
          <a:lstStyle/>
          <a:p>
            <a:pPr indent="0" marL="0">
              <a:buNone/>
            </a:pPr>
            <a:r>
              <a:rPr lang="en-US" sz="1250" dirty="0">
                <a:solidFill>
                  <a:srgbClr val="A9B3CC"/>
                </a:solidFill>
                <a:latin typeface="Calibri" pitchFamily="34" charset="0"/>
                <a:ea typeface="Calibri" pitchFamily="34" charset="-122"/>
                <a:cs typeface="Calibri" pitchFamily="34" charset="-120"/>
              </a:rPr>
              <a:t>click-stream beats purchase history for early warning</a:t>
            </a:r>
            <a:endParaRPr lang="en-US" sz="1250" dirty="0"/>
          </a:p>
        </p:txBody>
      </p:sp>
      <p:sp>
        <p:nvSpPr>
          <p:cNvPr id="25" name="Shape 23"/>
          <p:cNvSpPr/>
          <p:nvPr/>
        </p:nvSpPr>
        <p:spPr>
          <a:xfrm>
            <a:off x="8046720" y="3931920"/>
            <a:ext cx="3474720" cy="2148840"/>
          </a:xfrm>
          <a:prstGeom prst="roundRect">
            <a:avLst>
              <a:gd name="adj" fmla="val 5106"/>
            </a:avLst>
          </a:prstGeom>
          <a:solidFill>
            <a:srgbClr val="151C30"/>
          </a:solidFill>
          <a:ln w="9525">
            <a:solidFill>
              <a:srgbClr val="2A3556"/>
            </a:solidFill>
            <a:prstDash val="solid"/>
          </a:ln>
        </p:spPr>
      </p:sp>
      <p:sp>
        <p:nvSpPr>
          <p:cNvPr id="26" name="Text 24"/>
          <p:cNvSpPr txBox="1"/>
          <p:nvPr/>
        </p:nvSpPr>
        <p:spPr>
          <a:xfrm>
            <a:off x="8321040" y="4114800"/>
            <a:ext cx="3017520" cy="685800"/>
          </a:xfrm>
          <a:prstGeom prst="rect">
            <a:avLst/>
          </a:prstGeom>
          <a:noFill/>
          <a:ln/>
        </p:spPr>
        <p:txBody>
          <a:bodyPr wrap="square" lIns="0" tIns="0" rIns="0" bIns="0" rtlCol="0" anchor="ctr"/>
          <a:lstStyle/>
          <a:p>
            <a:pPr indent="0" marL="0">
              <a:buNone/>
            </a:pPr>
            <a:r>
              <a:rPr lang="en-US" sz="3200" b="1" dirty="0">
                <a:solidFill>
                  <a:srgbClr val="6366F1"/>
                </a:solidFill>
                <a:latin typeface="Arial" pitchFamily="34" charset="0"/>
                <a:ea typeface="Arial" pitchFamily="34" charset="-122"/>
                <a:cs typeface="Arial" pitchFamily="34" charset="-120"/>
              </a:rPr>
              <a:t>₹8.37 Cr</a:t>
            </a:r>
            <a:endParaRPr lang="en-US" sz="3200" dirty="0"/>
          </a:p>
        </p:txBody>
      </p:sp>
      <p:sp>
        <p:nvSpPr>
          <p:cNvPr id="27" name="Text 25"/>
          <p:cNvSpPr txBox="1"/>
          <p:nvPr/>
        </p:nvSpPr>
        <p:spPr>
          <a:xfrm>
            <a:off x="8321040" y="4800600"/>
            <a:ext cx="3017520" cy="41148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annual revenue at risk</a:t>
            </a:r>
            <a:endParaRPr lang="en-US" sz="1400" dirty="0"/>
          </a:p>
        </p:txBody>
      </p:sp>
      <p:sp>
        <p:nvSpPr>
          <p:cNvPr id="28" name="Text 26"/>
          <p:cNvSpPr txBox="1"/>
          <p:nvPr/>
        </p:nvSpPr>
        <p:spPr>
          <a:xfrm>
            <a:off x="8321040" y="5212080"/>
            <a:ext cx="3017520" cy="731520"/>
          </a:xfrm>
          <a:prstGeom prst="rect">
            <a:avLst/>
          </a:prstGeom>
          <a:noFill/>
          <a:ln/>
        </p:spPr>
        <p:txBody>
          <a:bodyPr wrap="square" lIns="0" tIns="0" rIns="0" bIns="0" rtlCol="0" anchor="t"/>
          <a:lstStyle/>
          <a:p>
            <a:pPr indent="0" marL="0">
              <a:buNone/>
            </a:pPr>
            <a:r>
              <a:rPr lang="en-US" sz="1250" dirty="0">
                <a:solidFill>
                  <a:srgbClr val="A9B3CC"/>
                </a:solidFill>
                <a:latin typeface="Calibri" pitchFamily="34" charset="0"/>
                <a:ea typeface="Calibri" pitchFamily="34" charset="-122"/>
                <a:cs typeface="Calibri" pitchFamily="34" charset="-120"/>
              </a:rPr>
              <a:t>2,956 high-risk customers exported for win-back</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1020"/>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200" b="1" spc="300" kern="0" dirty="0">
                <a:solidFill>
                  <a:srgbClr val="06B6D4"/>
                </a:solidFill>
                <a:latin typeface="Calibri" pitchFamily="34" charset="0"/>
                <a:ea typeface="Calibri" pitchFamily="34" charset="-122"/>
                <a:cs typeface="Calibri" pitchFamily="34" charset="-120"/>
              </a:rPr>
              <a:t>ANALYSIS &amp; DESIGN</a:t>
            </a:r>
            <a:endParaRPr lang="en-US" sz="1200" dirty="0"/>
          </a:p>
        </p:txBody>
      </p:sp>
      <p:sp>
        <p:nvSpPr>
          <p:cNvPr id="3" name="Text 1"/>
          <p:cNvSpPr txBox="1"/>
          <p:nvPr/>
        </p:nvSpPr>
        <p:spPr>
          <a:xfrm>
            <a:off x="548640" y="603504"/>
            <a:ext cx="11064240" cy="685800"/>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Design: UML &amp; data-flow diagrams</a:t>
            </a:r>
            <a:endParaRPr lang="en-US" sz="3200" dirty="0"/>
          </a:p>
        </p:txBody>
      </p:sp>
      <p:sp>
        <p:nvSpPr>
          <p:cNvPr id="4" name="Text 2"/>
          <p:cNvSpPr txBox="1"/>
          <p:nvPr/>
        </p:nvSpPr>
        <p:spPr>
          <a:xfrm>
            <a:off x="8412480" y="6446520"/>
            <a:ext cx="3246120" cy="274320"/>
          </a:xfrm>
          <a:prstGeom prst="rect">
            <a:avLst/>
          </a:prstGeom>
          <a:noFill/>
          <a:ln/>
        </p:spPr>
        <p:txBody>
          <a:bodyPr wrap="square" lIns="0" tIns="0" rIns="0" bIns="0" rtlCol="0" anchor="ctr"/>
          <a:lstStyle/>
          <a:p>
            <a:pPr algn="r" indent="0" marL="0">
              <a:buNone/>
            </a:pPr>
            <a:r>
              <a:rPr lang="en-US" sz="1000" dirty="0">
                <a:solidFill>
                  <a:srgbClr val="7D88A6"/>
                </a:solidFill>
                <a:latin typeface="Calibri" pitchFamily="34" charset="0"/>
                <a:ea typeface="Calibri" pitchFamily="34" charset="-122"/>
                <a:cs typeface="Calibri" pitchFamily="34" charset="-120"/>
              </a:rPr>
              <a:t>ShopSense · Big Data Analytics  |  18</a:t>
            </a:r>
            <a:endParaRPr lang="en-US" sz="1000" dirty="0"/>
          </a:p>
        </p:txBody>
      </p:sp>
      <p:sp>
        <p:nvSpPr>
          <p:cNvPr id="5" name="Shape 3"/>
          <p:cNvSpPr/>
          <p:nvPr/>
        </p:nvSpPr>
        <p:spPr>
          <a:xfrm>
            <a:off x="548640" y="1508760"/>
            <a:ext cx="2606040" cy="4206240"/>
          </a:xfrm>
          <a:prstGeom prst="roundRect">
            <a:avLst>
              <a:gd name="adj" fmla="val 4211"/>
            </a:avLst>
          </a:prstGeom>
          <a:solidFill>
            <a:srgbClr val="FFFFFF"/>
          </a:solidFill>
          <a:ln w="9525">
            <a:solidFill>
              <a:srgbClr val="2A3556"/>
            </a:solidFill>
            <a:prstDash val="solid"/>
          </a:ln>
        </p:spPr>
      </p:sp>
      <p:pic>
        <p:nvPicPr>
          <p:cNvPr id="6" name="Image 0" descr="/home/user/BDA/docs/diagrams/02_usecase.png">    </p:cNvPr>
          <p:cNvPicPr>
            <a:picLocks noChangeAspect="1"/>
          </p:cNvPicPr>
          <p:nvPr/>
        </p:nvPicPr>
        <p:blipFill>
          <a:blip r:embed="rId1"/>
          <a:stretch>
            <a:fillRect/>
          </a:stretch>
        </p:blipFill>
        <p:spPr>
          <a:xfrm>
            <a:off x="640080" y="1679619"/>
            <a:ext cx="2423160" cy="3864522"/>
          </a:xfrm>
          <a:prstGeom prst="rect">
            <a:avLst/>
          </a:prstGeom>
        </p:spPr>
      </p:pic>
      <p:sp>
        <p:nvSpPr>
          <p:cNvPr id="7" name="Text 4"/>
          <p:cNvSpPr txBox="1"/>
          <p:nvPr/>
        </p:nvSpPr>
        <p:spPr>
          <a:xfrm>
            <a:off x="548640" y="5806440"/>
            <a:ext cx="2606040" cy="320040"/>
          </a:xfrm>
          <a:prstGeom prst="rect">
            <a:avLst/>
          </a:prstGeom>
          <a:noFill/>
          <a:ln/>
        </p:spPr>
        <p:txBody>
          <a:bodyPr wrap="square" lIns="0" tIns="0" rIns="0" bIns="0" rtlCol="0" anchor="ctr"/>
          <a:lstStyle/>
          <a:p>
            <a:pPr algn="ctr" indent="0" marL="0">
              <a:buNone/>
            </a:pPr>
            <a:r>
              <a:rPr lang="en-US" sz="1400" b="1" dirty="0">
                <a:solidFill>
                  <a:srgbClr val="A9B3CC"/>
                </a:solidFill>
                <a:latin typeface="Calibri" pitchFamily="34" charset="0"/>
                <a:ea typeface="Calibri" pitchFamily="34" charset="-122"/>
                <a:cs typeface="Calibri" pitchFamily="34" charset="-120"/>
              </a:rPr>
              <a:t>Use-case</a:t>
            </a:r>
            <a:endParaRPr lang="en-US" sz="1400" dirty="0"/>
          </a:p>
        </p:txBody>
      </p:sp>
      <p:sp>
        <p:nvSpPr>
          <p:cNvPr id="8" name="Shape 5"/>
          <p:cNvSpPr/>
          <p:nvPr/>
        </p:nvSpPr>
        <p:spPr>
          <a:xfrm>
            <a:off x="3364992" y="1508760"/>
            <a:ext cx="2606040" cy="4206240"/>
          </a:xfrm>
          <a:prstGeom prst="roundRect">
            <a:avLst>
              <a:gd name="adj" fmla="val 4211"/>
            </a:avLst>
          </a:prstGeom>
          <a:solidFill>
            <a:srgbClr val="FFFFFF"/>
          </a:solidFill>
          <a:ln w="9525">
            <a:solidFill>
              <a:srgbClr val="2A3556"/>
            </a:solidFill>
            <a:prstDash val="solid"/>
          </a:ln>
        </p:spPr>
      </p:sp>
      <p:pic>
        <p:nvPicPr>
          <p:cNvPr id="9" name="Image 1" descr="/home/user/BDA/docs/diagrams/04_sequence_dashboard.png">    </p:cNvPr>
          <p:cNvPicPr>
            <a:picLocks noChangeAspect="1"/>
          </p:cNvPicPr>
          <p:nvPr/>
        </p:nvPicPr>
        <p:blipFill>
          <a:blip r:embed="rId2"/>
          <a:stretch>
            <a:fillRect/>
          </a:stretch>
        </p:blipFill>
        <p:spPr>
          <a:xfrm>
            <a:off x="3456432" y="2706677"/>
            <a:ext cx="2423160" cy="1810407"/>
          </a:xfrm>
          <a:prstGeom prst="rect">
            <a:avLst/>
          </a:prstGeom>
        </p:spPr>
      </p:pic>
      <p:sp>
        <p:nvSpPr>
          <p:cNvPr id="10" name="Text 6"/>
          <p:cNvSpPr txBox="1"/>
          <p:nvPr/>
        </p:nvSpPr>
        <p:spPr>
          <a:xfrm>
            <a:off x="3364992" y="5806440"/>
            <a:ext cx="2606040" cy="320040"/>
          </a:xfrm>
          <a:prstGeom prst="rect">
            <a:avLst/>
          </a:prstGeom>
          <a:noFill/>
          <a:ln/>
        </p:spPr>
        <p:txBody>
          <a:bodyPr wrap="square" lIns="0" tIns="0" rIns="0" bIns="0" rtlCol="0" anchor="ctr"/>
          <a:lstStyle/>
          <a:p>
            <a:pPr algn="ctr" indent="0" marL="0">
              <a:buNone/>
            </a:pPr>
            <a:r>
              <a:rPr lang="en-US" sz="1400" b="1" dirty="0">
                <a:solidFill>
                  <a:srgbClr val="A9B3CC"/>
                </a:solidFill>
                <a:latin typeface="Calibri" pitchFamily="34" charset="0"/>
                <a:ea typeface="Calibri" pitchFamily="34" charset="-122"/>
                <a:cs typeface="Calibri" pitchFamily="34" charset="-120"/>
              </a:rPr>
              <a:t>Sequence (dashboard)</a:t>
            </a:r>
            <a:endParaRPr lang="en-US" sz="1400" dirty="0"/>
          </a:p>
        </p:txBody>
      </p:sp>
      <p:sp>
        <p:nvSpPr>
          <p:cNvPr id="11" name="Shape 7"/>
          <p:cNvSpPr/>
          <p:nvPr/>
        </p:nvSpPr>
        <p:spPr>
          <a:xfrm>
            <a:off x="6181344" y="1508760"/>
            <a:ext cx="2606040" cy="4206240"/>
          </a:xfrm>
          <a:prstGeom prst="roundRect">
            <a:avLst>
              <a:gd name="adj" fmla="val 4211"/>
            </a:avLst>
          </a:prstGeom>
          <a:solidFill>
            <a:srgbClr val="FFFFFF"/>
          </a:solidFill>
          <a:ln w="9525">
            <a:solidFill>
              <a:srgbClr val="2A3556"/>
            </a:solidFill>
            <a:prstDash val="solid"/>
          </a:ln>
        </p:spPr>
      </p:sp>
      <p:pic>
        <p:nvPicPr>
          <p:cNvPr id="12" name="Image 2" descr="/home/user/BDA/docs/diagrams/08_dfd_level1.png">    </p:cNvPr>
          <p:cNvPicPr>
            <a:picLocks noChangeAspect="1"/>
          </p:cNvPicPr>
          <p:nvPr/>
        </p:nvPicPr>
        <p:blipFill>
          <a:blip r:embed="rId3"/>
          <a:stretch>
            <a:fillRect/>
          </a:stretch>
        </p:blipFill>
        <p:spPr>
          <a:xfrm>
            <a:off x="6475625" y="1600200"/>
            <a:ext cx="2017477" cy="4023360"/>
          </a:xfrm>
          <a:prstGeom prst="rect">
            <a:avLst/>
          </a:prstGeom>
        </p:spPr>
      </p:pic>
      <p:sp>
        <p:nvSpPr>
          <p:cNvPr id="13" name="Text 8"/>
          <p:cNvSpPr txBox="1"/>
          <p:nvPr/>
        </p:nvSpPr>
        <p:spPr>
          <a:xfrm>
            <a:off x="6181344" y="5806440"/>
            <a:ext cx="2606040" cy="320040"/>
          </a:xfrm>
          <a:prstGeom prst="rect">
            <a:avLst/>
          </a:prstGeom>
          <a:noFill/>
          <a:ln/>
        </p:spPr>
        <p:txBody>
          <a:bodyPr wrap="square" lIns="0" tIns="0" rIns="0" bIns="0" rtlCol="0" anchor="ctr"/>
          <a:lstStyle/>
          <a:p>
            <a:pPr algn="ctr" indent="0" marL="0">
              <a:buNone/>
            </a:pPr>
            <a:r>
              <a:rPr lang="en-US" sz="1400" b="1" dirty="0">
                <a:solidFill>
                  <a:srgbClr val="A9B3CC"/>
                </a:solidFill>
                <a:latin typeface="Calibri" pitchFamily="34" charset="0"/>
                <a:ea typeface="Calibri" pitchFamily="34" charset="-122"/>
                <a:cs typeface="Calibri" pitchFamily="34" charset="-120"/>
              </a:rPr>
              <a:t>DFD level 1</a:t>
            </a:r>
            <a:endParaRPr lang="en-US" sz="1400" dirty="0"/>
          </a:p>
        </p:txBody>
      </p:sp>
      <p:sp>
        <p:nvSpPr>
          <p:cNvPr id="14" name="Shape 9"/>
          <p:cNvSpPr/>
          <p:nvPr/>
        </p:nvSpPr>
        <p:spPr>
          <a:xfrm>
            <a:off x="8997696" y="1508760"/>
            <a:ext cx="2606040" cy="4206240"/>
          </a:xfrm>
          <a:prstGeom prst="roundRect">
            <a:avLst>
              <a:gd name="adj" fmla="val 4211"/>
            </a:avLst>
          </a:prstGeom>
          <a:solidFill>
            <a:srgbClr val="FFFFFF"/>
          </a:solidFill>
          <a:ln w="9525">
            <a:solidFill>
              <a:srgbClr val="2A3556"/>
            </a:solidFill>
            <a:prstDash val="solid"/>
          </a:ln>
        </p:spPr>
      </p:sp>
      <p:pic>
        <p:nvPicPr>
          <p:cNvPr id="15" name="Image 3" descr="/home/user/BDA/docs/diagrams/10_activity_churn.png">    </p:cNvPr>
          <p:cNvPicPr>
            <a:picLocks noChangeAspect="1"/>
          </p:cNvPicPr>
          <p:nvPr/>
        </p:nvPicPr>
        <p:blipFill>
          <a:blip r:embed="rId4"/>
          <a:stretch>
            <a:fillRect/>
          </a:stretch>
        </p:blipFill>
        <p:spPr>
          <a:xfrm>
            <a:off x="9496968" y="1600200"/>
            <a:ext cx="1607496" cy="4023360"/>
          </a:xfrm>
          <a:prstGeom prst="rect">
            <a:avLst/>
          </a:prstGeom>
        </p:spPr>
      </p:pic>
      <p:sp>
        <p:nvSpPr>
          <p:cNvPr id="16" name="Text 10"/>
          <p:cNvSpPr txBox="1"/>
          <p:nvPr/>
        </p:nvSpPr>
        <p:spPr>
          <a:xfrm>
            <a:off x="8997696" y="5806440"/>
            <a:ext cx="2606040" cy="320040"/>
          </a:xfrm>
          <a:prstGeom prst="rect">
            <a:avLst/>
          </a:prstGeom>
          <a:noFill/>
          <a:ln/>
        </p:spPr>
        <p:txBody>
          <a:bodyPr wrap="square" lIns="0" tIns="0" rIns="0" bIns="0" rtlCol="0" anchor="ctr"/>
          <a:lstStyle/>
          <a:p>
            <a:pPr algn="ctr" indent="0" marL="0">
              <a:buNone/>
            </a:pPr>
            <a:r>
              <a:rPr lang="en-US" sz="1400" b="1" dirty="0">
                <a:solidFill>
                  <a:srgbClr val="A9B3CC"/>
                </a:solidFill>
                <a:latin typeface="Calibri" pitchFamily="34" charset="0"/>
                <a:ea typeface="Calibri" pitchFamily="34" charset="-122"/>
                <a:cs typeface="Calibri" pitchFamily="34" charset="-120"/>
              </a:rPr>
              <a:t>Activity (churn)</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1020"/>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200" b="1" spc="300" kern="0" dirty="0">
                <a:solidFill>
                  <a:srgbClr val="06B6D4"/>
                </a:solidFill>
                <a:latin typeface="Calibri" pitchFamily="34" charset="0"/>
                <a:ea typeface="Calibri" pitchFamily="34" charset="-122"/>
                <a:cs typeface="Calibri" pitchFamily="34" charset="-120"/>
              </a:rPr>
              <a:t>WRAPPING UP</a:t>
            </a:r>
            <a:endParaRPr lang="en-US" sz="1200" dirty="0"/>
          </a:p>
        </p:txBody>
      </p:sp>
      <p:sp>
        <p:nvSpPr>
          <p:cNvPr id="3" name="Text 1"/>
          <p:cNvSpPr txBox="1"/>
          <p:nvPr/>
        </p:nvSpPr>
        <p:spPr>
          <a:xfrm>
            <a:off x="548640" y="603504"/>
            <a:ext cx="11064240" cy="685800"/>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Conclusion &amp; future scope</a:t>
            </a:r>
            <a:endParaRPr lang="en-US" sz="3200" dirty="0"/>
          </a:p>
        </p:txBody>
      </p:sp>
      <p:sp>
        <p:nvSpPr>
          <p:cNvPr id="4" name="Text 2"/>
          <p:cNvSpPr txBox="1"/>
          <p:nvPr/>
        </p:nvSpPr>
        <p:spPr>
          <a:xfrm>
            <a:off x="8412480" y="6446520"/>
            <a:ext cx="3246120" cy="274320"/>
          </a:xfrm>
          <a:prstGeom prst="rect">
            <a:avLst/>
          </a:prstGeom>
          <a:noFill/>
          <a:ln/>
        </p:spPr>
        <p:txBody>
          <a:bodyPr wrap="square" lIns="0" tIns="0" rIns="0" bIns="0" rtlCol="0" anchor="ctr"/>
          <a:lstStyle/>
          <a:p>
            <a:pPr algn="r" indent="0" marL="0">
              <a:buNone/>
            </a:pPr>
            <a:r>
              <a:rPr lang="en-US" sz="1000" dirty="0">
                <a:solidFill>
                  <a:srgbClr val="7D88A6"/>
                </a:solidFill>
                <a:latin typeface="Calibri" pitchFamily="34" charset="0"/>
                <a:ea typeface="Calibri" pitchFamily="34" charset="-122"/>
                <a:cs typeface="Calibri" pitchFamily="34" charset="-120"/>
              </a:rPr>
              <a:t>ShopSense · Big Data Analytics  |  19</a:t>
            </a:r>
            <a:endParaRPr lang="en-US" sz="1000" dirty="0"/>
          </a:p>
        </p:txBody>
      </p:sp>
      <p:sp>
        <p:nvSpPr>
          <p:cNvPr id="5" name="Shape 3"/>
          <p:cNvSpPr/>
          <p:nvPr/>
        </p:nvSpPr>
        <p:spPr>
          <a:xfrm>
            <a:off x="548640" y="1508760"/>
            <a:ext cx="5486400" cy="3931920"/>
          </a:xfrm>
          <a:prstGeom prst="roundRect">
            <a:avLst>
              <a:gd name="adj" fmla="val 2791"/>
            </a:avLst>
          </a:prstGeom>
          <a:solidFill>
            <a:srgbClr val="151C30"/>
          </a:solidFill>
          <a:ln w="9525">
            <a:solidFill>
              <a:srgbClr val="2A3556"/>
            </a:solidFill>
            <a:prstDash val="solid"/>
          </a:ln>
        </p:spPr>
      </p:sp>
      <p:sp>
        <p:nvSpPr>
          <p:cNvPr id="6" name="Text 4"/>
          <p:cNvSpPr txBox="1"/>
          <p:nvPr/>
        </p:nvSpPr>
        <p:spPr>
          <a:xfrm>
            <a:off x="822960" y="1691640"/>
            <a:ext cx="4937760" cy="411480"/>
          </a:xfrm>
          <a:prstGeom prst="rect">
            <a:avLst/>
          </a:prstGeom>
          <a:noFill/>
          <a:ln/>
        </p:spPr>
        <p:txBody>
          <a:bodyPr wrap="square" lIns="0" tIns="0" rIns="0" bIns="0" rtlCol="0" anchor="ctr"/>
          <a:lstStyle/>
          <a:p>
            <a:pPr indent="0" marL="0">
              <a:buNone/>
            </a:pPr>
            <a:r>
              <a:rPr lang="en-US" sz="1800" b="1" dirty="0">
                <a:solidFill>
                  <a:srgbClr val="06B6D4"/>
                </a:solidFill>
                <a:latin typeface="Arial" pitchFamily="34" charset="0"/>
                <a:ea typeface="Arial" pitchFamily="34" charset="-122"/>
                <a:cs typeface="Arial" pitchFamily="34" charset="-120"/>
              </a:rPr>
              <a:t>What we achieved</a:t>
            </a:r>
            <a:endParaRPr lang="en-US" sz="1800" dirty="0"/>
          </a:p>
        </p:txBody>
      </p:sp>
      <p:sp>
        <p:nvSpPr>
          <p:cNvPr id="7" name="Text 5"/>
          <p:cNvSpPr txBox="1"/>
          <p:nvPr/>
        </p:nvSpPr>
        <p:spPr>
          <a:xfrm>
            <a:off x="822960" y="2240280"/>
            <a:ext cx="5029200" cy="310896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End-to-end Spark → MongoDB → dashboard platform</a:t>
            </a:r>
            <a:endParaRPr lang="en-US" sz="1500" dirty="0"/>
          </a:p>
          <a:p>
            <a:pPr marL="228600" indent="-2286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≈1.4 M records processed in under 7 minutes on a laptop</a:t>
            </a:r>
            <a:endParaRPr lang="en-US" sz="1500" dirty="0"/>
          </a:p>
          <a:p>
            <a:pPr marL="228600" indent="-2286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6 MLlib models: churn AUC 0.955, ALS 1.8× baseline, 4/4 anomalies</a:t>
            </a:r>
            <a:endParaRPr lang="en-US" sz="1500" dirty="0"/>
          </a:p>
          <a:p>
            <a:pPr marL="228600" indent="-2286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Explainable, actionable outputs: playbooks, simulator, CSV export</a:t>
            </a:r>
            <a:endParaRPr lang="en-US" sz="1500" dirty="0"/>
          </a:p>
          <a:p>
            <a:pPr marL="228600" indent="-2286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100% open source, reproducible, documented and tested</a:t>
            </a:r>
            <a:endParaRPr lang="en-US" sz="1500" dirty="0"/>
          </a:p>
        </p:txBody>
      </p:sp>
      <p:sp>
        <p:nvSpPr>
          <p:cNvPr id="8" name="Text 6"/>
          <p:cNvSpPr txBox="1"/>
          <p:nvPr/>
        </p:nvSpPr>
        <p:spPr>
          <a:xfrm>
            <a:off x="548640" y="5669280"/>
            <a:ext cx="11064240" cy="457200"/>
          </a:xfrm>
          <a:prstGeom prst="rect">
            <a:avLst/>
          </a:prstGeom>
          <a:noFill/>
          <a:ln/>
        </p:spPr>
        <p:txBody>
          <a:bodyPr wrap="square" lIns="0" tIns="0" rIns="0" bIns="0" rtlCol="0" anchor="ctr"/>
          <a:lstStyle/>
          <a:p>
            <a:pPr algn="ctr" indent="0" marL="0">
              <a:buNone/>
            </a:pPr>
            <a:r>
              <a:rPr lang="en-US" sz="1600" i="1" dirty="0">
                <a:solidFill>
                  <a:srgbClr val="06B6D4"/>
                </a:solidFill>
                <a:latin typeface="Calibri" pitchFamily="34" charset="0"/>
                <a:ea typeface="Calibri" pitchFamily="34" charset="-122"/>
                <a:cs typeface="Calibri" pitchFamily="34" charset="-120"/>
              </a:rPr>
              <a:t>Big Data tools from the curriculum, applied end-to-end to a real business problem.</a:t>
            </a:r>
            <a:endParaRPr lang="en-US" sz="1600" dirty="0"/>
          </a:p>
        </p:txBody>
      </p:sp>
      <p:sp>
        <p:nvSpPr>
          <p:cNvPr id="9" name="Shape 7"/>
          <p:cNvSpPr/>
          <p:nvPr/>
        </p:nvSpPr>
        <p:spPr>
          <a:xfrm>
            <a:off x="6309360" y="1508760"/>
            <a:ext cx="5303520" cy="3931920"/>
          </a:xfrm>
          <a:prstGeom prst="roundRect">
            <a:avLst>
              <a:gd name="adj" fmla="val 2791"/>
            </a:avLst>
          </a:prstGeom>
          <a:solidFill>
            <a:srgbClr val="151C30"/>
          </a:solidFill>
          <a:ln w="9525">
            <a:solidFill>
              <a:srgbClr val="2A3556"/>
            </a:solidFill>
            <a:prstDash val="solid"/>
          </a:ln>
        </p:spPr>
      </p:sp>
      <p:sp>
        <p:nvSpPr>
          <p:cNvPr id="10" name="Text 8"/>
          <p:cNvSpPr txBox="1"/>
          <p:nvPr/>
        </p:nvSpPr>
        <p:spPr>
          <a:xfrm>
            <a:off x="6583680" y="1691640"/>
            <a:ext cx="4754880" cy="411480"/>
          </a:xfrm>
          <a:prstGeom prst="rect">
            <a:avLst/>
          </a:prstGeom>
          <a:noFill/>
          <a:ln/>
        </p:spPr>
        <p:txBody>
          <a:bodyPr wrap="square" lIns="0" tIns="0" rIns="0" bIns="0" rtlCol="0" anchor="ctr"/>
          <a:lstStyle/>
          <a:p>
            <a:pPr indent="0" marL="0">
              <a:buNone/>
            </a:pPr>
            <a:r>
              <a:rPr lang="en-US" sz="1800" b="1" dirty="0">
                <a:solidFill>
                  <a:srgbClr val="8B5CF6"/>
                </a:solidFill>
                <a:latin typeface="Arial" pitchFamily="34" charset="0"/>
                <a:ea typeface="Arial" pitchFamily="34" charset="-122"/>
                <a:cs typeface="Arial" pitchFamily="34" charset="-120"/>
              </a:rPr>
              <a:t>Future scope</a:t>
            </a:r>
            <a:endParaRPr lang="en-US" sz="1800" dirty="0"/>
          </a:p>
        </p:txBody>
      </p:sp>
      <p:sp>
        <p:nvSpPr>
          <p:cNvPr id="11" name="Text 9"/>
          <p:cNvSpPr txBox="1"/>
          <p:nvPr/>
        </p:nvSpPr>
        <p:spPr>
          <a:xfrm>
            <a:off x="6583680" y="2240280"/>
            <a:ext cx="4846320" cy="310896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Real-time streaming with Kafka + Structured Streaming</a:t>
            </a:r>
            <a:endParaRPr lang="en-US" sz="1500" dirty="0"/>
          </a:p>
          <a:p>
            <a:pPr marL="228600" indent="-2286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Cluster deployment (YARN/Kubernetes, Delta Lake, Atlas)</a:t>
            </a:r>
            <a:endParaRPr lang="en-US" sz="1500" dirty="0"/>
          </a:p>
          <a:p>
            <a:pPr marL="228600" indent="-2286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Survival &amp; uplift models, sequence-aware recommenders</a:t>
            </a:r>
            <a:endParaRPr lang="en-US" sz="1500" dirty="0"/>
          </a:p>
          <a:p>
            <a:pPr marL="228600" indent="-2286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Review sentiment analytics with NLP</a:t>
            </a:r>
            <a:endParaRPr lang="en-US" sz="1500" dirty="0"/>
          </a:p>
          <a:p>
            <a:pPr marL="228600" indent="-2286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MLOps: Airflow scheduling, MLflow tracking, drift monitoring</a:t>
            </a:r>
            <a:endParaRPr lang="en-US" sz="1500" dirty="0"/>
          </a:p>
          <a:p>
            <a:pPr marL="228600" indent="-2286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Natural-language analytics assistant</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1020"/>
        </a:solidFill>
      </p:bgPr>
    </p:bg>
    <p:spTree>
      <p:nvGrpSpPr>
        <p:cNvPr id="1" name=""/>
        <p:cNvGrpSpPr/>
        <p:nvPr/>
      </p:nvGrpSpPr>
      <p:grpSpPr>
        <a:xfrm>
          <a:off x="0" y="0"/>
          <a:ext cx="0" cy="0"/>
          <a:chOff x="0" y="0"/>
          <a:chExt cx="0" cy="0"/>
        </a:xfrm>
      </p:grpSpPr>
      <p:pic>
        <p:nvPicPr>
          <p:cNvPr id="2" name="Image 0" descr="/tmp/claude-0/-home-user-BDA/48a080a6-c4a7-5521-8912-9b4289475339/scratchpad/logo.png">    </p:cNvPr>
          <p:cNvPicPr>
            <a:picLocks noChangeAspect="1"/>
          </p:cNvPicPr>
          <p:nvPr/>
        </p:nvPicPr>
        <p:blipFill>
          <a:blip r:embed="rId1"/>
          <a:stretch>
            <a:fillRect/>
          </a:stretch>
        </p:blipFill>
        <p:spPr>
          <a:xfrm>
            <a:off x="5641848" y="1097280"/>
            <a:ext cx="914400" cy="914400"/>
          </a:xfrm>
          <a:prstGeom prst="rect">
            <a:avLst/>
          </a:prstGeom>
        </p:spPr>
      </p:pic>
      <p:sp>
        <p:nvSpPr>
          <p:cNvPr id="3" name="Text 0"/>
          <p:cNvSpPr txBox="1"/>
          <p:nvPr/>
        </p:nvSpPr>
        <p:spPr>
          <a:xfrm>
            <a:off x="548640" y="2240280"/>
            <a:ext cx="11064240" cy="914400"/>
          </a:xfrm>
          <a:prstGeom prst="rect">
            <a:avLst/>
          </a:prstGeom>
          <a:noFill/>
          <a:ln/>
        </p:spPr>
        <p:txBody>
          <a:bodyPr wrap="square" lIns="0" tIns="0" rIns="0" bIns="0" rtlCol="0" anchor="ctr"/>
          <a:lstStyle/>
          <a:p>
            <a:pPr algn="ctr" indent="0" marL="0">
              <a:buNone/>
            </a:pPr>
            <a:r>
              <a:rPr lang="en-US" sz="4800" b="1" dirty="0">
                <a:solidFill>
                  <a:srgbClr val="FFFFFF"/>
                </a:solidFill>
                <a:latin typeface="Arial" pitchFamily="34" charset="0"/>
                <a:ea typeface="Arial" pitchFamily="34" charset="-122"/>
                <a:cs typeface="Arial" pitchFamily="34" charset="-120"/>
              </a:rPr>
              <a:t>Thank you!</a:t>
            </a:r>
            <a:endParaRPr lang="en-US" sz="4800" dirty="0"/>
          </a:p>
        </p:txBody>
      </p:sp>
      <p:sp>
        <p:nvSpPr>
          <p:cNvPr id="4" name="Text 1"/>
          <p:cNvSpPr txBox="1"/>
          <p:nvPr/>
        </p:nvSpPr>
        <p:spPr>
          <a:xfrm>
            <a:off x="548640" y="3154680"/>
            <a:ext cx="11064240" cy="502920"/>
          </a:xfrm>
          <a:prstGeom prst="rect">
            <a:avLst/>
          </a:prstGeom>
          <a:noFill/>
          <a:ln/>
        </p:spPr>
        <p:txBody>
          <a:bodyPr wrap="square" lIns="0" tIns="0" rIns="0" bIns="0" rtlCol="0" anchor="ctr"/>
          <a:lstStyle/>
          <a:p>
            <a:pPr algn="ctr" indent="0" marL="0">
              <a:buNone/>
            </a:pPr>
            <a:r>
              <a:rPr lang="en-US" sz="2200" dirty="0">
                <a:solidFill>
                  <a:srgbClr val="06B6D4"/>
                </a:solidFill>
                <a:latin typeface="Calibri" pitchFamily="34" charset="0"/>
                <a:ea typeface="Calibri" pitchFamily="34" charset="-122"/>
                <a:cs typeface="Calibri" pitchFamily="34" charset="-120"/>
              </a:rPr>
              <a:t>Questions &amp; discussion</a:t>
            </a:r>
            <a:endParaRPr lang="en-US" sz="2200" dirty="0"/>
          </a:p>
        </p:txBody>
      </p:sp>
      <p:sp>
        <p:nvSpPr>
          <p:cNvPr id="5" name="Shape 2"/>
          <p:cNvSpPr/>
          <p:nvPr/>
        </p:nvSpPr>
        <p:spPr>
          <a:xfrm>
            <a:off x="2194560" y="4114800"/>
            <a:ext cx="2468880" cy="822960"/>
          </a:xfrm>
          <a:prstGeom prst="roundRect">
            <a:avLst>
              <a:gd name="adj" fmla="val 13333"/>
            </a:avLst>
          </a:prstGeom>
          <a:solidFill>
            <a:srgbClr val="151C30"/>
          </a:solidFill>
          <a:ln w="9525">
            <a:solidFill>
              <a:srgbClr val="2A3556"/>
            </a:solidFill>
            <a:prstDash val="solid"/>
          </a:ln>
        </p:spPr>
      </p:sp>
      <p:sp>
        <p:nvSpPr>
          <p:cNvPr id="6" name="Text 3"/>
          <p:cNvSpPr txBox="1"/>
          <p:nvPr/>
        </p:nvSpPr>
        <p:spPr>
          <a:xfrm>
            <a:off x="2194560" y="4114800"/>
            <a:ext cx="2468880" cy="82296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Kartik Verma</a:t>
            </a:r>
            <a:endParaRPr lang="en-US" sz="1700" dirty="0"/>
          </a:p>
        </p:txBody>
      </p:sp>
      <p:sp>
        <p:nvSpPr>
          <p:cNvPr id="7" name="Shape 4"/>
          <p:cNvSpPr/>
          <p:nvPr/>
        </p:nvSpPr>
        <p:spPr>
          <a:xfrm>
            <a:off x="4937760" y="4114800"/>
            <a:ext cx="2468880" cy="822960"/>
          </a:xfrm>
          <a:prstGeom prst="roundRect">
            <a:avLst>
              <a:gd name="adj" fmla="val 13333"/>
            </a:avLst>
          </a:prstGeom>
          <a:solidFill>
            <a:srgbClr val="151C30"/>
          </a:solidFill>
          <a:ln w="9525">
            <a:solidFill>
              <a:srgbClr val="2A3556"/>
            </a:solidFill>
            <a:prstDash val="solid"/>
          </a:ln>
        </p:spPr>
      </p:sp>
      <p:sp>
        <p:nvSpPr>
          <p:cNvPr id="8" name="Text 5"/>
          <p:cNvSpPr txBox="1"/>
          <p:nvPr/>
        </p:nvSpPr>
        <p:spPr>
          <a:xfrm>
            <a:off x="4937760" y="4114800"/>
            <a:ext cx="2468880" cy="82296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Kushal Soni</a:t>
            </a:r>
            <a:endParaRPr lang="en-US" sz="1700" dirty="0"/>
          </a:p>
        </p:txBody>
      </p:sp>
      <p:sp>
        <p:nvSpPr>
          <p:cNvPr id="9" name="Shape 6"/>
          <p:cNvSpPr/>
          <p:nvPr/>
        </p:nvSpPr>
        <p:spPr>
          <a:xfrm>
            <a:off x="7680960" y="4114800"/>
            <a:ext cx="2468880" cy="822960"/>
          </a:xfrm>
          <a:prstGeom prst="roundRect">
            <a:avLst>
              <a:gd name="adj" fmla="val 13333"/>
            </a:avLst>
          </a:prstGeom>
          <a:solidFill>
            <a:srgbClr val="151C30"/>
          </a:solidFill>
          <a:ln w="9525">
            <a:solidFill>
              <a:srgbClr val="2A3556"/>
            </a:solidFill>
            <a:prstDash val="solid"/>
          </a:ln>
        </p:spPr>
      </p:sp>
      <p:sp>
        <p:nvSpPr>
          <p:cNvPr id="10" name="Text 7"/>
          <p:cNvSpPr txBox="1"/>
          <p:nvPr/>
        </p:nvSpPr>
        <p:spPr>
          <a:xfrm>
            <a:off x="7680960" y="4114800"/>
            <a:ext cx="2468880" cy="82296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Dhir Thakar</a:t>
            </a:r>
            <a:endParaRPr lang="en-US" sz="1700" dirty="0"/>
          </a:p>
        </p:txBody>
      </p:sp>
      <p:sp>
        <p:nvSpPr>
          <p:cNvPr id="11" name="Text 8"/>
          <p:cNvSpPr txBox="1"/>
          <p:nvPr/>
        </p:nvSpPr>
        <p:spPr>
          <a:xfrm>
            <a:off x="548640" y="5303520"/>
            <a:ext cx="11064240" cy="365760"/>
          </a:xfrm>
          <a:prstGeom prst="rect">
            <a:avLst/>
          </a:prstGeom>
          <a:noFill/>
          <a:ln/>
        </p:spPr>
        <p:txBody>
          <a:bodyPr wrap="square" lIns="0" tIns="0" rIns="0" bIns="0" rtlCol="0" anchor="ctr"/>
          <a:lstStyle/>
          <a:p>
            <a:pPr algn="ctr" indent="0" marL="0">
              <a:buNone/>
            </a:pPr>
            <a:r>
              <a:rPr lang="en-US" sz="1400" dirty="0">
                <a:solidFill>
                  <a:srgbClr val="A9B3CC"/>
                </a:solidFill>
                <a:latin typeface="Calibri" pitchFamily="34" charset="0"/>
                <a:ea typeface="Calibri" pitchFamily="34" charset="-122"/>
                <a:cs typeface="Calibri" pitchFamily="34" charset="-120"/>
              </a:rPr>
              <a:t>Guide: &lt;Guide Name&gt;  ·  Department of Computer Engineering, K. J. Somaiya Institute of Technology</a:t>
            </a:r>
            <a:endParaRPr lang="en-US" sz="1400" dirty="0"/>
          </a:p>
        </p:txBody>
      </p:sp>
      <p:sp>
        <p:nvSpPr>
          <p:cNvPr id="12" name="Text 9"/>
          <p:cNvSpPr txBox="1"/>
          <p:nvPr/>
        </p:nvSpPr>
        <p:spPr>
          <a:xfrm>
            <a:off x="548640" y="5760720"/>
            <a:ext cx="11064240" cy="365760"/>
          </a:xfrm>
          <a:prstGeom prst="rect">
            <a:avLst/>
          </a:prstGeom>
          <a:noFill/>
          <a:ln/>
        </p:spPr>
        <p:txBody>
          <a:bodyPr wrap="square" lIns="0" tIns="0" rIns="0" bIns="0" rtlCol="0" anchor="ctr"/>
          <a:lstStyle/>
          <a:p>
            <a:pPr algn="ctr" indent="0" marL="0">
              <a:buNone/>
            </a:pPr>
            <a:r>
              <a:rPr lang="en-US" sz="1300" dirty="0">
                <a:solidFill>
                  <a:srgbClr val="7D88A6"/>
                </a:solidFill>
                <a:latin typeface="Courier New" pitchFamily="34" charset="0"/>
                <a:ea typeface="Courier New" pitchFamily="34" charset="-122"/>
                <a:cs typeface="Courier New" pitchFamily="34" charset="-120"/>
              </a:rPr>
              <a:t>github.com/Interior-Gardener/BDA</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ShopSense: E-Commerce Sales &amp; Customer Behaviour Analytics using Big Data</dc:title>
  <dc:subject>PptxGenJS Presentation</dc:subject>
  <dc:creator>Kartik Verma, Kushal Soni, Dhir Thakar</dc:creator>
  <cp:lastModifiedBy>Kartik Verma, Kushal Soni, Dhir Thakar</cp:lastModifiedBy>
  <cp:revision>1</cp:revision>
  <dcterms:created xsi:type="dcterms:W3CDTF">2026-09-30T16:19:24Z</dcterms:created>
  <dcterms:modified xsi:type="dcterms:W3CDTF">2026-09-30T16:19:24Z</dcterms:modified>
</cp:coreProperties>
</file>